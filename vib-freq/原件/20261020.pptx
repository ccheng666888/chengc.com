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4" r:id="rId3"/>
    <p:sldId id="275" r:id="rId5"/>
    <p:sldId id="272" r:id="rId6"/>
    <p:sldId id="269" r:id="rId7"/>
    <p:sldId id="264" r:id="rId8"/>
    <p:sldId id="270" r:id="rId9"/>
    <p:sldId id="268" r:id="rId10"/>
    <p:sldId id="259" r:id="rId11"/>
    <p:sldId id="256" r:id="rId12"/>
    <p:sldId id="258" r:id="rId13"/>
    <p:sldId id="266" r:id="rId14"/>
    <p:sldId id="260" r:id="rId15"/>
    <p:sldId id="261" r:id="rId16"/>
    <p:sldId id="257" r:id="rId17"/>
    <p:sldId id="262" r:id="rId18"/>
    <p:sldId id="273" r:id="rId19"/>
    <p:sldId id="271" r:id="rId2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本页对比EDBench、QM9与MD17的年份、原始分子来源、格式和规模。保留用户原表五列，补充规模单位及版本限定。</a:t>
            </a:r>
          </a:p>
          <a:p/>
          <a:p>
            <a:r>
              <a:t>EDBench：2025年论文提出，以PCQM4Mv2分子为基础生成电子密度。3,359,472是分子总数，不是六个基准子任务的数据量，也不应写为构象数。原始文件包括电子密度Mol1_Dt.cube、静电势Mol1_ESP.cube、SDF与Psi4输出，表中列出与本任务相关的电子密度CUBE。它还提供量子化学性质。</a:t>
            </a:r>
          </a:p>
          <a:p>
            <a:r>
              <a:t>QM9：2014年发布，原始总量133,885个分子。来自GDB-17中含至多9个重原子、元素为C/H/O/N/F的GDB-9子集。原始数据为带结构和量化性质的XYZ文本。133,885不要与常见去掉异常结构后的130,831混用。原始QM9没有直接发布三维电子密度网格。</a:t>
            </a:r>
          </a:p>
          <a:p>
            <a:r>
              <a:t>MD17：2017年提出，初版8种小分子，2018年sGDML工作扩展为10种。每种分子包含大量AIMD构象，规模应区分分子种类与构象数。官方当前提供NumPy和Ext. XYZ下载；XYZ为扩展的含能量和受力标签的结构格式。MD17主要提供原子序数、坐标、能量与力，不直接提供电子密度网格。</a:t>
            </a:r>
          </a:p>
          <a:p/>
          <a:p>
            <a:r>
              <a:t>来源：</a:t>
            </a:r>
          </a:p>
          <a:p>
            <a:r>
              <a:t>1. 用户提供的数据集比较表截图。</a:t>
            </a:r>
          </a:p>
          <a:p>
            <a:r>
              <a:t>2. EDBench作者项目页：https://hongxinxiang.github.io/projects/EDBench/</a:t>
            </a:r>
          </a:p>
          <a:p>
            <a:r>
              <a:t>3. EDBench论文：https://arxiv.org/abs/2505.09262</a:t>
            </a:r>
          </a:p>
          <a:p>
            <a:r>
              <a:t>4. EDBench作者仓库：https://github.com/HongxinXiang/EDBench</a:t>
            </a:r>
          </a:p>
          <a:p>
            <a:r>
              <a:t>5. QM9原论文：https://www.nature.com/articles/sdata201422</a:t>
            </a:r>
          </a:p>
          <a:p>
            <a:r>
              <a:t>6. QM9原始数据：https://figshare.com/articles/dataset/Quantum_chemistry_structures_and_properties_of_134_kilo_molecules/978904</a:t>
            </a:r>
          </a:p>
          <a:p>
            <a:r>
              <a:t>7. MD17官方数据页（NumPy、Ext. XYZ）：https://www.sgdml.org/</a:t>
            </a:r>
          </a:p>
          <a:p>
            <a:r>
              <a:t>8. 2017年MD17论文：https://arxiv.org/html/1611.04678v2</a:t>
            </a:r>
          </a:p>
          <a:p>
            <a:r>
              <a:t>9. 2018年sGDML论文：https://arxiv.org/html/1802.09238v3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EDBench是2025年提出并发表于NeurIPS 2025 Datasets and Benchmarks Track的电子密度数据集，以PCQM4Mv2中的3,359,472个类药分子为基础。数据规模按分子数统计，不应与约5万分子的任务子基准规模混淆。</a:t>
            </a:r>
          </a:p>
          <a:p/>
          <a:p>
            <a:r>
              <a:t>计算使用Psi4 1.7和B3LYP泛函。无硫分子使用6-31G**，含硫分子使用6-31+G**。6-31G**对应6-31G(d,p)，6-31+G**对应6-31+G(d,p)，因此相应理论水平是B3LYP/6-31G(d,p)或B3LYP/6-31+G(d,p)。用户截图中的B3LYP/6-31G(2df,p)不适用于本数据集，是先前QM9条目的设置。闭壳层和开壳层体系按论文分别采用受限与非受限参考。</a:t>
            </a:r>
          </a:p>
          <a:p/>
          <a:p>
            <a:r>
              <a:t>原始目录包含电子密度Mol1_Dt.cube、静电势Mol1_ESP.cube、分子结构Mol1.sdf、Psi4.out和性质CSV；具体发布包可能按任务组织。电子密度单位为e/bohr^3。性质标签包括能量分量、轨道能量、偶极矩及开闭壳层类别等。</a:t>
            </a:r>
          </a:p>
          <a:p/>
          <a:p>
            <a:r>
              <a:t>Cube网格步长0.4bohr约0.2117Å，边界外扩4.0bohr。论文还设置0.85等值面覆盖比例，它用于报告可视化等值面范围，不代表把所有密度缩放为85%，也不代表从Cube中删除15%网格值。这个参数与网格采样间距、边界扩展的作用不同。</a:t>
            </a:r>
          </a:p>
          <a:p/>
          <a:p>
            <a:r>
              <a:t>六项任务分三类：性质预测4项（ED5-EC能量分量、ED5-OE轨道能量、ED5-MM偶极矩相关标签、ED5-OCS开闭壳层）；分子结构与电子密度检索1项（ED5-MER）；由结构生成电子密度1项（ED5-EDP）。这些任务支持电子密度建模、性质预测和分子表征学习。</a:t>
            </a:r>
          </a:p>
          <a:p/>
          <a:p>
            <a:r>
              <a:t>来源：</a:t>
            </a:r>
          </a:p>
          <a:p>
            <a:r>
              <a:t>1. 用户提供的EDBench简介截图。</a:t>
            </a:r>
          </a:p>
          <a:p>
            <a:r>
              <a:t>2. 作者项目页，数据构建、理论设置与任务：https://hongxinxiang.github.io/projects/EDBench/</a:t>
            </a:r>
          </a:p>
          <a:p>
            <a:r>
              <a:t>3. 原论文第3.1和3.2节：https://arxiv.org/html/2505.09262v1</a:t>
            </a:r>
          </a:p>
          <a:p>
            <a:r>
              <a:t>4. 作者仓库，数据文件和任务目录：https://github.com/HongxinXiang/EDBench</a:t>
            </a:r>
          </a:p>
          <a:p>
            <a:r>
              <a:t>5. Psi4官方Cube说明：https://psicode.org/psi4manual/master/cubeprop.html</a:t>
            </a:r>
          </a:p>
          <a:p>
            <a:r>
              <a:t>6. Psi4 v1.7等值面计算源码：https://github.com/psi4/psi4/blob/v1.7/psi4/src/psi4/libcubeprop/csg.cc#L669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本页依据用户提供的EDbench样本截图解释Psi4输出的Gaussian Cube文件。文件名中的Gaussian指Cube文件格式，生成程序由第一行明确为Psi4。这里不根据截图推断EDbench使用的具体泛函、基组或电子数。</a:t>
            </a:r>
          </a:p>
          <a:p/>
          <a:p>
            <a:r>
              <a:t>第1行：注释，注明生成软件和文件格式。</a:t>
            </a:r>
          </a:p>
          <a:p>
            <a:r>
              <a:t>第2行：注释，Dt为总电子密度ρ=ρα+ρβ，单位e/a0^3，a0即bohr（玻尔半径），约0.529177Å。85%是用于选择等值面阈值的累计密度比例，(0.0599914,0)是正负等值面参考值。它不把密度乘以0.85，也不使文件只包含85%的网格数据。</a:t>
            </a:r>
          </a:p>
          <a:p>
            <a:r>
              <a:t>第3行：23为原子数，后面三个数为网格原点坐标，单位bohr。原点是(-10.286881,-9.631708,-5.820976)。</a:t>
            </a:r>
          </a:p>
          <a:p>
            <a:r>
              <a:t>第4行：x方向64个点，单步位移向量(0.4,0,0)bohr。</a:t>
            </a:r>
          </a:p>
          <a:p>
            <a:r>
              <a:t>第5行：y方向47个点，单步位移向量(0,0.4,0)bohr。</a:t>
            </a:r>
          </a:p>
          <a:p>
            <a:r>
              <a:t>第6行：z方向30个点，单步位移向量(0,0,0.4)bohr。共有64*47*30=90240个网格点。0.4bohr约0.2117Å。任一点R(i,j,k)=R0+i*ax+j*ay+k*az，其中i从0到63，j从0到46，k从0到29。</a:t>
            </a:r>
          </a:p>
          <a:p>
            <a:r>
              <a:t>第7至29行：23个原子，每行依次是原子序数、保留电荷字段、三个笛卡尔坐标（bohr）。Psi4源码将该保留字段固定写为0.0，不能解读为Mulliken电荷或各原子的真实净电荷。原子序数1、6、7、8、16分别对应H、C、N、O、S。此截图统计为C10H8N2O2S，总共23个原子。第7行的6代表C，碳坐标为(-1.340950,-3.694604,0.003402)bohr。</a:t>
            </a:r>
          </a:p>
          <a:p>
            <a:r>
              <a:t>第30行起：90240个网格点上的电子密度标量值，单位e/bohr^3，科学计数法4.26023E-09表示4.26023乘10的-9次方。按z索引最快、y其次、x最慢写出，数组可依(Nx,Ny,Nz)重塑。每行通常输出六个数，z轴段结束时也会换行；显示或文本换行不应作为三维网格层的分界。这里只见截图中的数据片段，不能据此验证完整文件的数值总数或积分电子数。</a:t>
            </a:r>
          </a:p>
          <a:p/>
          <a:p>
            <a:r>
              <a:t>来源：</a:t>
            </a:r>
          </a:p>
          <a:p>
            <a:r>
              <a:t>1. 用户提供的EDbench Cube截图。</a:t>
            </a:r>
          </a:p>
          <a:p>
            <a:r>
              <a:t>2. Psi4官方Cube说明：https://psi4.github.io/psi4docs/master/cubeprop.html</a:t>
            </a:r>
          </a:p>
          <a:p>
            <a:r>
              <a:t>3. Psi4写Cube文件的源码（原点、网格、0.0保留字段、数据顺序）：https://github.com/psi4/psi4/blob/master/psi4/src/psi4/libcubeprop/csg.cc#L214-L266</a:t>
            </a:r>
          </a:p>
          <a:p>
            <a:r>
              <a:t>4. Psi4总密度构造：https://github.com/psi4/psi4/blob/master/psi4/src/psi4/libcubeprop/cubeprop.cc#L101-L111</a:t>
            </a:r>
          </a:p>
          <a:p>
            <a:r>
              <a:t>5. 等值面阈值计算：https://github.com/psi4/psi4/blob/master/psi4/src/psi4/libcubeprop/csg.cc#L619-L647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M9数据集概览。用户提供的本页截图给出发布时间2014年、分子数量133885个、分子来源GDB-17中的GDB-9分子子集、XYZ数据格式。主要数据包括分子结构数据，15项主要数值性质，以及Mulliken原子部分电荷、振动频率、SMILES和InChI分子标识符。图中列出的量子化学性质包含旋转常数、偶极矩、极化率、HOMO/LUMO轨道能量、能隙、电子空间展布、内能、焓、自由能、热容等。电子空间展布是一个标量性质条目，不应直接理解为完整三维电子密度。</a:t>
            </a:r>
          </a:p>
          <a:p/>
          <a:p>
            <a:r>
              <a:t>来源：用户提供的QM9数据集幻灯片截图（codex-clipboard-6294ba10-4e3f-47c0-a0d4-ced9d5f0a996.png）。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MD17（Molecular Dynamics 2017）由 Chmiela 等提出，使用从头算分子动力学轨迹中的分子构型及相应能量和力训练、评估机器学习势。2017年原论文第III节列出最初8种分子。2018年sGDML工作扩展至10种，加入paracetamol和azobenzene。常见MD17扩展版与原始2017年八分子集合须区分。NPZ数据字段包括原子序数z、坐标R、能量E、力F。同一种分子的许多构象构成该分子的轨迹数据，并非10种分子就只有10条数据。Malonaldehyde的中文是丙二醛。</a:t>
            </a:r>
          </a:p>
          <a:p/>
          <a:p>
            <a:r>
              <a:t>来源：</a:t>
            </a:r>
          </a:p>
          <a:p>
            <a:r>
              <a:t>1. 用户提供的MD17数据集简介截图。</a:t>
            </a:r>
          </a:p>
          <a:p>
            <a:r>
              <a:t>2. 2017原论文：Chmiela et al., Machine learning of accurate energy-conserving molecular force fields, Science Advances 3, e1603015. https://arxiv.org/html/1611.04678v2</a:t>
            </a:r>
          </a:p>
          <a:p>
            <a:r>
              <a:t>3. 2018 sGDML论文：Chmiela et al., Towards exact molecular dynamics simulations with machine-learned force fields. 表1列出10种分子。https://arxiv.org/html/1802.09238v3</a:t>
            </a:r>
          </a:p>
          <a:p>
            <a:r>
              <a:t>4. 官方MD17数据页：https://www.sgdml.org/</a:t>
            </a:r>
          </a:p>
          <a:p>
            <a:r>
              <a:t>5. 官方NPZ转换脚本：https://github.com/stefanch/sGDML/blob/master/scripts/sgdml_dataset_from_extxyz.py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本页解释用户提供的 MD17 阿司匹林单个构型的含力 XYZ 导出文件。首行 21 表示当前构型的原子总数，包含氢原子。第二行 -406757.5912640221 记录整个分子在此构型下的能量标签 E。它处于 XYZ 语法的注释行，含义结合用户提供的 MD17 来源解释。该能量不是单个原子的能量，也不是含核动能的分子动力学总机械能。</a:t>
            </a:r>
          </a:p>
          <a:p/>
          <a:p>
            <a:r>
              <a:t>第三至二十三行每行对应一个原子，七列为 element、x、y、z、Fx、Fy、Fz。坐标是笛卡尔坐标。力满足 F = -∂E/∂R，分量的正负表示沿对应坐标轴的方向。原子顺序为：第三至九行7个C，第十至十二行3个O，第十三至十四行2个C，第十五行1个O，第十六至二十三行8个H。因此分子式为 C9H8O4，总原子数为21。</a:t>
            </a:r>
          </a:p>
          <a:p/>
          <a:p>
            <a:r>
              <a:t>上方数据片段显示原始截图前九行，省略的其余原子行使用相同字段格式。单个构型共23行。</a:t>
            </a:r>
          </a:p>
          <a:p/>
          <a:p>
            <a:r>
              <a:t>原始 MD17 的坐标、能量、力单位分别为 Å、kcal/mol、kcal/(mol·Å)。截图未声明列名和单位，若导出脚本进行过单位转换，须以实际脚本为准。</a:t>
            </a:r>
          </a:p>
          <a:p/>
          <a:p>
            <a:r>
              <a:t>来源：</a:t>
            </a:r>
          </a:p>
          <a:p>
            <a:r>
              <a:t>1. 用户提供的 MD17 aspirin XYZ 截图。</a:t>
            </a:r>
          </a:p>
          <a:p>
            <a:r>
              <a:t>2. sGDML 官方 MD17 数据下载页面，明确给出几何、能量和力的原始单位：https://www.sgdml.org/</a:t>
            </a:r>
          </a:p>
          <a:p>
            <a:r>
              <a:t>3. rMD17 原作者的 Materials Cloud readme，可交叉核对字段与单位。rMD17 是重算数据，不应与原始 MD17 的数值混用：https://archive.materialscloud.org/records/pfffs-fff86/preview/readme.txt?include_deleted=0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本页按用户提供的表格，仅保留前两列“软件”和“主要计算方法”，保持软件顺序及方法表述。</a:t>
            </a:r>
          </a:p>
          <a:p/>
          <a:p>
            <a:r>
              <a:t>方法与软件需区分：DFT、HF 和电子相关方法是计算理论或方法；Q-Chem、ORCA、Psi4 和 Gaussian 为实现多种方法的程序。xTB 这里指 xtb 程序及其 GFN-xTB 方法。</a:t>
            </a:r>
          </a:p>
          <a:p/>
          <a:p>
            <a:r>
              <a:t>来源：用户在当前对话中提供的表格。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本页讲解常规 Kohn–Sham DFT 的电子结构求解流程。首先输入原子种类、三维坐标、总电荷和自旋信息，并选择交换关联泛函与基组。平面波方法还需考虑截断能、赝势或 PAW 等设置；周期体系还需 k 点采样。</a:t>
            </a:r>
          </a:p>
          <a:p/>
          <a:p>
            <a:r>
              <a:t>固定原子核后，初始电子密度可以由孤立原子密度叠加得到。根据该密度构造有效势，其中含核的吸引、电子间经典库仑排斥以及交换关联项。求解 KS 方程得到轨道、轨道能量，再按占据数构造新的密度。常用算法混合新旧密度，直到能量与密度等满足指定收敛标准。混合泛函的广义 KS 算符还含非局域交换项，本页用常规流程作示意。</a:t>
            </a:r>
          </a:p>
          <a:p/>
          <a:p>
            <a:r>
              <a:t>公式中 f_i 为轨道占据数；自旋极化时需要按自旋通道求和。收敛并不保证找到了全局最低电子态，也需要检查电荷与自旋状态。</a:t>
            </a:r>
          </a:p>
          <a:p/>
          <a:p>
            <a:r>
              <a:t>单点计算在固定坐标上完成。结构优化将电子求解放在内层，将原子坐标更新放在外层，每移动一次原子，通常都需重新求电子结构。优化通常得到附近局部极小值，频率分析可进一步判断驻点类型。</a:t>
            </a:r>
          </a:p>
          <a:p/>
          <a:p>
            <a:r>
              <a:t>参考来源：</a:t>
            </a:r>
          </a:p>
          <a:p>
            <a:r>
              <a:t>VASP 官方文档，Category: Electronic minimization</a:t>
            </a:r>
          </a:p>
          <a:p>
            <a:r>
              <a:t>https://vasp.at/wiki/Category%3AElectronic_minimization</a:t>
            </a:r>
          </a:p>
          <a:p>
            <a:r>
              <a:t>VASP 官方文档，Category: Exchange-correlation functionals</a:t>
            </a:r>
          </a:p>
          <a:p>
            <a:r>
              <a:t>https://vasp.at/wiki/Category%3AExchange-correlation_functionals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PySCF 电子结构计算后可以读取总能量、分子轨道能量、分子轨道系数、轨道占据数和电子密度矩阵。分子对象 mol 包含基组及原子信息。</a:t>
            </a:r>
          </a:p>
          <a:p/>
          <a:p>
            <a:r>
              <a:t>对应接口依次为 mf.e_tot、mf.mo_energy、mf.mo_coeff、mf.mo_occ、mf.make_rdm1() 和 mol。</a:t>
            </a:r>
          </a:p>
          <a:p/>
          <a:p>
            <a:r>
              <a:t>资料来源：用户提供的表格截图。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基组是一组用于表示分子轨道的数学函数。计算程序将基函数线性组合，近似表示分子轨道。轨道系数由电子结构求解获得。</a:t>
            </a:r>
          </a:p>
          <a:p/>
          <a:p>
            <a:r>
              <a:t>本表列举 STO-3G、6-31G*、def2-SVP、def2-TZVP 和 cc-pVDZ。双ζ、三ζ等表示价层径向描述的灵活性。极化函数进一步增加轨道形状的灵活性。</a:t>
            </a:r>
          </a:p>
          <a:p/>
          <a:p>
            <a:r>
              <a:t>一般来说，基组越丰富，轨道表示越灵活，但计算成本也通常越高。精度并非只由基组决定，还与所用计算方法、电子态及数值设置等有关。表中的常见用途是入门层面的概括，具体选择需结合体系和目标性质。</a:t>
            </a:r>
          </a:p>
          <a:p/>
          <a:p>
            <a:r>
              <a:t>资料来源：当前对话提供的基组说明及表格。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交换关联泛函用于近似描述电子之间的交换与相关效应，是 DFT 计算模型的重要组成部分。</a:t>
            </a:r>
          </a:p>
          <a:p/>
          <a:p>
            <a:r>
              <a:t>本表依次列举 LDA、PBE、B3LYP、PBE0、M06-2X 和 ωB97X-D。LDA 是局域密度近似这一类近似的名称，具体计算时还需确定其交换与相关组合。GGA 指广义梯度近似。杂化泛函引入一定比例的精确交换。ωB97X-D 为包含色散相关描述的长程校正杂化泛函。</a:t>
            </a:r>
          </a:p>
          <a:p/>
          <a:p>
            <a:r>
              <a:t>基组和泛函分别控制不同方面：基组决定用于表示轨道的函数集合，泛函决定交换与相关作用的近似描述。例如 B3LYP/def2-SVP 表示 B3LYP 泛函配合 def2-SVP 基组。</a:t>
            </a:r>
          </a:p>
          <a:p/>
          <a:p>
            <a:r>
              <a:t>资料来源：当前对话提供的交换关联泛函说明及表格。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本页具体说明 GFN2-xTB，不能把所有 xTB 方法都概括为同一种自洽流程，例如 GFN0-xTB 属于非自洽方法。这里的 xTB 指半经验扩展紧束缚电子结构模型。</a:t>
            </a:r>
          </a:p>
          <a:p/>
          <a:p>
            <a:r>
              <a:t>GFN2-xTB 使用较小的原子中心价电子基组。元素相关参数在方法开发时预先拟合，计算一个新分子时直接读取，通常不会先对这个分子跑一次完整 DFT。根据几何结构，包括原子间距离与配位环境，构造基础哈密顿量与重叠矩阵。原子电荷、偶极及四极等多极矩参与自洽相互作用。第二步标签“电荷”是对自洽电子分布信息的简写，同时包括多极矩等项。</a:t>
            </a:r>
          </a:p>
          <a:p/>
          <a:p>
            <a:r>
              <a:t>电子求解满足广义本征值问题 H C = S C ε。用轨道系数及占据数得到密度矩阵，再更新电荷和多极矩，并回到哈密顿矩阵构造，直到满足收敛标准。模型总能量还包括排斥、色散和其他相应贡献；GFN2-xTB 包含密度相关色散。</a:t>
            </a:r>
          </a:p>
          <a:p/>
          <a:p>
            <a:r>
              <a:t>速度优势主要来自较小基组和参数化近似，并不是取消了量子轨道求解，也不是所有 xTB 都无需电子迭代。两类方法都可输出能量、力及电子分布信息，且在结构优化时需要根据受力更新坐标，再求电子结构。</a:t>
            </a:r>
          </a:p>
          <a:p/>
          <a:p>
            <a:r>
              <a:t>xTB 可以从轨道和密度矩阵生成空间密度并导出 cube 文件。常规 GFN2-xTB 显式处理价电子，直接与全电子 DFT 密度比较时应先统一电子口径、分子几何、网格、单位以及电子态，不能仅凭颜色图进行定量判断。结果精度依赖体系与目标性质，不承诺固定的速度或误差倍数。</a:t>
            </a:r>
          </a:p>
          <a:p/>
          <a:p>
            <a:r>
              <a:t>参考来源：</a:t>
            </a:r>
          </a:p>
          <a:p>
            <a:r>
              <a:t>Bannwarth C.; Ehlert S.; Grimme S. GFN2-xTB—An Accurate and Broadly Parametrized Self-Consistent Tight-Binding Quantum Chemical Method with Multipole Electrostatics and Density-Dependent Dispersion Contributions. J. Chem. Theory Comput. 2019, 15, 1652–1671.</a:t>
            </a:r>
          </a:p>
          <a:p>
            <a:r>
              <a:t>https://doi.org/10.1021/acs.jctc.8b01176</a:t>
            </a:r>
          </a:p>
          <a:p>
            <a:r>
              <a:t>xTB 官方文档，Properties — Density Properties</a:t>
            </a:r>
          </a:p>
          <a:p>
            <a:r>
              <a:t>https://xtb-docs.readthedocs.io/en/latest/properties.html#density-properties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GFN-xTB 是半经验扩展紧束缚方法。表中列出 GFN0-xTB、GFN1-xTB 和 GFN2-xTB 三种方法，以及在 xtb 程序中对应的 --gfn 0、--gfn 1、--gfn 2 选项。例如：xtb molecule.xyz --gfn 2。</a:t>
            </a:r>
          </a:p>
          <a:p/>
          <a:p>
            <a:r>
              <a:t>GFN0-xTB 为非自洽紧束缚方法，不进行 GFN1/GFN2 那样的 SCC 电荷迭代。其电荷模型和电子结构近似仍属于具体参数化方法的一部分，不能将“非自洽”理解为不求轨道。</a:t>
            </a:r>
          </a:p>
          <a:p/>
          <a:p>
            <a:r>
              <a:t>GFN1-xTB 为自洽电荷紧束缚方法，静电项采用单极电荷、各向同性描述。模型还包含其他能量项，例如排斥和色散等。它使用配套的紧凑价层基组，氢原子包含 1s 和 2s 两个基函数。</a:t>
            </a:r>
          </a:p>
          <a:p/>
          <a:p>
            <a:r>
              <a:t>GFN2-xTB 将电荷、原子偶极和四极等电子分布信息纳入模型，包含各向异性静电与交换关联贡献及自洽 D4 色散。它使用最小价层基组，基函数可通过收缩高斯展开近似 Slater 型函数。氢的壳层为 1s，碳为 2s 和 2p，其中 2p 对应三个空间方向，因此碳共有四个空间基函数。这里的内置基组不等同于常规 STO-3G。</a:t>
            </a:r>
          </a:p>
          <a:p/>
          <a:p>
            <a:r>
              <a:t>用户通常通过选择 GFN 方法，一并选定配套的基组和模型参数，不额外指定 B3LYP、PBE 或 def2-SVP。基组越紧凑，并不意味着所有性质都具有同样精度，实际适用性仍依赖体系和目标性质。</a:t>
            </a:r>
          </a:p>
          <a:p/>
          <a:p>
            <a:r>
              <a:t>参考资料：</a:t>
            </a:r>
          </a:p>
          <a:p>
            <a:r>
              <a:t>1. xtb 官方文档，Singlepoint Calculations，方法选择与命令行选项</a:t>
            </a:r>
          </a:p>
          <a:p>
            <a:r>
              <a:t>https://xtb-docs.readthedocs.io/en/latest/sp.html</a:t>
            </a:r>
          </a:p>
          <a:p>
            <a:r>
              <a:t>2. Bannwarth et al. Extended tight-binding quantum chemistry methods. WIREs Comput. Mol. Sci. 2021，GFN0-xTB 模型综述</a:t>
            </a:r>
          </a:p>
          <a:p>
            <a:r>
              <a:t>https://doi.org/10.1002/wcms.1493</a:t>
            </a:r>
          </a:p>
          <a:p>
            <a:r>
              <a:t>3. tblite 官方文档，Python API，GFN1/GFN2 的自洽与静电模型</a:t>
            </a:r>
          </a:p>
          <a:p>
            <a:r>
              <a:t>https://tblite.readthedocs.io/en/latest/api/python.html</a:t>
            </a:r>
          </a:p>
          <a:p>
            <a:r>
              <a:t>4. tblite 官方文档，Parameter file，GFN2 的氢、碳壳层与基函数参数</a:t>
            </a:r>
          </a:p>
          <a:p>
            <a:r>
              <a:t>https://tblite.readthedocs.io/en/latest/spec/parameter.html</a:t>
            </a:r>
          </a:p>
          <a:p>
            <a:r>
              <a:t>5. SCM 官方文档，GFN1-xTB，氢原子 1s/2s 基函数</a:t>
            </a:r>
          </a:p>
          <a:p>
            <a:r>
              <a:t>https://www.scm.com/doc/params/python/interfaces/xtb.html</a:t>
            </a:r>
          </a:p>
          <a:p>
            <a:r>
              <a:t>6. Bannwarth et al. GFN2-xTB. J. Chem. Theory Comput. 2019, 15, 1652–1671</a:t>
            </a:r>
          </a:p>
          <a:p>
            <a:r>
              <a:t>https://doi.org/10.1021/acs.jctc.8b01176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本页概述三种常见的分子表示方式，基于用户提供的简短说明整理。</a:t>
            </a:r>
          </a:p>
          <a:p/>
          <a:p>
            <a:r>
              <a:t>SMILES用字符串记录分子图中的原子与键，也可选择编码同位素和立体化学信息。相同结构可以有不同的合法SMILES。SMILES与二维分子图通常表达同一类原子与连接关系信息，只是呈现形式不同。</a:t>
            </a:r>
          </a:p>
          <a:p/>
          <a:p>
            <a:r>
              <a:t>二维结构式通过平面布局、元素标记和键符号展示结构。图中的二维位置主要服务于表达和排版，不等同于各原子的真实三维坐标。</a:t>
            </a:r>
          </a:p>
          <a:p/>
          <a:p>
            <a:r>
              <a:t>三维构象通过坐标描述原子在空间中的具体位置与排列，可与元素种类、键连接信息一起表达分子的空间结构。三维坐标本身并不保证显式包含化学键，例如普通XYZ文件通常只列元素和坐标。</a:t>
            </a:r>
          </a:p>
          <a:p/>
          <a:p>
            <a:r>
              <a:t>来源：用户提供的分子表示方法截图。补充SMILES术语核对：Daylight官方SMILES规范，https://www.daylight.com/dayhtml/doc/theory/theory.smiles.html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SMILES是以文本字符记录分子图的线性表示，名称为Simplified Molecular Input Line Entry System。本页列出六项入门规则，未展开立体化学。</a:t>
            </a:r>
          </a:p>
          <a:p/>
          <a:p>
            <a:r>
              <a:t>1. 原子使用元素符号，双字母元素符号第二字母小写。常见有机子集可在符合价态约定时省略方括号，芳香原子用小写，例如c和n。常见有机结构的许多氢按价态隐含。</a:t>
            </a:r>
          </a:p>
          <a:p>
            <a:r>
              <a:t>2. 化学键符号为-单键、=双键、#三键、:芳香键。缺少键符号时按单键或芳香键解释。两个芳香原子之间若需指定单键，应显式写-。</a:t>
            </a:r>
          </a:p>
          <a:p>
            <a:r>
              <a:t>3. 括号内是一条从括号前原子伸出的分支，可以嵌套。CC(O)C中的O连接第二个C。</a:t>
            </a:r>
          </a:p>
          <a:p>
            <a:r>
              <a:t>4. 环数字成对标记需要连成键的两个原子，数字不代表环的大小。例如C1CCCCC1为环己烷，c1ccccc1为苯。复杂情况下数字可以重用，较大编号也可用百分号语法。</a:t>
            </a:r>
          </a:p>
          <a:p>
            <a:r>
              <a:t>5. 点号分隔不相连的组分，例如[Na+].[Cl-]。</a:t>
            </a:r>
          </a:p>
          <a:p>
            <a:r>
              <a:t>6. 方括号描述需要显式指定的原子和属性，包括同位素、氢数、形式电荷等。[NH4+]是铵离子，[13CH4]是碳13甲烷。</a:t>
            </a:r>
          </a:p>
          <a:p/>
          <a:p>
            <a:r>
              <a:t>阿司匹林的有效SMILES示例是CC(=O)Oc1ccccc1C(=O)O，可在字符串中识别乙酰氧基片段、苯环片段和羧基片段。这里片段的原子价态由完整字符串中的连接共同决定，不能将片段切断后的独立字符串直接等同于原分子中的片段。SMILES编码的是原子和键的图，常规字符串不直接存储三维坐标。同一分子可以有多种合法写法；规范化形式取决于所用规范化约定。</a:t>
            </a:r>
          </a:p>
          <a:p/>
          <a:p>
            <a:r>
              <a:t>来源：</a:t>
            </a:r>
          </a:p>
          <a:p>
            <a:r>
              <a:t>1. 用户提供的SMILES规则截图。</a:t>
            </a:r>
          </a:p>
          <a:p>
            <a:r>
              <a:t>2. Daylight官方SMILES规范，第3.1、3.2.1至3.2.5、3.3.1、3.4.1节：https://www.daylight.com/dayhtml/doc/theory/theory.smiles.html</a:t>
            </a:r>
          </a:p>
          <a:p>
            <a:r>
              <a:t>3. RDKit官方JavaScript示例，aspirin字符串：https://www.rdkit.org/rdkitjs/beta/GettingStartedInJS.html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4" Type="http://schemas.openxmlformats.org/officeDocument/2006/relationships/notesSlide" Target="../notesSlides/notesSlide15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"/>
          <p:cNvSpPr>
            <a:spLocks noGrp="1"/>
          </p:cNvSpPr>
          <p:nvPr/>
        </p:nvSpPr>
        <p:spPr>
          <a:xfrm>
            <a:off x="609600" y="257175"/>
            <a:ext cx="109728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EDBench、QM9 与 MD17 数据集</a:t>
            </a:r>
            <a:endParaRPr sz="31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609600" y="1412240"/>
          <a:ext cx="10972800" cy="3810000"/>
        </p:xfrm>
        <a:graphic>
          <a:graphicData uri="http://schemas.openxmlformats.org/drawingml/2006/table">
            <a:tbl>
              <a:tblPr/>
              <a:tblGrid>
                <a:gridCol w="1428750"/>
                <a:gridCol w="1219200"/>
                <a:gridCol w="2876550"/>
                <a:gridCol w="2667000"/>
                <a:gridCol w="2781300"/>
              </a:tblGrid>
              <a:tr h="609600"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</a:t>
                      </a:r>
                      <a:endParaRPr sz="1875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L w="8573">
                      <a:solidFill>
                        <a:srgbClr val="B8B8B8"/>
                      </a:solidFill>
                      <a:prstDash val="solid"/>
                    </a:lnL>
                    <a:lnR w="8573">
                      <a:solidFill>
                        <a:srgbClr val="B8B8B8"/>
                      </a:solidFill>
                      <a:prstDash val="solid"/>
                    </a:lnR>
                    <a:lnT w="8573">
                      <a:solidFill>
                        <a:srgbClr val="B8B8B8"/>
                      </a:solidFill>
                      <a:prstDash val="solid"/>
                    </a:lnT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发布</a:t>
                      </a:r>
                      <a:endParaRPr sz="1875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75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年份</a:t>
                      </a:r>
                      <a:endParaRPr sz="1875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R w="8573">
                      <a:solidFill>
                        <a:srgbClr val="B8B8B8"/>
                      </a:solidFill>
                      <a:prstDash val="solid"/>
                    </a:lnR>
                    <a:lnT w="8573">
                      <a:solidFill>
                        <a:srgbClr val="B8B8B8"/>
                      </a:solidFill>
                      <a:prstDash val="solid"/>
                    </a:lnT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原始分子来源</a:t>
                      </a:r>
                      <a:endParaRPr sz="1875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R w="8573">
                      <a:solidFill>
                        <a:srgbClr val="B8B8B8"/>
                      </a:solidFill>
                      <a:prstDash val="solid"/>
                    </a:lnR>
                    <a:lnT w="8573">
                      <a:solidFill>
                        <a:srgbClr val="B8B8B8"/>
                      </a:solidFill>
                      <a:prstDash val="solid"/>
                    </a:lnT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数据格式</a:t>
                      </a:r>
                      <a:endParaRPr sz="1875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R w="8573">
                      <a:solidFill>
                        <a:srgbClr val="B8B8B8"/>
                      </a:solidFill>
                      <a:prstDash val="solid"/>
                    </a:lnR>
                    <a:lnT w="8573">
                      <a:solidFill>
                        <a:srgbClr val="B8B8B8"/>
                      </a:solidFill>
                      <a:prstDash val="solid"/>
                    </a:lnT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数据规模</a:t>
                      </a:r>
                      <a:endParaRPr sz="1875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R w="8573">
                      <a:solidFill>
                        <a:srgbClr val="B8B8B8"/>
                      </a:solidFill>
                      <a:prstDash val="solid"/>
                    </a:lnR>
                    <a:lnT w="8573">
                      <a:solidFill>
                        <a:srgbClr val="B8B8B8"/>
                      </a:solidFill>
                      <a:prstDash val="solid"/>
                    </a:lnT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1066800"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EDBench</a:t>
                      </a:r>
                      <a:endParaRPr sz="180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L w="8573">
                      <a:solidFill>
                        <a:srgbClr val="B8B8B8"/>
                      </a:solidFill>
                      <a:prstDash val="solid"/>
                    </a:lnL>
                    <a:lnR w="8573">
                      <a:solidFill>
                        <a:srgbClr val="B8B8B8"/>
                      </a:solidFill>
                      <a:prstDash val="solid"/>
                    </a:lnR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2025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R w="8573">
                      <a:solidFill>
                        <a:srgbClr val="B8B8B8"/>
                      </a:solidFill>
                      <a:prstDash val="solid"/>
                    </a:lnR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PCQM4Mv2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R w="8573">
                      <a:solidFill>
                        <a:srgbClr val="B8B8B8"/>
                      </a:solidFill>
                      <a:prstDash val="solid"/>
                    </a:lnR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.cube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三维电子密度网格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R w="8573">
                      <a:solidFill>
                        <a:srgbClr val="B8B8B8"/>
                      </a:solidFill>
                      <a:prstDash val="solid"/>
                    </a:lnR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3,359,472 个分子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R w="8573">
                      <a:solidFill>
                        <a:srgbClr val="B8B8B8"/>
                      </a:solidFill>
                      <a:prstDash val="solid"/>
                    </a:lnR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QM9</a:t>
                      </a:r>
                      <a:endParaRPr sz="180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L w="8573">
                      <a:solidFill>
                        <a:srgbClr val="B8B8B8"/>
                      </a:solidFill>
                      <a:prstDash val="solid"/>
                    </a:lnL>
                    <a:lnR w="8573">
                      <a:solidFill>
                        <a:srgbClr val="B8B8B8"/>
                      </a:solidFill>
                      <a:prstDash val="solid"/>
                    </a:lnR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2014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R w="8573">
                      <a:solidFill>
                        <a:srgbClr val="B8B8B8"/>
                      </a:solidFill>
                      <a:prstDash val="solid"/>
                    </a:lnR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GDB-17 数据库中的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GDB-9 分子子集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R w="8573">
                      <a:solidFill>
                        <a:srgbClr val="B8B8B8"/>
                      </a:solidFill>
                      <a:prstDash val="solid"/>
                    </a:lnR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.xyz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结构与量化性质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R w="8573">
                      <a:solidFill>
                        <a:srgbClr val="B8B8B8"/>
                      </a:solidFill>
                      <a:prstDash val="solid"/>
                    </a:lnR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133,885 个分子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R w="8573">
                      <a:solidFill>
                        <a:srgbClr val="B8B8B8"/>
                      </a:solidFill>
                      <a:prstDash val="solid"/>
                    </a:lnR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MD17</a:t>
                      </a:r>
                      <a:endParaRPr sz="180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L w="8573">
                      <a:solidFill>
                        <a:srgbClr val="B8B8B8"/>
                      </a:solidFill>
                      <a:prstDash val="solid"/>
                    </a:lnL>
                    <a:lnR w="8573">
                      <a:solidFill>
                        <a:srgbClr val="B8B8B8"/>
                      </a:solidFill>
                      <a:prstDash val="solid"/>
                    </a:lnR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2017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R w="8573">
                      <a:solidFill>
                        <a:srgbClr val="B8B8B8"/>
                      </a:solidFill>
                      <a:prstDash val="solid"/>
                    </a:lnR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从头算分子动力学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（AIMD）轨迹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R w="8573">
                      <a:solidFill>
                        <a:srgbClr val="B8B8B8"/>
                      </a:solidFill>
                      <a:prstDash val="solid"/>
                    </a:lnR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.npz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扩展 XYZ（.xyz）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R w="8573">
                      <a:solidFill>
                        <a:srgbClr val="B8B8B8"/>
                      </a:solidFill>
                      <a:prstDash val="solid"/>
                    </a:lnR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 种分子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各有大量不同构象</a:t>
                      </a:r>
                      <a:endParaRPr sz="180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95250" marB="95250" anchor="ctr">
                    <a:lnR w="8573">
                      <a:solidFill>
                        <a:srgbClr val="B8B8B8"/>
                      </a:solidFill>
                      <a:prstDash val="solid"/>
                    </a:lnR>
                    <a:lnB w="8573">
                      <a:solidFill>
                        <a:srgbClr val="B8B8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title"/>
          <p:cNvSpPr>
            <a:spLocks noGrp="1"/>
          </p:cNvSpPr>
          <p:nvPr/>
        </p:nvSpPr>
        <p:spPr>
          <a:xfrm>
            <a:off x="609600" y="257175"/>
            <a:ext cx="109728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EDBench 数据集</a:t>
            </a:r>
            <a:endParaRPr sz="31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introduction"/>
          <p:cNvSpPr>
            <a:spLocks noGrp="1"/>
          </p:cNvSpPr>
          <p:nvPr/>
        </p:nvSpPr>
        <p:spPr>
          <a:xfrm>
            <a:off x="609600" y="1057275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面向电子密度建模的大规模类药分子数据集。</a:t>
            </a:r>
            <a:endParaRPr sz="19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abel-0"/>
          <p:cNvSpPr>
            <a:spLocks noGrp="1"/>
          </p:cNvSpPr>
          <p:nvPr/>
        </p:nvSpPr>
        <p:spPr>
          <a:xfrm>
            <a:off x="609600" y="1714500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发布时间：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value-0"/>
          <p:cNvSpPr>
            <a:spLocks noGrp="1"/>
          </p:cNvSpPr>
          <p:nvPr/>
        </p:nvSpPr>
        <p:spPr>
          <a:xfrm>
            <a:off x="2009775" y="1714500"/>
            <a:ext cx="957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 年（NeurIPS 2025）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label-1"/>
          <p:cNvSpPr>
            <a:spLocks noGrp="1"/>
          </p:cNvSpPr>
          <p:nvPr/>
        </p:nvSpPr>
        <p:spPr>
          <a:xfrm>
            <a:off x="609600" y="2105025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分子数量：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value-1"/>
          <p:cNvSpPr>
            <a:spLocks noGrp="1"/>
          </p:cNvSpPr>
          <p:nvPr/>
        </p:nvSpPr>
        <p:spPr>
          <a:xfrm>
            <a:off x="2009775" y="2105025"/>
            <a:ext cx="957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3,359,472 个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label-2"/>
          <p:cNvSpPr>
            <a:spLocks noGrp="1"/>
          </p:cNvSpPr>
          <p:nvPr/>
        </p:nvSpPr>
        <p:spPr>
          <a:xfrm>
            <a:off x="609600" y="2495550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分子来源：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value-2"/>
          <p:cNvSpPr>
            <a:spLocks noGrp="1"/>
          </p:cNvSpPr>
          <p:nvPr/>
        </p:nvSpPr>
        <p:spPr>
          <a:xfrm>
            <a:off x="2009775" y="2495550"/>
            <a:ext cx="957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PCQM4Mv2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label-3"/>
          <p:cNvSpPr>
            <a:spLocks noGrp="1"/>
          </p:cNvSpPr>
          <p:nvPr/>
        </p:nvSpPr>
        <p:spPr>
          <a:xfrm>
            <a:off x="609600" y="2886075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计算软件：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value-3"/>
          <p:cNvSpPr>
            <a:spLocks noGrp="1"/>
          </p:cNvSpPr>
          <p:nvPr/>
        </p:nvSpPr>
        <p:spPr>
          <a:xfrm>
            <a:off x="2009775" y="2886075"/>
            <a:ext cx="957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Psi4 1.7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label-4"/>
          <p:cNvSpPr>
            <a:spLocks noGrp="1"/>
          </p:cNvSpPr>
          <p:nvPr/>
        </p:nvSpPr>
        <p:spPr>
          <a:xfrm>
            <a:off x="609600" y="3276600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泛函：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value-4"/>
          <p:cNvSpPr>
            <a:spLocks noGrp="1"/>
          </p:cNvSpPr>
          <p:nvPr/>
        </p:nvSpPr>
        <p:spPr>
          <a:xfrm>
            <a:off x="2009775" y="3276600"/>
            <a:ext cx="957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B3LYP（DFT）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label-5"/>
          <p:cNvSpPr>
            <a:spLocks noGrp="1"/>
          </p:cNvSpPr>
          <p:nvPr/>
        </p:nvSpPr>
        <p:spPr>
          <a:xfrm>
            <a:off x="609600" y="3667125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基组：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value-5"/>
          <p:cNvSpPr>
            <a:spLocks noGrp="1"/>
          </p:cNvSpPr>
          <p:nvPr/>
        </p:nvSpPr>
        <p:spPr>
          <a:xfrm>
            <a:off x="2009775" y="3667125"/>
            <a:ext cx="957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6-31G**（无硫分子），6-31+G**（含硫分子）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label-6"/>
          <p:cNvSpPr>
            <a:spLocks noGrp="1"/>
          </p:cNvSpPr>
          <p:nvPr/>
        </p:nvSpPr>
        <p:spPr>
          <a:xfrm>
            <a:off x="609600" y="4057650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数据文件：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value-6"/>
          <p:cNvSpPr>
            <a:spLocks noGrp="1"/>
          </p:cNvSpPr>
          <p:nvPr/>
        </p:nvSpPr>
        <p:spPr>
          <a:xfrm>
            <a:off x="2009775" y="4057650"/>
            <a:ext cx="957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.cube、.sdf、Psi4.out 和性质 CSV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label-7"/>
          <p:cNvSpPr>
            <a:spLocks noGrp="1"/>
          </p:cNvSpPr>
          <p:nvPr/>
        </p:nvSpPr>
        <p:spPr>
          <a:xfrm>
            <a:off x="609600" y="4448175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数据内容：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value-7"/>
          <p:cNvSpPr>
            <a:spLocks noGrp="1"/>
          </p:cNvSpPr>
          <p:nvPr/>
        </p:nvSpPr>
        <p:spPr>
          <a:xfrm>
            <a:off x="2009775" y="4448175"/>
            <a:ext cx="957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电子密度、静电势、能量分量、轨道能量、偶极矩等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label-8"/>
          <p:cNvSpPr>
            <a:spLocks noGrp="1"/>
          </p:cNvSpPr>
          <p:nvPr/>
        </p:nvSpPr>
        <p:spPr>
          <a:xfrm>
            <a:off x="609600" y="4838700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网格设置：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value-8"/>
          <p:cNvSpPr>
            <a:spLocks noGrp="1"/>
          </p:cNvSpPr>
          <p:nvPr/>
        </p:nvSpPr>
        <p:spPr>
          <a:xfrm>
            <a:off x="2009775" y="4838700"/>
            <a:ext cx="957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步长 0.4 bohr（约 0.212 Å），边界外扩 4.0 bohr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label-9"/>
          <p:cNvSpPr>
            <a:spLocks noGrp="1"/>
          </p:cNvSpPr>
          <p:nvPr/>
        </p:nvSpPr>
        <p:spPr>
          <a:xfrm>
            <a:off x="609600" y="5229225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基准任务：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value-9"/>
          <p:cNvSpPr>
            <a:spLocks noGrp="1"/>
          </p:cNvSpPr>
          <p:nvPr/>
        </p:nvSpPr>
        <p:spPr>
          <a:xfrm>
            <a:off x="2009775" y="5229225"/>
            <a:ext cx="957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性质预测、结构与密度检索、密度生成，共 6 项基准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label-10"/>
          <p:cNvSpPr>
            <a:spLocks noGrp="1"/>
          </p:cNvSpPr>
          <p:nvPr/>
        </p:nvSpPr>
        <p:spPr>
          <a:xfrm>
            <a:off x="609600" y="5619750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应用方向：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value-10"/>
          <p:cNvSpPr>
            <a:spLocks noGrp="1"/>
          </p:cNvSpPr>
          <p:nvPr/>
        </p:nvSpPr>
        <p:spPr>
          <a:xfrm>
            <a:off x="2009775" y="5619750"/>
            <a:ext cx="957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电子密度建模、量子性质预测与分子表征学习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title"/>
          <p:cNvSpPr>
            <a:spLocks noGrp="1"/>
          </p:cNvSpPr>
          <p:nvPr/>
        </p:nvSpPr>
        <p:spPr>
          <a:xfrm>
            <a:off x="457200" y="200025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8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8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8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8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8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8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8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8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8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8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8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EDbench 数据集中的 .cube 文件格式</a:t>
            </a:r>
            <a:endParaRPr sz="28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82292"/>
          <a:stretch>
            <a:fillRect/>
          </a:stretch>
        </p:blipFill>
        <p:spPr>
          <a:xfrm>
            <a:off x="457200" y="895350"/>
            <a:ext cx="11277600" cy="1891189"/>
          </a:xfrm>
          <a:prstGeom prst="rect">
            <a:avLst/>
          </a:prstGeom>
        </p:spPr>
      </p:pic>
      <p:sp>
        <p:nvSpPr>
          <p:cNvPr id="3" name="atom-source-example"/>
          <p:cNvSpPr>
            <a:spLocks noGrp="1"/>
          </p:cNvSpPr>
          <p:nvPr/>
        </p:nvSpPr>
        <p:spPr>
          <a:xfrm>
            <a:off x="504825" y="2838450"/>
            <a:ext cx="11182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第7行：6  0.000000  -1.340950  -3.694604  0.003402</a:t>
            </a:r>
            <a:endParaRPr sz="1425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density-source-example"/>
          <p:cNvSpPr>
            <a:spLocks noGrp="1"/>
          </p:cNvSpPr>
          <p:nvPr/>
        </p:nvSpPr>
        <p:spPr>
          <a:xfrm>
            <a:off x="504825" y="3095625"/>
            <a:ext cx="11182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第30行：4.26023E-09  6.06027E-09  8.39248E-09  …</a:t>
            </a:r>
            <a:endParaRPr sz="1425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label-0"/>
          <p:cNvSpPr>
            <a:spLocks noGrp="1"/>
          </p:cNvSpPr>
          <p:nvPr/>
        </p:nvSpPr>
        <p:spPr>
          <a:xfrm>
            <a:off x="457200" y="3486150"/>
            <a:ext cx="16859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第1～2行：</a:t>
            </a:r>
            <a:endParaRPr sz="17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eaning-0-one"/>
          <p:cNvSpPr>
            <a:spLocks noGrp="1"/>
          </p:cNvSpPr>
          <p:nvPr/>
        </p:nvSpPr>
        <p:spPr>
          <a:xfrm>
            <a:off x="2209800" y="3486150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第1行注明 Psi4 与 Gaussian Cube 格式，第2行标注总密度 Dt（e/a₀³）。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meaning-0-two"/>
          <p:cNvSpPr>
            <a:spLocks noGrp="1"/>
          </p:cNvSpPr>
          <p:nvPr/>
        </p:nvSpPr>
        <p:spPr>
          <a:xfrm>
            <a:off x="2209800" y="3762375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85% 为等值面包围的积分密度比例，(0.0599914, 0) 为参考阈值。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label-1"/>
          <p:cNvSpPr>
            <a:spLocks noGrp="1"/>
          </p:cNvSpPr>
          <p:nvPr/>
        </p:nvSpPr>
        <p:spPr>
          <a:xfrm>
            <a:off x="457200" y="4095750"/>
            <a:ext cx="16859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第3行：</a:t>
            </a:r>
            <a:endParaRPr sz="17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meaning-1-one"/>
          <p:cNvSpPr>
            <a:spLocks noGrp="1"/>
          </p:cNvSpPr>
          <p:nvPr/>
        </p:nvSpPr>
        <p:spPr>
          <a:xfrm>
            <a:off x="2209800" y="4095750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 是原子总数，后 3 个数为网格原点坐标（bohr）：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eaning-1-two"/>
          <p:cNvSpPr>
            <a:spLocks noGrp="1"/>
          </p:cNvSpPr>
          <p:nvPr/>
        </p:nvSpPr>
        <p:spPr>
          <a:xfrm>
            <a:off x="2209800" y="4371975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(−10.286881, −9.631708, −5.820976)。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label-2"/>
          <p:cNvSpPr>
            <a:spLocks noGrp="1"/>
          </p:cNvSpPr>
          <p:nvPr/>
        </p:nvSpPr>
        <p:spPr>
          <a:xfrm>
            <a:off x="457200" y="4705350"/>
            <a:ext cx="16859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第4～6行：</a:t>
            </a:r>
            <a:endParaRPr sz="17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meaning-2-one"/>
          <p:cNvSpPr>
            <a:spLocks noGrp="1"/>
          </p:cNvSpPr>
          <p:nvPr/>
        </p:nvSpPr>
        <p:spPr>
          <a:xfrm>
            <a:off x="2209800" y="4705350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x/y/z 三轴点数分别为 64、47、30，后 3 列为各轴的步进矢量。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meaning-2-two"/>
          <p:cNvSpPr>
            <a:spLocks noGrp="1"/>
          </p:cNvSpPr>
          <p:nvPr/>
        </p:nvSpPr>
        <p:spPr>
          <a:xfrm>
            <a:off x="2209800" y="4981575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步长均为 0.4 bohr（约 0.2117 Å），共 90,240 个网格点。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label-3"/>
          <p:cNvSpPr>
            <a:spLocks noGrp="1"/>
          </p:cNvSpPr>
          <p:nvPr/>
        </p:nvSpPr>
        <p:spPr>
          <a:xfrm>
            <a:off x="457200" y="5314950"/>
            <a:ext cx="16859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第7～29行：</a:t>
            </a:r>
            <a:endParaRPr sz="17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meaning-3-one"/>
          <p:cNvSpPr>
            <a:spLocks noGrp="1"/>
          </p:cNvSpPr>
          <p:nvPr/>
        </p:nvSpPr>
        <p:spPr>
          <a:xfrm>
            <a:off x="2209800" y="5314950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每行一个原子：原子序数 Z（如 6=C）、电荷字段、x/y/z 坐标（bohr）。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meaning-3-two"/>
          <p:cNvSpPr>
            <a:spLocks noGrp="1"/>
          </p:cNvSpPr>
          <p:nvPr/>
        </p:nvSpPr>
        <p:spPr>
          <a:xfrm>
            <a:off x="2209800" y="5591175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本文件的电荷字段固定为 0.000000，是 Psi4 占位值。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label-4"/>
          <p:cNvSpPr>
            <a:spLocks noGrp="1"/>
          </p:cNvSpPr>
          <p:nvPr/>
        </p:nvSpPr>
        <p:spPr>
          <a:xfrm>
            <a:off x="457200" y="5924550"/>
            <a:ext cx="16859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第30行起：</a:t>
            </a:r>
            <a:endParaRPr sz="17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meaning-4-one"/>
          <p:cNvSpPr>
            <a:spLocks noGrp="1"/>
          </p:cNvSpPr>
          <p:nvPr/>
        </p:nvSpPr>
        <p:spPr>
          <a:xfrm>
            <a:off x="2209800" y="5924550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每个数为对应网格点的电子密度 ρ(r)，单位 e/a₀³。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meaning-4-two"/>
          <p:cNvSpPr>
            <a:spLocks noGrp="1"/>
          </p:cNvSpPr>
          <p:nvPr/>
        </p:nvSpPr>
        <p:spPr>
          <a:xfrm>
            <a:off x="2209800" y="6200775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z 最快、y 其次、x 最慢排列，文本换行不代表一个网格层。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title"/>
          <p:cNvSpPr>
            <a:spLocks noGrp="1"/>
          </p:cNvSpPr>
          <p:nvPr/>
        </p:nvSpPr>
        <p:spPr>
          <a:xfrm>
            <a:off x="609600" y="257175"/>
            <a:ext cx="1097280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QM9 数据集</a:t>
            </a:r>
            <a:endParaRPr sz="31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introduction-one"/>
          <p:cNvSpPr>
            <a:spLocks noGrp="1"/>
          </p:cNvSpPr>
          <p:nvPr/>
        </p:nvSpPr>
        <p:spPr>
          <a:xfrm>
            <a:off x="609600" y="10572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QM9 是面向分子结构与性质研究的量子化学数据集，</a:t>
            </a:r>
            <a:endParaRPr sz="19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introduction-two"/>
          <p:cNvSpPr>
            <a:spLocks noGrp="1"/>
          </p:cNvSpPr>
          <p:nvPr/>
        </p:nvSpPr>
        <p:spPr>
          <a:xfrm>
            <a:off x="609600" y="142875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包含分子的三维坐标、量子化学性质和化学标识信息。</a:t>
            </a:r>
            <a:endParaRPr sz="19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label-0"/>
          <p:cNvSpPr>
            <a:spLocks noGrp="1"/>
          </p:cNvSpPr>
          <p:nvPr/>
        </p:nvSpPr>
        <p:spPr>
          <a:xfrm>
            <a:off x="609600" y="209550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发布时间：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value-0"/>
          <p:cNvSpPr>
            <a:spLocks noGrp="1"/>
          </p:cNvSpPr>
          <p:nvPr/>
        </p:nvSpPr>
        <p:spPr>
          <a:xfrm>
            <a:off x="2009775" y="2095500"/>
            <a:ext cx="9572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2014 年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abel-1"/>
          <p:cNvSpPr>
            <a:spLocks noGrp="1"/>
          </p:cNvSpPr>
          <p:nvPr/>
        </p:nvSpPr>
        <p:spPr>
          <a:xfrm>
            <a:off x="609600" y="241935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分子数量：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value-1"/>
          <p:cNvSpPr>
            <a:spLocks noGrp="1"/>
          </p:cNvSpPr>
          <p:nvPr/>
        </p:nvSpPr>
        <p:spPr>
          <a:xfrm>
            <a:off x="2009775" y="2419350"/>
            <a:ext cx="9572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133,885 个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label-2"/>
          <p:cNvSpPr>
            <a:spLocks noGrp="1"/>
          </p:cNvSpPr>
          <p:nvPr/>
        </p:nvSpPr>
        <p:spPr>
          <a:xfrm>
            <a:off x="609600" y="274320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分子来源：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value-2"/>
          <p:cNvSpPr>
            <a:spLocks noGrp="1"/>
          </p:cNvSpPr>
          <p:nvPr/>
        </p:nvSpPr>
        <p:spPr>
          <a:xfrm>
            <a:off x="2009775" y="2743200"/>
            <a:ext cx="9572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GDB-17 数据库中的 GDB-9 分子子集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label-3"/>
          <p:cNvSpPr>
            <a:spLocks noGrp="1"/>
          </p:cNvSpPr>
          <p:nvPr/>
        </p:nvSpPr>
        <p:spPr>
          <a:xfrm>
            <a:off x="609600" y="306705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数据格式：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value-3"/>
          <p:cNvSpPr>
            <a:spLocks noGrp="1"/>
          </p:cNvSpPr>
          <p:nvPr/>
        </p:nvSpPr>
        <p:spPr>
          <a:xfrm>
            <a:off x="2009775" y="3067050"/>
            <a:ext cx="9572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XYZ（.xyz）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contents-heading"/>
          <p:cNvSpPr>
            <a:spLocks noGrp="1"/>
          </p:cNvSpPr>
          <p:nvPr/>
        </p:nvSpPr>
        <p:spPr>
          <a:xfrm>
            <a:off x="609600" y="3714750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主要数据内容</a:t>
            </a:r>
            <a:endParaRPr sz="18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tructure-heading"/>
          <p:cNvSpPr>
            <a:spLocks noGrp="1"/>
          </p:cNvSpPr>
          <p:nvPr/>
        </p:nvSpPr>
        <p:spPr>
          <a:xfrm>
            <a:off x="609600" y="411480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分子结构数据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tructure-body"/>
          <p:cNvSpPr>
            <a:spLocks noGrp="1"/>
          </p:cNvSpPr>
          <p:nvPr/>
        </p:nvSpPr>
        <p:spPr>
          <a:xfrm>
            <a:off x="609600" y="44481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原子种类、原子数量和三维坐标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roperties-heading"/>
          <p:cNvSpPr>
            <a:spLocks noGrp="1"/>
          </p:cNvSpPr>
          <p:nvPr/>
        </p:nvSpPr>
        <p:spPr>
          <a:xfrm>
            <a:off x="609600" y="4867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量子化学性质（15 项主要数值性质）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properties-body-one"/>
          <p:cNvSpPr>
            <a:spLocks noGrp="1"/>
          </p:cNvSpPr>
          <p:nvPr/>
        </p:nvSpPr>
        <p:spPr>
          <a:xfrm>
            <a:off x="609600" y="52006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旋转常数、偶极矩、极化率、HOMO/LUMO 轨道能量、能隙、电子空间展布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properties-body-two"/>
          <p:cNvSpPr>
            <a:spLocks noGrp="1"/>
          </p:cNvSpPr>
          <p:nvPr/>
        </p:nvSpPr>
        <p:spPr>
          <a:xfrm>
            <a:off x="609600" y="5514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内能、焓、自由能、热容等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ther-heading"/>
          <p:cNvSpPr>
            <a:spLocks noGrp="1"/>
          </p:cNvSpPr>
          <p:nvPr/>
        </p:nvSpPr>
        <p:spPr>
          <a:xfrm>
            <a:off x="609600" y="59340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其他分子信息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ther-body"/>
          <p:cNvSpPr>
            <a:spLocks noGrp="1"/>
          </p:cNvSpPr>
          <p:nvPr/>
        </p:nvSpPr>
        <p:spPr>
          <a:xfrm>
            <a:off x="609600" y="62674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Mulliken 原子部分电荷、分子振动频率、SMILES 和 InChI 分子标识符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686" y="347472"/>
            <a:ext cx="10789920" cy="368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0">
                <a:solidFill>
                  <a:srgbClr val="141414"/>
                </a:solidFill>
                <a:latin typeface="微软雅黑" panose="020B0503020204020204" charset="-122"/>
              </a:defRPr>
            </a:pPr>
            <a:r>
              <a:rPr sz="2400"/>
              <a:t>QM9 数据集中的 .xyz 文件格式</a:t>
            </a:r>
            <a:endParaRPr sz="2400"/>
          </a:p>
        </p:txBody>
      </p:sp>
      <p:pic>
        <p:nvPicPr>
          <p:cNvPr id="3" name="Picture 2" descr="image(20261019-093037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686" y="978408"/>
            <a:ext cx="10899648" cy="26781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423" y="3822065"/>
            <a:ext cx="885190" cy="32194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520" b="1">
                <a:solidFill>
                  <a:srgbClr val="141414"/>
                </a:solidFill>
                <a:latin typeface="微软雅黑" panose="020B0503020204020204" charset="-122"/>
              </a:defRPr>
            </a:pPr>
            <a:r>
              <a:rPr sz="1600"/>
              <a:t>第1行：</a:t>
            </a:r>
            <a:endParaRPr sz="1600"/>
          </a:p>
        </p:txBody>
      </p:sp>
      <p:sp>
        <p:nvSpPr>
          <p:cNvPr id="5" name="TextBox 4"/>
          <p:cNvSpPr txBox="1"/>
          <p:nvPr/>
        </p:nvSpPr>
        <p:spPr>
          <a:xfrm>
            <a:off x="1804988" y="3823461"/>
            <a:ext cx="955548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20" b="0">
                <a:solidFill>
                  <a:srgbClr val="141414"/>
                </a:solidFill>
                <a:latin typeface="微软雅黑" panose="020B0503020204020204" charset="-122"/>
              </a:defRPr>
            </a:pPr>
            <a:r>
              <a:rPr sz="1600"/>
              <a:t>5 表示这个分子共有 5 个原子（1 个 C、4 个 H）。</a:t>
            </a:r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713423" y="4297680"/>
            <a:ext cx="924560" cy="3454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520" b="1">
                <a:solidFill>
                  <a:srgbClr val="141414"/>
                </a:solidFill>
                <a:latin typeface="微软雅黑" panose="020B0503020204020204" charset="-122"/>
              </a:defRPr>
            </a:pPr>
            <a:r>
              <a:rPr sz="1600"/>
              <a:t>第2行：</a:t>
            </a:r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1893253" y="4297680"/>
            <a:ext cx="9555480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20" b="0">
                <a:solidFill>
                  <a:srgbClr val="141414"/>
                </a:solidFill>
                <a:latin typeface="微软雅黑" panose="020B0503020204020204" charset="-122"/>
              </a:defRPr>
            </a:pPr>
            <a:r>
              <a:rPr sz="1600"/>
              <a:t>gdb 1 是分子标识；后面 15 个数是量子化学性质，如转动常数、偶极矩、HOMO/LUMO、</a:t>
            </a:r>
            <a:r>
              <a:rPr lang="zh-CN" sz="1600"/>
              <a:t>能隙、电子空间展布相关指标、零点振动能、</a:t>
            </a:r>
            <a:r>
              <a:rPr lang="en-US" altLang="zh-CN" sz="1600"/>
              <a:t>0K</a:t>
            </a:r>
            <a:r>
              <a:rPr lang="zh-CN" altLang="en-US" sz="1600"/>
              <a:t>内能、</a:t>
            </a:r>
            <a:r>
              <a:rPr lang="en-US" altLang="zh-CN" sz="1600"/>
              <a:t>298.15K</a:t>
            </a:r>
            <a:r>
              <a:rPr lang="zh-CN" altLang="en-US" sz="1600"/>
              <a:t>内能、</a:t>
            </a:r>
            <a:r>
              <a:rPr lang="en-US" altLang="zh-CN" sz="1600"/>
              <a:t>298.15K</a:t>
            </a:r>
            <a:r>
              <a:rPr lang="zh-CN" altLang="en-US" sz="1600"/>
              <a:t>焓、</a:t>
            </a:r>
            <a:r>
              <a:rPr lang="en-US" altLang="zh-CN" sz="1600"/>
              <a:t>298.15k</a:t>
            </a:r>
            <a:r>
              <a:rPr lang="zh-CN" altLang="en-US" sz="1600"/>
              <a:t>吉布斯自由能、定容热容</a:t>
            </a:r>
            <a:endParaRPr lang="zh-CN" altLang="en-US" sz="1600"/>
          </a:p>
        </p:txBody>
      </p:sp>
      <p:sp>
        <p:nvSpPr>
          <p:cNvPr id="8" name="TextBox 7"/>
          <p:cNvSpPr txBox="1"/>
          <p:nvPr/>
        </p:nvSpPr>
        <p:spPr>
          <a:xfrm>
            <a:off x="658813" y="4796790"/>
            <a:ext cx="951230" cy="3143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520" b="1">
                <a:solidFill>
                  <a:srgbClr val="141414"/>
                </a:solidFill>
                <a:latin typeface="微软雅黑" panose="020B0503020204020204" charset="-122"/>
              </a:defRPr>
            </a:pPr>
            <a:r>
              <a:rPr sz="1600"/>
              <a:t>第3～7行</a:t>
            </a:r>
            <a:r>
              <a:t>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6278" y="4883150"/>
            <a:ext cx="9555480" cy="36893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520" b="0">
                <a:solidFill>
                  <a:srgbClr val="141414"/>
                </a:solidFill>
                <a:latin typeface="微软雅黑" panose="020B0503020204020204" charset="-122"/>
              </a:defRPr>
            </a:pPr>
            <a:r>
              <a:rPr sz="1600"/>
              <a:t>每行对应一个原子，依次为元素符号、x/y/z 三维坐标（Å）和 Mulliken 部分电荷</a:t>
            </a:r>
            <a: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830" y="5431282"/>
            <a:ext cx="1225296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20" b="1">
                <a:solidFill>
                  <a:srgbClr val="141414"/>
                </a:solidFill>
                <a:latin typeface="微软雅黑" panose="020B0503020204020204" charset="-122"/>
              </a:defRPr>
            </a:pPr>
            <a:r>
              <a:rPr sz="1600"/>
              <a:t>第8行：</a:t>
            </a:r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1893253" y="5345557"/>
            <a:ext cx="955548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20" b="0">
                <a:solidFill>
                  <a:srgbClr val="141414"/>
                </a:solidFill>
                <a:latin typeface="微软雅黑" panose="020B0503020204020204" charset="-122"/>
              </a:defRPr>
            </a:pPr>
            <a:r>
              <a:rPr sz="1600"/>
              <a:t>9 个数分别是甲烷的振动频率（cm⁻¹）。</a:t>
            </a:r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713550" y="5843016"/>
            <a:ext cx="1225296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20" b="1">
                <a:solidFill>
                  <a:srgbClr val="141414"/>
                </a:solidFill>
                <a:latin typeface="微软雅黑" panose="020B0503020204020204" charset="-122"/>
              </a:defRPr>
            </a:pPr>
            <a:r>
              <a:rPr sz="1600"/>
              <a:t>第9行</a:t>
            </a:r>
            <a:r>
              <a:t>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6278" y="5843016"/>
            <a:ext cx="955548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20" b="0">
                <a:solidFill>
                  <a:srgbClr val="141414"/>
                </a:solidFill>
                <a:latin typeface="微软雅黑" panose="020B0503020204020204" charset="-122"/>
              </a:defRPr>
            </a:pPr>
            <a:r>
              <a:rPr sz="1600"/>
              <a:t>两个 C 是两种 SMILES 表示，均表示甲烷。</a:t>
            </a:r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713550" y="6208776"/>
            <a:ext cx="1225296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20" b="1">
                <a:solidFill>
                  <a:srgbClr val="141414"/>
                </a:solidFill>
                <a:latin typeface="微软雅黑" panose="020B0503020204020204" charset="-122"/>
              </a:defRPr>
            </a:pPr>
            <a:r>
              <a:rPr sz="1600"/>
              <a:t>第10行</a:t>
            </a:r>
            <a:r>
              <a:t>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6278" y="6208776"/>
            <a:ext cx="955548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20" b="0">
                <a:solidFill>
                  <a:srgbClr val="141414"/>
                </a:solidFill>
                <a:latin typeface="微软雅黑" panose="020B0503020204020204" charset="-122"/>
              </a:defRPr>
            </a:pPr>
            <a:r>
              <a:rPr sz="1600"/>
              <a:t>两个 InChI 字符串是分子的标准化化学标识</a:t>
            </a:r>
            <a:r>
              <a:rPr lang="zh-CN" sz="1600">
                <a:ea typeface="宋体" panose="02010600030101010101" pitchFamily="2" charset="-122"/>
              </a:rPr>
              <a:t>（量子</a:t>
            </a:r>
            <a:r>
              <a:rPr lang="zh-CN" sz="1600">
                <a:ea typeface="宋体" panose="02010600030101010101" pitchFamily="2" charset="-122"/>
              </a:rPr>
              <a:t>化学优化</a:t>
            </a:r>
            <a:r>
              <a:rPr lang="zh-CN" sz="1600">
                <a:ea typeface="宋体" panose="02010600030101010101" pitchFamily="2" charset="-122"/>
              </a:rPr>
              <a:t>前后）</a:t>
            </a:r>
            <a:r>
              <a:rPr sz="1600"/>
              <a:t>。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09600" y="257175"/>
            <a:ext cx="1097280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MD17 数据集</a:t>
            </a:r>
            <a:endParaRPr sz="31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introduction-one"/>
          <p:cNvSpPr>
            <a:spLocks noGrp="1"/>
          </p:cNvSpPr>
          <p:nvPr/>
        </p:nvSpPr>
        <p:spPr>
          <a:xfrm>
            <a:off x="609600" y="10572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MD17 是面向分子动力学与机器学习势能面研究的数据集，</a:t>
            </a:r>
            <a:endParaRPr sz="19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introduction-two"/>
          <p:cNvSpPr>
            <a:spLocks noGrp="1"/>
          </p:cNvSpPr>
          <p:nvPr/>
        </p:nvSpPr>
        <p:spPr>
          <a:xfrm>
            <a:off x="609600" y="142875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 Chmiela 等于 2017 年提出，记录不同构象的坐标、能量和原子受力。</a:t>
            </a:r>
            <a:endParaRPr sz="19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label-0"/>
          <p:cNvSpPr>
            <a:spLocks noGrp="1"/>
          </p:cNvSpPr>
          <p:nvPr/>
        </p:nvSpPr>
        <p:spPr>
          <a:xfrm>
            <a:off x="609600" y="209550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发布时间：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value-0"/>
          <p:cNvSpPr>
            <a:spLocks noGrp="1"/>
          </p:cNvSpPr>
          <p:nvPr/>
        </p:nvSpPr>
        <p:spPr>
          <a:xfrm>
            <a:off x="2009775" y="2095500"/>
            <a:ext cx="9572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 年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label-1"/>
          <p:cNvSpPr>
            <a:spLocks noGrp="1"/>
          </p:cNvSpPr>
          <p:nvPr/>
        </p:nvSpPr>
        <p:spPr>
          <a:xfrm>
            <a:off x="609600" y="241935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分子种类：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value-1"/>
          <p:cNvSpPr>
            <a:spLocks noGrp="1"/>
          </p:cNvSpPr>
          <p:nvPr/>
        </p:nvSpPr>
        <p:spPr>
          <a:xfrm>
            <a:off x="2009775" y="2419350"/>
            <a:ext cx="9572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常用扩展版含 10 种有机分子（2017 年初版含 8 种）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label-2"/>
          <p:cNvSpPr>
            <a:spLocks noGrp="1"/>
          </p:cNvSpPr>
          <p:nvPr/>
        </p:nvSpPr>
        <p:spPr>
          <a:xfrm>
            <a:off x="609600" y="274320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value-2"/>
          <p:cNvSpPr>
            <a:spLocks noGrp="1"/>
          </p:cNvSpPr>
          <p:nvPr/>
        </p:nvSpPr>
        <p:spPr>
          <a:xfrm>
            <a:off x="2009775" y="2743200"/>
            <a:ext cx="9572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从头算分子动力学（AIMD）轨迹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label-3"/>
          <p:cNvSpPr>
            <a:spLocks noGrp="1"/>
          </p:cNvSpPr>
          <p:nvPr/>
        </p:nvSpPr>
        <p:spPr>
          <a:xfrm>
            <a:off x="609600" y="306705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主要数据：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value-3"/>
          <p:cNvSpPr>
            <a:spLocks noGrp="1"/>
          </p:cNvSpPr>
          <p:nvPr/>
        </p:nvSpPr>
        <p:spPr>
          <a:xfrm>
            <a:off x="2009775" y="3067050"/>
            <a:ext cx="9572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原子序数 z、三维坐标 R、总能量 E、原子受力 F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label-4"/>
          <p:cNvSpPr>
            <a:spLocks noGrp="1"/>
          </p:cNvSpPr>
          <p:nvPr/>
        </p:nvSpPr>
        <p:spPr>
          <a:xfrm>
            <a:off x="609600" y="339090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文件格式：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value-4"/>
          <p:cNvSpPr>
            <a:spLocks noGrp="1"/>
          </p:cNvSpPr>
          <p:nvPr/>
        </p:nvSpPr>
        <p:spPr>
          <a:xfrm>
            <a:off x="2009775" y="3390900"/>
            <a:ext cx="9572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npz</a:t>
            </a:r>
            <a:r>
              <a:rPr lang="zh-CN"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xyz</a:t>
            </a:r>
            <a:endParaRPr lang="en-US" altLang="zh-CN"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label-5"/>
          <p:cNvSpPr>
            <a:spLocks noGrp="1"/>
          </p:cNvSpPr>
          <p:nvPr/>
        </p:nvSpPr>
        <p:spPr>
          <a:xfrm>
            <a:off x="609600" y="371475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典型任务：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value-5"/>
          <p:cNvSpPr>
            <a:spLocks noGrp="1"/>
          </p:cNvSpPr>
          <p:nvPr/>
        </p:nvSpPr>
        <p:spPr>
          <a:xfrm>
            <a:off x="2009775" y="3714750"/>
            <a:ext cx="95726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能量预测、原子受力预测、机器学习势能面建模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molecule-heading"/>
          <p:cNvSpPr>
            <a:spLocks noGrp="1"/>
          </p:cNvSpPr>
          <p:nvPr/>
        </p:nvSpPr>
        <p:spPr>
          <a:xfrm>
            <a:off x="609600" y="4210050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包含分子</a:t>
            </a:r>
            <a:endParaRPr sz="18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molecules-0"/>
          <p:cNvSpPr>
            <a:spLocks noGrp="1"/>
          </p:cNvSpPr>
          <p:nvPr/>
        </p:nvSpPr>
        <p:spPr>
          <a:xfrm>
            <a:off x="609600" y="459105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阿司匹林（Aspirin）、苯（Benzene）、乙醇（Ethanol）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molecules-1"/>
          <p:cNvSpPr>
            <a:spLocks noGrp="1"/>
          </p:cNvSpPr>
          <p:nvPr/>
        </p:nvSpPr>
        <p:spPr>
          <a:xfrm>
            <a:off x="609600" y="48863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丙二醛（Malonaldehyde）、萘（Naphthalene）、水杨酸（Salicylic acid）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molecules-2"/>
          <p:cNvSpPr>
            <a:spLocks noGrp="1"/>
          </p:cNvSpPr>
          <p:nvPr/>
        </p:nvSpPr>
        <p:spPr>
          <a:xfrm>
            <a:off x="609600" y="51816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甲苯（Toluene）、尿嘧啶（Uracil）、对乙酰氨基酚（Paracetamol）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molecules-3"/>
          <p:cNvSpPr>
            <a:spLocks noGrp="1"/>
          </p:cNvSpPr>
          <p:nvPr/>
        </p:nvSpPr>
        <p:spPr>
          <a:xfrm>
            <a:off x="609600" y="54768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偶氮苯（Azobenzene）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data-granularity-one"/>
          <p:cNvSpPr>
            <a:spLocks noGrp="1"/>
          </p:cNvSpPr>
          <p:nvPr/>
        </p:nvSpPr>
        <p:spPr>
          <a:xfrm>
            <a:off x="609600" y="61722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每种分子包含大量不同构象，每个构象对应一条带能量与原子受力标签的数据。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457200" y="200025"/>
            <a:ext cx="112776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8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8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MD17 数据集中 aspirin 的 .xyz 文件格式</a:t>
            </a:r>
            <a:endParaRPr sz="28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842" b="59227"/>
          <a:stretch>
            <a:fillRect/>
          </a:stretch>
        </p:blipFill>
        <p:spPr>
          <a:xfrm>
            <a:off x="457200" y="914400"/>
            <a:ext cx="11277600" cy="2609850"/>
          </a:xfrm>
          <a:prstGeom prst="rect">
            <a:avLst/>
          </a:prstGeom>
        </p:spPr>
      </p:pic>
      <p:sp>
        <p:nvSpPr>
          <p:cNvPr id="3" name="excerpt-continuation"/>
          <p:cNvSpPr>
            <a:spLocks noGrp="1"/>
          </p:cNvSpPr>
          <p:nvPr/>
        </p:nvSpPr>
        <p:spPr>
          <a:xfrm>
            <a:off x="504825" y="3543300"/>
            <a:ext cx="111823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……（其余原子行格式相同，共 21 个原子行）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line-one-label"/>
          <p:cNvSpPr>
            <a:spLocks noGrp="1"/>
          </p:cNvSpPr>
          <p:nvPr/>
        </p:nvSpPr>
        <p:spPr>
          <a:xfrm>
            <a:off x="457200" y="3981450"/>
            <a:ext cx="12382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第1行：</a:t>
            </a:r>
            <a:endParaRPr sz="18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line-one-meaning"/>
          <p:cNvSpPr>
            <a:spLocks noGrp="1"/>
          </p:cNvSpPr>
          <p:nvPr/>
        </p:nvSpPr>
        <p:spPr>
          <a:xfrm>
            <a:off x="1752600" y="3981450"/>
            <a:ext cx="99822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 表示这个构型共有 21 个原子（9 个 C、8 个 H、4 个 O）。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ine-two-label"/>
          <p:cNvSpPr>
            <a:spLocks noGrp="1"/>
          </p:cNvSpPr>
          <p:nvPr/>
        </p:nvSpPr>
        <p:spPr>
          <a:xfrm>
            <a:off x="457200" y="4457700"/>
            <a:ext cx="12382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第2行：</a:t>
            </a:r>
            <a:endParaRPr sz="18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line-two-meaning"/>
          <p:cNvSpPr>
            <a:spLocks noGrp="1"/>
          </p:cNvSpPr>
          <p:nvPr/>
        </p:nvSpPr>
        <p:spPr>
          <a:xfrm>
            <a:off x="1752600" y="4457700"/>
            <a:ext cx="99822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-406757.5912640221 为该构型的分子总能量（kcal/mol）。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line-two-comment"/>
          <p:cNvSpPr>
            <a:spLocks noGrp="1"/>
          </p:cNvSpPr>
          <p:nvPr/>
        </p:nvSpPr>
        <p:spPr>
          <a:xfrm>
            <a:off x="1752600" y="4829175"/>
            <a:ext cx="99822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该数值记录在 XYZ 文件的注释行。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tom-lines-label"/>
          <p:cNvSpPr>
            <a:spLocks noGrp="1"/>
          </p:cNvSpPr>
          <p:nvPr/>
        </p:nvSpPr>
        <p:spPr>
          <a:xfrm>
            <a:off x="457200" y="5276850"/>
            <a:ext cx="15049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第3～23行：</a:t>
            </a:r>
            <a:endParaRPr sz="18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tom-lines-meaning"/>
          <p:cNvSpPr>
            <a:spLocks noGrp="1"/>
          </p:cNvSpPr>
          <p:nvPr/>
        </p:nvSpPr>
        <p:spPr>
          <a:xfrm>
            <a:off x="2019300" y="5276850"/>
            <a:ext cx="97155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每行对应一个原子，依次为元素符号、x/y/z 三维坐标（Å）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tom-lines-force"/>
          <p:cNvSpPr>
            <a:spLocks noGrp="1"/>
          </p:cNvSpPr>
          <p:nvPr/>
        </p:nvSpPr>
        <p:spPr>
          <a:xfrm>
            <a:off x="2019300" y="5657850"/>
            <a:ext cx="97155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Fx/Fy/Fz 受力分量（kcal/mol/Å）。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lide-title"/>
          <p:cNvSpPr>
            <a:spLocks noGrp="1"/>
          </p:cNvSpPr>
          <p:nvPr/>
        </p:nvSpPr>
        <p:spPr>
          <a:xfrm>
            <a:off x="914400" y="457200"/>
            <a:ext cx="103632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3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电子密度计算软件与主要方法</a:t>
            </a:r>
            <a:endParaRPr sz="3300" b="1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14400" y="1341120"/>
          <a:ext cx="10363200" cy="5431790"/>
        </p:xfrm>
        <a:graphic>
          <a:graphicData uri="http://schemas.openxmlformats.org/drawingml/2006/table">
            <a:tbl>
              <a:tblPr/>
              <a:tblGrid>
                <a:gridCol w="2571750"/>
                <a:gridCol w="7791450"/>
              </a:tblGrid>
              <a:tr h="656590"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软件</a:t>
                      </a:r>
                      <a:endParaRPr sz="2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66700" marR="228600" marT="133350" marB="133350" anchor="ctr">
                    <a:lnL w="9525">
                      <a:solidFill>
                        <a:srgbClr val="CFD9E2"/>
                      </a:solidFill>
                      <a:prstDash val="solid"/>
                    </a:lnL>
                    <a:lnR w="9525">
                      <a:solidFill>
                        <a:srgbClr val="CFD9E2"/>
                      </a:solidFill>
                      <a:prstDash val="solid"/>
                    </a:lnR>
                    <a:lnT w="9525">
                      <a:solidFill>
                        <a:srgbClr val="CFD9E2"/>
                      </a:solidFill>
                      <a:prstDash val="solid"/>
                    </a:lnT>
                    <a:lnB w="9525">
                      <a:solidFill>
                        <a:srgbClr val="CFD9E2"/>
                      </a:solidFill>
                      <a:prstDash val="solid"/>
                    </a:lnB>
                    <a:solidFill>
                      <a:srgbClr val="2365AD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主要计算方法</a:t>
                      </a:r>
                      <a:endParaRPr sz="2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66700" marR="228600" marT="133350" marB="133350" anchor="ctr">
                    <a:lnR w="9525">
                      <a:solidFill>
                        <a:srgbClr val="CFD9E2"/>
                      </a:solidFill>
                      <a:prstDash val="solid"/>
                    </a:lnR>
                    <a:lnT w="9525">
                      <a:solidFill>
                        <a:srgbClr val="CFD9E2"/>
                      </a:solidFill>
                      <a:prstDash val="solid"/>
                    </a:lnT>
                    <a:lnB w="9525">
                      <a:solidFill>
                        <a:srgbClr val="CFD9E2"/>
                      </a:solidFill>
                      <a:prstDash val="solid"/>
                    </a:lnB>
                    <a:solidFill>
                      <a:srgbClr val="2365AD"/>
                    </a:solidFill>
                  </a:tcPr>
                </a:tc>
              </a:tr>
              <a:tr h="795655"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Q-Chem</a:t>
                      </a:r>
                      <a:endParaRPr sz="2175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66700" marR="228600" marT="133350" marB="133350" anchor="ctr">
                    <a:lnL w="9525">
                      <a:solidFill>
                        <a:srgbClr val="CFD9E2"/>
                      </a:solidFill>
                      <a:prstDash val="solid"/>
                    </a:lnL>
                    <a:lnR w="9525">
                      <a:solidFill>
                        <a:srgbClr val="CFD9E2"/>
                      </a:solidFill>
                      <a:prstDash val="solid"/>
                    </a:lnR>
                    <a:lnB w="9525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DFT、HF、电子相关方法等</a:t>
                      </a:r>
                      <a:endParaRPr sz="2175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66700" marR="228600" marT="133350" marB="133350" anchor="ctr">
                    <a:lnR w="9525">
                      <a:solidFill>
                        <a:srgbClr val="CFD9E2"/>
                      </a:solidFill>
                      <a:prstDash val="solid"/>
                    </a:lnR>
                    <a:lnB w="9525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</a:tr>
              <a:tr h="796290"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ORCA</a:t>
                      </a:r>
                      <a:endParaRPr sz="2175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66700" marR="228600" marT="133350" marB="133350" anchor="ctr">
                    <a:lnL w="9525">
                      <a:solidFill>
                        <a:srgbClr val="CFD9E2"/>
                      </a:solidFill>
                      <a:prstDash val="solid"/>
                    </a:lnL>
                    <a:lnR w="9525">
                      <a:solidFill>
                        <a:srgbClr val="CFD9E2"/>
                      </a:solidFill>
                      <a:prstDash val="solid"/>
                    </a:lnR>
                    <a:lnB w="9525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DFT、HF、多参考及其他波函数方法</a:t>
                      </a:r>
                      <a:endParaRPr sz="2175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66700" marR="228600" marT="133350" marB="133350" anchor="ctr">
                    <a:lnR w="9525">
                      <a:solidFill>
                        <a:srgbClr val="CFD9E2"/>
                      </a:solidFill>
                      <a:prstDash val="solid"/>
                    </a:lnR>
                    <a:lnB w="9525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5655"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Psi4</a:t>
                      </a:r>
                      <a:endParaRPr sz="2175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66700" marR="228600" marT="133350" marB="133350" anchor="ctr">
                    <a:lnL w="9525">
                      <a:solidFill>
                        <a:srgbClr val="CFD9E2"/>
                      </a:solidFill>
                      <a:prstDash val="solid"/>
                    </a:lnL>
                    <a:lnR w="9525">
                      <a:solidFill>
                        <a:srgbClr val="CFD9E2"/>
                      </a:solidFill>
                      <a:prstDash val="solid"/>
                    </a:lnR>
                    <a:lnB w="9525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DFT、HF、电子相关方法等</a:t>
                      </a:r>
                      <a:endParaRPr sz="2175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66700" marR="228600" marT="133350" marB="133350" anchor="ctr">
                    <a:lnR w="9525">
                      <a:solidFill>
                        <a:srgbClr val="CFD9E2"/>
                      </a:solidFill>
                      <a:prstDash val="solid"/>
                    </a:lnR>
                    <a:lnB w="9525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</a:tr>
              <a:tr h="796290"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xTB</a:t>
                      </a:r>
                      <a:endParaRPr sz="2175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66700" marR="228600" marT="133350" marB="133350" anchor="ctr">
                    <a:lnL w="9525">
                      <a:solidFill>
                        <a:srgbClr val="CFD9E2"/>
                      </a:solidFill>
                      <a:prstDash val="solid"/>
                    </a:lnL>
                    <a:lnR w="9525">
                      <a:solidFill>
                        <a:srgbClr val="CFD9E2"/>
                      </a:solidFill>
                      <a:prstDash val="solid"/>
                    </a:lnR>
                    <a:lnB w="9525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GFN-xTB 等半经验紧束缚方法</a:t>
                      </a:r>
                      <a:endParaRPr sz="2175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66700" marR="228600" marT="133350" marB="133350" anchor="ctr">
                    <a:lnR w="9525">
                      <a:solidFill>
                        <a:srgbClr val="CFD9E2"/>
                      </a:solidFill>
                      <a:prstDash val="solid"/>
                    </a:lnR>
                    <a:lnB w="9525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5655"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Gaussian</a:t>
                      </a:r>
                      <a:endParaRPr sz="2175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66700" marR="228600" marT="133350" marB="133350" anchor="ctr">
                    <a:lnL w="9525">
                      <a:solidFill>
                        <a:srgbClr val="CFD9E2"/>
                      </a:solidFill>
                      <a:prstDash val="solid"/>
                    </a:lnL>
                    <a:lnR w="9525">
                      <a:solidFill>
                        <a:srgbClr val="CFD9E2"/>
                      </a:solidFill>
                      <a:prstDash val="solid"/>
                    </a:lnR>
                    <a:lnB w="9525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DFT、HF、电子相关方法等</a:t>
                      </a:r>
                      <a:endParaRPr sz="2175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66700" marR="228600" marT="133350" marB="133350" anchor="ctr">
                    <a:lnR w="9525">
                      <a:solidFill>
                        <a:srgbClr val="CFD9E2"/>
                      </a:solidFill>
                      <a:prstDash val="solid"/>
                    </a:lnR>
                    <a:lnB w="9525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</a:tr>
              <a:tr h="79565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175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PySCF</a:t>
                      </a:r>
                      <a:endParaRPr lang="en-US" altLang="zh-CN" sz="2175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66700" marR="228600" marT="133350" marB="133350" anchor="ctr">
                    <a:lnL w="9525">
                      <a:solidFill>
                        <a:srgbClr val="CFD9E2"/>
                      </a:solidFill>
                      <a:prstDash val="solid"/>
                    </a:lnL>
                    <a:lnR w="9525">
                      <a:solidFill>
                        <a:srgbClr val="CFD9E2"/>
                      </a:solidFill>
                      <a:prstDash val="solid"/>
                    </a:lnR>
                    <a:lnB w="9525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175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DFT</a:t>
                      </a:r>
                      <a:endParaRPr lang="en-US" altLang="zh-CN" sz="2175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66700" marR="228600" marT="133350" marB="133350" anchor="ctr">
                    <a:lnR w="9525">
                      <a:solidFill>
                        <a:srgbClr val="CFD9E2"/>
                      </a:solidFill>
                      <a:prstDash val="solid"/>
                    </a:lnR>
                    <a:lnB w="9525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slide-title"/>
          <p:cNvSpPr>
            <a:spLocks noGrp="1"/>
          </p:cNvSpPr>
          <p:nvPr/>
        </p:nvSpPr>
        <p:spPr>
          <a:xfrm>
            <a:off x="609600" y="371475"/>
            <a:ext cx="10096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45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45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DFT 的计算过程</a:t>
            </a:r>
            <a:endParaRPr sz="3450" b="1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input"/>
          <p:cNvSpPr>
            <a:spLocks noGrp="1"/>
          </p:cNvSpPr>
          <p:nvPr/>
        </p:nvSpPr>
        <p:spPr>
          <a:xfrm>
            <a:off x="609600" y="19050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0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输入：原子种类与坐标 · 总电荷 · 自旋</a:t>
            </a:r>
            <a:endParaRPr sz="1800" b="0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tep-1"/>
          <p:cNvSpPr>
            <a:spLocks noGrp="1"/>
          </p:cNvSpPr>
          <p:nvPr/>
        </p:nvSpPr>
        <p:spPr>
          <a:xfrm>
            <a:off x="609600" y="2609850"/>
            <a:ext cx="2343150" cy="990600"/>
          </a:xfrm>
          <a:prstGeom prst="rect">
            <a:avLst/>
          </a:prstGeom>
          <a:solidFill>
            <a:srgbClr val="EDF4FB"/>
          </a:solidFill>
          <a:ln w="13335">
            <a:solidFill>
              <a:srgbClr val="2365AD"/>
            </a:solidFill>
            <a:prstDash val="solid"/>
          </a:ln>
        </p:spPr>
      </p:sp>
      <p:sp>
        <p:nvSpPr>
          <p:cNvPr id="8" name="step-1-title"/>
          <p:cNvSpPr>
            <a:spLocks noGrp="1"/>
          </p:cNvSpPr>
          <p:nvPr/>
        </p:nvSpPr>
        <p:spPr>
          <a:xfrm>
            <a:off x="771525" y="2752725"/>
            <a:ext cx="204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猜测电子密度</a:t>
            </a:r>
            <a:endParaRPr sz="1800" b="1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tep-1-detail"/>
          <p:cNvSpPr>
            <a:spLocks noGrp="1"/>
          </p:cNvSpPr>
          <p:nvPr/>
        </p:nvSpPr>
        <p:spPr>
          <a:xfrm>
            <a:off x="581025" y="3213100"/>
            <a:ext cx="2047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500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SAD</a:t>
            </a:r>
            <a:r>
              <a:rPr sz="1500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叠加原子密度作为初值</a:t>
            </a:r>
            <a:endParaRPr sz="1500" b="0">
              <a:solidFill>
                <a:srgbClr val="5365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tep-2"/>
          <p:cNvSpPr>
            <a:spLocks noGrp="1"/>
          </p:cNvSpPr>
          <p:nvPr/>
        </p:nvSpPr>
        <p:spPr>
          <a:xfrm>
            <a:off x="3486150" y="2609850"/>
            <a:ext cx="2343150" cy="990600"/>
          </a:xfrm>
          <a:prstGeom prst="rect">
            <a:avLst/>
          </a:prstGeom>
          <a:solidFill>
            <a:srgbClr val="EDF4FB"/>
          </a:solidFill>
          <a:ln w="13335">
            <a:solidFill>
              <a:srgbClr val="2365AD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1" name="step-2-title"/>
          <p:cNvSpPr>
            <a:spLocks noGrp="1"/>
          </p:cNvSpPr>
          <p:nvPr/>
        </p:nvSpPr>
        <p:spPr>
          <a:xfrm>
            <a:off x="3648075" y="2752725"/>
            <a:ext cx="204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构造</a:t>
            </a:r>
            <a:r>
              <a:rPr lang="en-US"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KS</a:t>
            </a:r>
            <a:r>
              <a:rPr lang="zh-CN" altLang="en-US"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方程</a:t>
            </a:r>
            <a:endParaRPr lang="zh-CN" altLang="en-US" sz="1800" b="1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tep-2-detail"/>
          <p:cNvSpPr>
            <a:spLocks noGrp="1"/>
          </p:cNvSpPr>
          <p:nvPr/>
        </p:nvSpPr>
        <p:spPr>
          <a:xfrm>
            <a:off x="3648075" y="3190875"/>
            <a:ext cx="2047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600" b="0">
                <a:solidFill>
                  <a:srgbClr val="536578"/>
                </a:solidFill>
                <a:cs typeface="微软雅黑" panose="020B0503020204020204" charset="-122"/>
              </a:rPr>
              <a:t>FC=SCℇ</a:t>
            </a:r>
            <a:endParaRPr lang="en-US" altLang="zh-CN" sz="1600" b="0">
              <a:solidFill>
                <a:srgbClr val="536578"/>
              </a:solidFill>
              <a:cs typeface="微软雅黑" panose="020B0503020204020204" charset="-122"/>
            </a:endParaRPr>
          </a:p>
        </p:txBody>
      </p:sp>
      <p:sp>
        <p:nvSpPr>
          <p:cNvPr id="13" name="step-3"/>
          <p:cNvSpPr>
            <a:spLocks noGrp="1"/>
          </p:cNvSpPr>
          <p:nvPr/>
        </p:nvSpPr>
        <p:spPr>
          <a:xfrm>
            <a:off x="6362700" y="2609850"/>
            <a:ext cx="2343150" cy="990600"/>
          </a:xfrm>
          <a:prstGeom prst="rect">
            <a:avLst/>
          </a:prstGeom>
          <a:solidFill>
            <a:srgbClr val="EDF4FB"/>
          </a:solidFill>
          <a:ln w="13335">
            <a:solidFill>
              <a:srgbClr val="2365AD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4" name="step-3-title"/>
          <p:cNvSpPr>
            <a:spLocks noGrp="1"/>
          </p:cNvSpPr>
          <p:nvPr/>
        </p:nvSpPr>
        <p:spPr>
          <a:xfrm>
            <a:off x="6524625" y="2752725"/>
            <a:ext cx="204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求解 KS 轨道</a:t>
            </a:r>
            <a:endParaRPr sz="1800" b="1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tep-4"/>
          <p:cNvSpPr>
            <a:spLocks noGrp="1"/>
          </p:cNvSpPr>
          <p:nvPr/>
        </p:nvSpPr>
        <p:spPr>
          <a:xfrm>
            <a:off x="9239250" y="2609850"/>
            <a:ext cx="2343150" cy="990600"/>
          </a:xfrm>
          <a:prstGeom prst="rect">
            <a:avLst/>
          </a:prstGeom>
          <a:solidFill>
            <a:srgbClr val="EDF4FB"/>
          </a:solidFill>
          <a:ln w="13335">
            <a:solidFill>
              <a:srgbClr val="2365AD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" name="step-4-title"/>
          <p:cNvSpPr>
            <a:spLocks noGrp="1"/>
          </p:cNvSpPr>
          <p:nvPr/>
        </p:nvSpPr>
        <p:spPr>
          <a:xfrm>
            <a:off x="9401175" y="2752725"/>
            <a:ext cx="204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更新电子密度</a:t>
            </a:r>
            <a:endParaRPr sz="1800" b="1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forward-arrow-0"/>
          <p:cNvSpPr>
            <a:spLocks noGrp="1"/>
          </p:cNvSpPr>
          <p:nvPr/>
        </p:nvSpPr>
        <p:spPr>
          <a:xfrm>
            <a:off x="3076575" y="3038475"/>
            <a:ext cx="285750" cy="133350"/>
          </a:xfrm>
          <a:prstGeom prst="rightArrow">
            <a:avLst/>
          </a:prstGeom>
          <a:solidFill>
            <a:srgbClr val="2365AD"/>
          </a:solidFill>
          <a:ln w="0">
            <a:noFill/>
            <a:prstDash val="solid"/>
          </a:ln>
        </p:spPr>
      </p:sp>
      <p:sp>
        <p:nvSpPr>
          <p:cNvPr id="20" name="forward-arrow-1"/>
          <p:cNvSpPr>
            <a:spLocks noGrp="1"/>
          </p:cNvSpPr>
          <p:nvPr/>
        </p:nvSpPr>
        <p:spPr>
          <a:xfrm>
            <a:off x="5953125" y="3038475"/>
            <a:ext cx="285750" cy="133350"/>
          </a:xfrm>
          <a:prstGeom prst="rightArrow">
            <a:avLst/>
          </a:prstGeom>
          <a:solidFill>
            <a:srgbClr val="2365AD"/>
          </a:solidFill>
          <a:ln w="0">
            <a:noFill/>
            <a:prstDash val="solid"/>
          </a:ln>
        </p:spPr>
      </p:sp>
      <p:sp>
        <p:nvSpPr>
          <p:cNvPr id="21" name="forward-arrow-2"/>
          <p:cNvSpPr>
            <a:spLocks noGrp="1"/>
          </p:cNvSpPr>
          <p:nvPr/>
        </p:nvSpPr>
        <p:spPr>
          <a:xfrm>
            <a:off x="8829675" y="3038475"/>
            <a:ext cx="285750" cy="133350"/>
          </a:xfrm>
          <a:prstGeom prst="rightArrow">
            <a:avLst/>
          </a:prstGeom>
          <a:solidFill>
            <a:srgbClr val="2365AD"/>
          </a:solidFill>
          <a:ln w="0">
            <a:noFill/>
            <a:prstDash val="solid"/>
          </a:ln>
        </p:spPr>
      </p:sp>
      <p:sp>
        <p:nvSpPr>
          <p:cNvPr id="22" name="self-consistency-return"/>
          <p:cNvSpPr>
            <a:spLocks noGrp="1"/>
          </p:cNvSpPr>
          <p:nvPr/>
        </p:nvSpPr>
        <p:spPr>
          <a:xfrm>
            <a:off x="4657725" y="3600450"/>
            <a:ext cx="5753100" cy="438150"/>
          </a:xfrm>
          <a:custGeom>
            <a:avLst/>
            <a:gdLst/>
            <a:ahLst/>
            <a:cxnLst/>
            <a:pathLst>
              <a:path w="5753100" h="438150">
                <a:moveTo>
                  <a:pt x="5753100" y="0"/>
                </a:moveTo>
                <a:lnTo>
                  <a:pt x="5753100" y="438150"/>
                </a:lnTo>
                <a:lnTo>
                  <a:pt x="0" y="438150"/>
                </a:lnTo>
                <a:lnTo>
                  <a:pt x="0" y="66675"/>
                </a:lnTo>
              </a:path>
            </a:pathLst>
          </a:custGeom>
          <a:noFill/>
          <a:ln w="19050">
            <a:solidFill>
              <a:srgbClr val="2365AD"/>
            </a:solidFill>
            <a:prstDash val="solid"/>
          </a:ln>
        </p:spPr>
      </p:sp>
      <p:sp>
        <p:nvSpPr>
          <p:cNvPr id="23" name="return-arrowhead"/>
          <p:cNvSpPr>
            <a:spLocks noGrp="1"/>
          </p:cNvSpPr>
          <p:nvPr/>
        </p:nvSpPr>
        <p:spPr>
          <a:xfrm>
            <a:off x="4600575" y="3600450"/>
            <a:ext cx="114300" cy="114300"/>
          </a:xfrm>
          <a:prstGeom prst="triangle">
            <a:avLst/>
          </a:prstGeom>
          <a:solidFill>
            <a:srgbClr val="2365AD"/>
          </a:solidFill>
          <a:ln w="0">
            <a:noFill/>
            <a:prstDash val="solid"/>
          </a:ln>
        </p:spPr>
      </p:sp>
      <p:sp>
        <p:nvSpPr>
          <p:cNvPr id="24" name="return-label-background"/>
          <p:cNvSpPr>
            <a:spLocks noGrp="1"/>
          </p:cNvSpPr>
          <p:nvPr/>
        </p:nvSpPr>
        <p:spPr>
          <a:xfrm>
            <a:off x="5057775" y="3876675"/>
            <a:ext cx="4933950" cy="3238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5" name="return-label"/>
          <p:cNvSpPr>
            <a:spLocks noGrp="1"/>
          </p:cNvSpPr>
          <p:nvPr/>
        </p:nvSpPr>
        <p:spPr>
          <a:xfrm>
            <a:off x="5057775" y="3876675"/>
            <a:ext cx="493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23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0">
                <a:solidFill>
                  <a:srgbClr val="23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365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未收敛：混合新旧密度，继续 SCF 迭代</a:t>
            </a:r>
            <a:endParaRPr sz="1600" b="0">
              <a:solidFill>
                <a:srgbClr val="2365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converged-output-title"/>
          <p:cNvSpPr>
            <a:spLocks noGrp="1"/>
          </p:cNvSpPr>
          <p:nvPr/>
        </p:nvSpPr>
        <p:spPr>
          <a:xfrm>
            <a:off x="407035" y="4149090"/>
            <a:ext cx="20002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dist">
              <a:lnSpc>
                <a:spcPct val="110000"/>
              </a:lnSpc>
              <a:def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r>
              <a:rPr lang="zh-CN" sz="16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为电子密度，总能量，</a:t>
            </a:r>
            <a:r>
              <a:rPr lang="zh-CN" sz="16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分子轨道</a:t>
            </a:r>
            <a:endParaRPr lang="zh-CN" sz="1600" b="1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converged-output"/>
          <p:cNvSpPr>
            <a:spLocks noGrp="1"/>
          </p:cNvSpPr>
          <p:nvPr/>
        </p:nvSpPr>
        <p:spPr>
          <a:xfrm>
            <a:off x="628650" y="4810125"/>
            <a:ext cx="2841625" cy="17379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800" b="0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F:Kohn-Sham</a:t>
            </a:r>
            <a:r>
              <a:rPr lang="zh-CN" altLang="en-US" sz="1800" b="0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矩阵，</a:t>
            </a:r>
            <a:endParaRPr lang="zh-CN" altLang="en-US" sz="1800" b="0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00" b="0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800" b="0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C:</a:t>
            </a:r>
            <a:r>
              <a:rPr lang="zh-CN" altLang="en-US" sz="1800" b="0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分子轨道系数矩阵，</a:t>
            </a:r>
            <a:endParaRPr lang="zh-CN" altLang="en-US" sz="1800" b="0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00" b="0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800" b="0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S:</a:t>
            </a:r>
            <a:r>
              <a:rPr lang="zh-CN" altLang="en-US" sz="1800" b="0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基函数之间的重叠</a:t>
            </a:r>
            <a:r>
              <a:rPr lang="zh-CN" altLang="en-US" sz="1800" b="0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</a:t>
            </a:r>
            <a:endParaRPr lang="zh-CN" altLang="en-US" sz="1800" b="0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00" b="0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0">
                <a:solidFill>
                  <a:srgbClr val="142B43"/>
                </a:solidFill>
                <a:cs typeface="微软雅黑" panose="020B0503020204020204" charset="-122"/>
              </a:rPr>
              <a:t>ℇ：分子轨道</a:t>
            </a:r>
            <a:r>
              <a:rPr lang="zh-CN" altLang="en-US" sz="1800" b="0">
                <a:solidFill>
                  <a:srgbClr val="142B43"/>
                </a:solidFill>
                <a:cs typeface="微软雅黑" panose="020B0503020204020204" charset="-122"/>
              </a:rPr>
              <a:t>能量</a:t>
            </a:r>
            <a:endParaRPr lang="zh-CN" altLang="en-US" sz="1800" b="0">
              <a:solidFill>
                <a:srgbClr val="142B43"/>
              </a:solidFill>
              <a:cs typeface="微软雅黑" panose="020B0503020204020204" charset="-122"/>
            </a:endParaRPr>
          </a:p>
        </p:txBody>
      </p:sp>
      <p:sp>
        <p:nvSpPr>
          <p:cNvPr id="31" name="density-equation"/>
          <p:cNvSpPr>
            <a:spLocks noGrp="1"/>
          </p:cNvSpPr>
          <p:nvPr/>
        </p:nvSpPr>
        <p:spPr>
          <a:xfrm>
            <a:off x="7967980" y="5248275"/>
            <a:ext cx="3333750" cy="5518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>
                <a:solidFill>
                  <a:srgbClr val="2365AD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defPPr>
          </a:lstStyle>
          <a:p>
            <a:pPr algn="l">
              <a:defRPr sz="2325" b="0">
                <a:solidFill>
                  <a:srgbClr val="2365AD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2325" b="0">
                <a:solidFill>
                  <a:schemeClr val="tx1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ρ(r) = Σᵢ fᵢ |ψᵢ(r)|²</a:t>
            </a:r>
            <a:endParaRPr sz="2325" b="0">
              <a:solidFill>
                <a:schemeClr val="tx1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429115" y="3141345"/>
            <a:ext cx="2023110" cy="361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比较新旧电子密度</a:t>
            </a:r>
            <a:endParaRPr lang="zh-CN" altLang="en-US" sz="1400"/>
          </a:p>
        </p:txBody>
      </p:sp>
      <p:sp>
        <p:nvSpPr>
          <p:cNvPr id="40" name="文本框 39"/>
          <p:cNvSpPr txBox="1"/>
          <p:nvPr/>
        </p:nvSpPr>
        <p:spPr>
          <a:xfrm>
            <a:off x="6271260" y="3126740"/>
            <a:ext cx="2372995" cy="41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解出</a:t>
            </a:r>
            <a:r>
              <a:rPr lang="en-US" altLang="zh-CN" sz="1400"/>
              <a:t>C</a:t>
            </a:r>
            <a:r>
              <a:rPr lang="zh-CN" altLang="en-US" sz="1400"/>
              <a:t>和</a:t>
            </a:r>
            <a:r>
              <a:rPr lang="en-US" altLang="zh-CN" sz="1600">
                <a:solidFill>
                  <a:srgbClr val="536578"/>
                </a:solidFill>
                <a:cs typeface="微软雅黑" panose="020B0503020204020204" charset="-122"/>
                <a:sym typeface="+mn-ea"/>
              </a:rPr>
              <a:t>ℇ</a:t>
            </a:r>
            <a:r>
              <a:rPr lang="zh-CN" altLang="en-US" sz="1400"/>
              <a:t>得到新的电子密度</a:t>
            </a:r>
            <a:endParaRPr lang="zh-CN" altLang="en-US" sz="1400"/>
          </a:p>
        </p:txBody>
      </p:sp>
      <p:sp>
        <p:nvSpPr>
          <p:cNvPr id="41" name="文本框 40"/>
          <p:cNvSpPr txBox="1"/>
          <p:nvPr/>
        </p:nvSpPr>
        <p:spPr>
          <a:xfrm>
            <a:off x="4657725" y="18605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先选择交换关联泛函和</a:t>
            </a:r>
            <a:r>
              <a:rPr lang="zh-CN" altLang="en-US"/>
              <a:t>基组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/>
              <p:cNvSpPr txBox="1"/>
              <p:nvPr/>
            </p:nvSpPr>
            <p:spPr>
              <a:xfrm>
                <a:off x="3719195" y="5013325"/>
                <a:ext cx="4064000" cy="1184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endParaRPr lang="zh-CN" altLang="en-US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𝛹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𝑟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𝜇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𝜇</m:t>
                              </m:r>
                            </m:sub>
                          </m:sSub>
                        </m:e>
                      </m:nary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𝑟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  <a:p>
                <a:endParaRPr lang="zh-CN" altLang="en-US"/>
              </a:p>
            </p:txBody>
          </p:sp>
        </mc:Choice>
        <mc:Fallback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195" y="5013325"/>
                <a:ext cx="4064000" cy="118427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本框 44"/>
          <p:cNvSpPr txBox="1"/>
          <p:nvPr/>
        </p:nvSpPr>
        <p:spPr>
          <a:xfrm>
            <a:off x="3719195" y="46196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分子轨道由基函数的线性组合表示</a:t>
            </a:r>
            <a:r>
              <a:rPr lang="en-US" altLang="zh-CN">
                <a:sym typeface="+mn-ea"/>
              </a:rPr>
              <a:t>:</a:t>
            </a:r>
            <a:endParaRPr lang="en-US" altLang="zh-CN"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752080" y="4540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电子密度由分子轨道</a:t>
            </a:r>
            <a:r>
              <a:rPr lang="zh-CN" altLang="en-US"/>
              <a:t>计算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/>
              <p:cNvSpPr txBox="1"/>
              <p:nvPr/>
            </p:nvSpPr>
            <p:spPr>
              <a:xfrm>
                <a:off x="3647440" y="6362700"/>
                <a:ext cx="4064000" cy="381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𝜇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ea typeface="MS Mincho" charset="0"/>
                    <a:cs typeface="Cambria Math" panose="02040503050406030204" charset="0"/>
                  </a:rPr>
                  <a:t>是基函数，由选择的基组</a:t>
                </a:r>
                <a:r>
                  <a:rPr lang="zh-CN" altLang="en-US">
                    <a:latin typeface="Cambria Math" panose="02040503050406030204" charset="0"/>
                    <a:ea typeface="MS Mincho" charset="0"/>
                    <a:cs typeface="Cambria Math" panose="02040503050406030204" charset="0"/>
                  </a:rPr>
                  <a:t>决定</a:t>
                </a:r>
                <a:endParaRPr lang="zh-CN" altLang="en-US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440" y="6362700"/>
                <a:ext cx="4064000" cy="3810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本框 47"/>
          <p:cNvSpPr txBox="1"/>
          <p:nvPr/>
        </p:nvSpPr>
        <p:spPr>
          <a:xfrm>
            <a:off x="7823835" y="570230"/>
            <a:ext cx="4064000" cy="1554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泛函：决定如何近似处理电子的交换关联效应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基组：决定用哪些数学函数来表示分子轨道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551180" y="332740"/>
                <a:ext cx="4064000" cy="33559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b="1"/>
                  <a:t>Kohn-Sham</a:t>
                </a:r>
                <a:r>
                  <a:rPr lang="zh-CN" altLang="en-US" b="1"/>
                  <a:t>矩阵</a:t>
                </a:r>
                <a:r>
                  <a:rPr lang="zh-CN" altLang="en-US"/>
                  <a:t>：</a:t>
                </a:r>
                <a:endParaRPr lang="zh-CN" altLang="en-US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𝐹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𝑇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𝑛𝑒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𝐽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𝑥𝑐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T: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动能矩阵</a:t>
                </a:r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描述电子的动能贡献，由基函数的空间变化计算得到</a:t>
                </a:r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𝑛𝑒</m:t>
                        </m:r>
                      </m:sub>
                    </m:sSub>
                  </m:oMath>
                </a14:m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: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核吸引矩阵</a:t>
                </a:r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描述电子受到的氧、氢原子和吸引的贡献</a:t>
                </a:r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J: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库伦矩阵</a:t>
                </a:r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𝑥𝑐</m:t>
                        </m:r>
                      </m:sub>
                    </m:sSub>
                  </m:oMath>
                </a14:m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: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交换关联矩阵</a:t>
                </a:r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0" y="332740"/>
                <a:ext cx="4064000" cy="335597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6350635" y="633095"/>
                <a:ext cx="5499100" cy="489521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𝜇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limLoc m:val="subSup"/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𝜇</m:t>
                              </m:r>
                            </m:sub>
                          </m:sSub>
                        </m:e>
                      </m:nary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𝑟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)(−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𝜈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𝑑𝑟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𝜇𝜈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𝑛𝑒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</m:sub>
                          </m:sSub>
                        </m:e>
                      </m:nary>
                      <m:nary>
                        <m:naryPr>
                          <m:limLoc m:val="subSup"/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𝜈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|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|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𝑟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𝜇𝜈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𝜆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𝛿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𝜆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𝛿</m:t>
                              </m:r>
                            </m:sub>
                          </m:sSub>
                        </m:e>
                      </m:nary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𝜇𝜈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|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𝜆𝛿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𝜇𝜈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|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𝜆𝛿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)=</m:t>
                      </m:r>
                      <m:nary>
                        <m:naryPr>
                          <m:limLoc m:val="subSup"/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limLoc m:val="subSup"/>
                              <m:subHide m:val="on"/>
                              <m:supHide m:val="on"/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naryPr>
                            <m:sub/>
                            <m:sup/>
                            <m:e/>
                          </m:nary>
                        </m:e>
                      </m:nary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𝜇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𝑛𝑢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𝜆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𝛿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|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𝑑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𝑑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𝜌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]=</m:t>
                      </m:r>
                      <m:nary>
                        <m:naryPr>
                          <m:limLoc m:val="subSup"/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𝜌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𝛿𝜌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))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𝑑𝑟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（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𝑃𝐸𝐵</m:t>
                          </m:r>
                          <m:r>
                            <a:rPr lang="zh-CN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泛函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）</m:t>
                          </m:r>
                        </m:e>
                      </m:nary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𝑥𝑐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𝜇𝜈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𝑥𝑐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𝜇𝜈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635" y="633095"/>
                <a:ext cx="5499100" cy="489521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51180" y="3933190"/>
                <a:ext cx="4742815" cy="166306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 b="1"/>
                  <a:t>基函数重叠矩阵：</a:t>
                </a:r>
                <a:r>
                  <a:rPr lang="en-US" altLang="zh-CN" b="1"/>
                  <a:t>S</a:t>
                </a:r>
                <a:endParaRPr lang="en-US" altLang="zh-CN"/>
              </a:p>
              <a:p>
                <a:endParaRPr lang="en-US" altLang="zh-CN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𝜇𝜈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limLoc m:val="subSup"/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𝜇</m:t>
                              </m:r>
                            </m:sub>
                          </m:sSub>
                        </m:e>
                      </m:nary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𝑟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𝜈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𝑑𝑟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0" y="3933190"/>
                <a:ext cx="4742815" cy="16630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551180" y="5729605"/>
            <a:ext cx="4064000" cy="984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-title"/>
          <p:cNvSpPr>
            <a:spLocks noGrp="1"/>
          </p:cNvSpPr>
          <p:nvPr/>
        </p:nvSpPr>
        <p:spPr>
          <a:xfrm>
            <a:off x="609600" y="3619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33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PySCF 计算后的电子结构信息</a:t>
            </a:r>
            <a:endParaRPr sz="3300" b="1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609600" y="1438275"/>
          <a:ext cx="10972800" cy="4724400"/>
        </p:xfrm>
        <a:graphic>
          <a:graphicData uri="http://schemas.openxmlformats.org/drawingml/2006/table">
            <a:tbl>
              <a:tblPr/>
              <a:tblGrid>
                <a:gridCol w="2286000"/>
                <a:gridCol w="3048000"/>
                <a:gridCol w="5638800"/>
              </a:tblGrid>
              <a:tr h="6096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电子结构信息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T w="8096">
                      <a:solidFill>
                        <a:srgbClr val="CFD9E2"/>
                      </a:solidFill>
                      <a:prstDash val="solid"/>
                    </a:lnT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2365AD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PySCF 获取方式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T w="8096">
                      <a:solidFill>
                        <a:srgbClr val="CFD9E2"/>
                      </a:solidFill>
                      <a:prstDash val="solid"/>
                    </a:lnT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2365AD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物理意义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T w="8096">
                      <a:solidFill>
                        <a:srgbClr val="CFD9E2"/>
                      </a:solidFill>
                      <a:prstDash val="solid"/>
                    </a:lnT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2365AD"/>
                    </a:solidFill>
                  </a:tcPr>
                </a:tc>
              </a:tr>
              <a:tr h="6858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总能量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mf.e_tot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分子的电子结构总能量（包含核间排斥能）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</a:tr>
              <a:tr h="6858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分子轨道能量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mf.mo_energy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各个分子轨道的能量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分子轨道系数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mf.mo_coeff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分子轨道在基函数上的展开系数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</a:tr>
              <a:tr h="6858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分子轨道占据数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mf.mo_occ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各个分子轨道的电子占据情况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电子密度矩阵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mf.make_rdm1()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用于计算电子密度的矩阵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</a:tr>
              <a:tr h="6858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基函数信息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mol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基组、原子坐标、原子种类等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-title"/>
          <p:cNvSpPr>
            <a:spLocks noGrp="1"/>
          </p:cNvSpPr>
          <p:nvPr/>
        </p:nvSpPr>
        <p:spPr>
          <a:xfrm>
            <a:off x="609600" y="3619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33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常见基组</a:t>
            </a:r>
            <a:endParaRPr sz="3300" b="1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609600" y="1438275"/>
          <a:ext cx="10972800" cy="4724400"/>
        </p:xfrm>
        <a:graphic>
          <a:graphicData uri="http://schemas.openxmlformats.org/drawingml/2006/table">
            <a:tbl>
              <a:tblPr/>
              <a:tblGrid>
                <a:gridCol w="2095500"/>
                <a:gridCol w="4438650"/>
                <a:gridCol w="4438650"/>
              </a:tblGrid>
              <a:tr h="6096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基组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T w="8096">
                      <a:solidFill>
                        <a:srgbClr val="CFD9E2"/>
                      </a:solidFill>
                      <a:prstDash val="solid"/>
                    </a:lnT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2365AD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特点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T w="8096">
                      <a:solidFill>
                        <a:srgbClr val="CFD9E2"/>
                      </a:solidFill>
                      <a:prstDash val="solid"/>
                    </a:lnT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2365AD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常见用途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T w="8096">
                      <a:solidFill>
                        <a:srgbClr val="CFD9E2"/>
                      </a:solidFill>
                      <a:prstDash val="solid"/>
                    </a:lnT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2365AD"/>
                    </a:solidFill>
                  </a:tcPr>
                </a:tc>
              </a:tr>
              <a:tr h="82296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STO-3G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最小基组，计算较快但精度有限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入门演示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</a:tr>
              <a:tr h="82296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6-31G*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分裂价层基组，带极化函数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常见分子计算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def2-SVP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双ζ价层基组，含极化函数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常规计算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</a:tr>
              <a:tr h="82296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def2-TZVP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三ζ价层基组，描述能力更强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较高精度计算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cc-pVDZ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双ζ相关一致性基组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波函数方法及基组收敛研究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-title"/>
          <p:cNvSpPr>
            <a:spLocks noGrp="1"/>
          </p:cNvSpPr>
          <p:nvPr/>
        </p:nvSpPr>
        <p:spPr>
          <a:xfrm>
            <a:off x="609600" y="3619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33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常见交换关联泛函</a:t>
            </a:r>
            <a:endParaRPr sz="3300" b="1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609600" y="1438275"/>
          <a:ext cx="10972800" cy="4724400"/>
        </p:xfrm>
        <a:graphic>
          <a:graphicData uri="http://schemas.openxmlformats.org/drawingml/2006/table">
            <a:tbl>
              <a:tblPr/>
              <a:tblGrid>
                <a:gridCol w="2095500"/>
                <a:gridCol w="4438650"/>
                <a:gridCol w="4438650"/>
              </a:tblGrid>
              <a:tr h="6096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泛函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T w="8096">
                      <a:solidFill>
                        <a:srgbClr val="CFD9E2"/>
                      </a:solidFill>
                      <a:prstDash val="solid"/>
                    </a:lnT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2365AD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类型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T w="8096">
                      <a:solidFill>
                        <a:srgbClr val="CFD9E2"/>
                      </a:solidFill>
                      <a:prstDash val="solid"/>
                    </a:lnT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2365AD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特点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T w="8096">
                      <a:solidFill>
                        <a:srgbClr val="CFD9E2"/>
                      </a:solidFill>
                      <a:prstDash val="solid"/>
                    </a:lnT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2365AD"/>
                    </a:solidFill>
                  </a:tcPr>
                </a:tc>
              </a:tr>
              <a:tr h="6858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LDA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局域密度近似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模型较简单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</a:tr>
              <a:tr h="6858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PBE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GGA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常见的广义梯度近似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B3LYP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杂化泛函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分子计算中应用广泛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</a:tr>
              <a:tr h="6858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PBE0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杂化泛函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包含一定比例的精确交换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M06-2X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杂化元-GGA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常用于分子能量与反应研究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</a:tr>
              <a:tr h="685800"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ωB97X-D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长程校正杂化泛函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包含色散相关描述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slide-title"/>
          <p:cNvSpPr>
            <a:spLocks noGrp="1"/>
          </p:cNvSpPr>
          <p:nvPr/>
        </p:nvSpPr>
        <p:spPr>
          <a:xfrm>
            <a:off x="609600" y="371475"/>
            <a:ext cx="10096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45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45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xTB 的计算过程</a:t>
            </a:r>
            <a:endParaRPr sz="3450" b="1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0839450" y="466725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425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/ 2</a:t>
            </a:r>
            <a:endParaRPr sz="1425" b="0">
              <a:solidFill>
                <a:srgbClr val="5365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header-rule"/>
          <p:cNvSpPr>
            <a:spLocks noGrp="1"/>
          </p:cNvSpPr>
          <p:nvPr/>
        </p:nvSpPr>
        <p:spPr>
          <a:xfrm>
            <a:off x="609600" y="1524000"/>
            <a:ext cx="10972800" cy="0"/>
          </a:xfrm>
          <a:prstGeom prst="line">
            <a:avLst/>
          </a:prstGeom>
          <a:noFill/>
          <a:ln w="9525">
            <a:solidFill>
              <a:srgbClr val="CFD9E2"/>
            </a:solidFill>
            <a:prstDash val="solid"/>
          </a:ln>
        </p:spPr>
      </p:sp>
      <p:sp>
        <p:nvSpPr>
          <p:cNvPr id="5" name="input"/>
          <p:cNvSpPr>
            <a:spLocks noGrp="1"/>
          </p:cNvSpPr>
          <p:nvPr/>
        </p:nvSpPr>
        <p:spPr>
          <a:xfrm>
            <a:off x="628650" y="1704975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0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输入：原子种类与坐标 · 总电荷 · 自旋</a:t>
            </a:r>
            <a:endParaRPr sz="1725" b="0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tep-1"/>
          <p:cNvSpPr>
            <a:spLocks noGrp="1"/>
          </p:cNvSpPr>
          <p:nvPr/>
        </p:nvSpPr>
        <p:spPr>
          <a:xfrm>
            <a:off x="609600" y="2609850"/>
            <a:ext cx="2343150" cy="990600"/>
          </a:xfrm>
          <a:prstGeom prst="rect">
            <a:avLst/>
          </a:prstGeom>
          <a:solidFill>
            <a:srgbClr val="EAF6F4"/>
          </a:solidFill>
          <a:ln w="13335">
            <a:solidFill>
              <a:srgbClr val="007E83"/>
            </a:solidFill>
            <a:prstDash val="solid"/>
          </a:ln>
        </p:spPr>
      </p:sp>
      <p:sp>
        <p:nvSpPr>
          <p:cNvPr id="8" name="step-1-title"/>
          <p:cNvSpPr>
            <a:spLocks noGrp="1"/>
          </p:cNvSpPr>
          <p:nvPr/>
        </p:nvSpPr>
        <p:spPr>
          <a:xfrm>
            <a:off x="771525" y="2752725"/>
            <a:ext cx="204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初始化电子分布</a:t>
            </a:r>
            <a:endParaRPr sz="1800" b="1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tep-1-detail"/>
          <p:cNvSpPr>
            <a:spLocks noGrp="1"/>
          </p:cNvSpPr>
          <p:nvPr/>
        </p:nvSpPr>
        <p:spPr>
          <a:xfrm>
            <a:off x="771525" y="3190875"/>
            <a:ext cx="2047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电荷 q 与原子多极矩</a:t>
            </a:r>
            <a:endParaRPr sz="1500" b="0">
              <a:solidFill>
                <a:srgbClr val="5365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tep-2"/>
          <p:cNvSpPr>
            <a:spLocks noGrp="1"/>
          </p:cNvSpPr>
          <p:nvPr/>
        </p:nvSpPr>
        <p:spPr>
          <a:xfrm>
            <a:off x="3486150" y="2609850"/>
            <a:ext cx="2343150" cy="990600"/>
          </a:xfrm>
          <a:prstGeom prst="rect">
            <a:avLst/>
          </a:prstGeom>
          <a:solidFill>
            <a:srgbClr val="EAF6F4"/>
          </a:solidFill>
          <a:ln w="13335">
            <a:solidFill>
              <a:srgbClr val="007E83"/>
            </a:solidFill>
            <a:prstDash val="solid"/>
          </a:ln>
        </p:spPr>
      </p:sp>
      <p:sp>
        <p:nvSpPr>
          <p:cNvPr id="11" name="step-2-title"/>
          <p:cNvSpPr>
            <a:spLocks noGrp="1"/>
          </p:cNvSpPr>
          <p:nvPr/>
        </p:nvSpPr>
        <p:spPr>
          <a:xfrm>
            <a:off x="3648075" y="2752725"/>
            <a:ext cx="204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构造</a:t>
            </a:r>
            <a:r>
              <a:rPr lang="zh-CN"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广义本征</a:t>
            </a:r>
            <a:r>
              <a:rPr lang="zh-CN"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方程</a:t>
            </a:r>
            <a:endParaRPr lang="zh-CN" sz="1800" b="1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tep-2-detail"/>
          <p:cNvSpPr>
            <a:spLocks noGrp="1"/>
          </p:cNvSpPr>
          <p:nvPr/>
        </p:nvSpPr>
        <p:spPr>
          <a:xfrm>
            <a:off x="3648075" y="3190875"/>
            <a:ext cx="2047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00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500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HC=SC</a:t>
            </a:r>
            <a:r>
              <a:rPr lang="en-US" sz="1500" b="0">
                <a:solidFill>
                  <a:srgbClr val="536578"/>
                </a:solidFill>
                <a:cs typeface="微软雅黑" panose="020B0503020204020204" charset="-122"/>
              </a:rPr>
              <a:t>ℇ</a:t>
            </a:r>
            <a:endParaRPr lang="en-US" sz="1500" b="0">
              <a:solidFill>
                <a:srgbClr val="536578"/>
              </a:solidFill>
              <a:cs typeface="微软雅黑" panose="020B0503020204020204" charset="-122"/>
            </a:endParaRPr>
          </a:p>
        </p:txBody>
      </p:sp>
      <p:sp>
        <p:nvSpPr>
          <p:cNvPr id="13" name="step-3"/>
          <p:cNvSpPr>
            <a:spLocks noGrp="1"/>
          </p:cNvSpPr>
          <p:nvPr/>
        </p:nvSpPr>
        <p:spPr>
          <a:xfrm>
            <a:off x="6362700" y="2609850"/>
            <a:ext cx="2343150" cy="990600"/>
          </a:xfrm>
          <a:prstGeom prst="rect">
            <a:avLst/>
          </a:prstGeom>
          <a:solidFill>
            <a:srgbClr val="EAF6F4"/>
          </a:solidFill>
          <a:ln w="13335">
            <a:solidFill>
              <a:srgbClr val="007E83"/>
            </a:solidFill>
            <a:prstDash val="solid"/>
          </a:ln>
        </p:spPr>
      </p:sp>
      <p:sp>
        <p:nvSpPr>
          <p:cNvPr id="14" name="step-3-title"/>
          <p:cNvSpPr>
            <a:spLocks noGrp="1"/>
          </p:cNvSpPr>
          <p:nvPr/>
        </p:nvSpPr>
        <p:spPr>
          <a:xfrm>
            <a:off x="6524625" y="2752725"/>
            <a:ext cx="204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</a:t>
            </a:r>
            <a:r>
              <a:rPr lang="zh-CN"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求解得到</a:t>
            </a:r>
            <a:r>
              <a:rPr lang="en-US" altLang="zh-CN"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zh-CN" altLang="en-US" sz="1800" b="1">
                <a:solidFill>
                  <a:srgbClr val="142B43"/>
                </a:solidFill>
                <a:cs typeface="微软雅黑" panose="020B0503020204020204" charset="-122"/>
              </a:rPr>
              <a:t>ℇ</a:t>
            </a:r>
            <a:endParaRPr lang="zh-CN" altLang="en-US" sz="1800" b="1">
              <a:solidFill>
                <a:srgbClr val="142B43"/>
              </a:solidFill>
              <a:cs typeface="微软雅黑" panose="020B0503020204020204" charset="-122"/>
            </a:endParaRPr>
          </a:p>
        </p:txBody>
      </p:sp>
      <p:sp>
        <p:nvSpPr>
          <p:cNvPr id="15" name="step-3-detail"/>
          <p:cNvSpPr>
            <a:spLocks noGrp="1"/>
          </p:cNvSpPr>
          <p:nvPr/>
        </p:nvSpPr>
        <p:spPr>
          <a:xfrm>
            <a:off x="6524625" y="3190875"/>
            <a:ext cx="2047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轨道系数 C 与能量 ε</a:t>
            </a:r>
            <a:endParaRPr sz="1500" b="0">
              <a:solidFill>
                <a:srgbClr val="5365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tep-4"/>
          <p:cNvSpPr>
            <a:spLocks noGrp="1"/>
          </p:cNvSpPr>
          <p:nvPr/>
        </p:nvSpPr>
        <p:spPr>
          <a:xfrm>
            <a:off x="9239250" y="2609850"/>
            <a:ext cx="2343150" cy="990600"/>
          </a:xfrm>
          <a:prstGeom prst="rect">
            <a:avLst/>
          </a:prstGeom>
          <a:solidFill>
            <a:srgbClr val="EAF6F4"/>
          </a:solidFill>
          <a:ln w="13335">
            <a:solidFill>
              <a:srgbClr val="007E83"/>
            </a:solidFill>
            <a:prstDash val="solid"/>
          </a:ln>
        </p:spPr>
      </p:sp>
      <p:sp>
        <p:nvSpPr>
          <p:cNvPr id="17" name="step-4-title"/>
          <p:cNvSpPr>
            <a:spLocks noGrp="1"/>
          </p:cNvSpPr>
          <p:nvPr/>
        </p:nvSpPr>
        <p:spPr>
          <a:xfrm>
            <a:off x="9264015" y="2781300"/>
            <a:ext cx="204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</a:t>
            </a:r>
            <a:r>
              <a:rPr lang="zh-CN"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比较电子结果是否</a:t>
            </a:r>
            <a:r>
              <a:rPr lang="zh-CN" sz="18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收敛</a:t>
            </a:r>
            <a:endParaRPr lang="zh-CN" sz="1800" b="1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tep-4-detail"/>
          <p:cNvSpPr>
            <a:spLocks noGrp="1"/>
          </p:cNvSpPr>
          <p:nvPr/>
        </p:nvSpPr>
        <p:spPr>
          <a:xfrm>
            <a:off x="9401175" y="3190875"/>
            <a:ext cx="2047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密度矩阵 → 电荷等</a:t>
            </a:r>
            <a:endParaRPr sz="1500" b="0">
              <a:solidFill>
                <a:srgbClr val="5365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forward-arrow-0"/>
          <p:cNvSpPr>
            <a:spLocks noGrp="1"/>
          </p:cNvSpPr>
          <p:nvPr/>
        </p:nvSpPr>
        <p:spPr>
          <a:xfrm>
            <a:off x="3076575" y="3038475"/>
            <a:ext cx="285750" cy="133350"/>
          </a:xfrm>
          <a:prstGeom prst="rightArrow">
            <a:avLst/>
          </a:prstGeom>
          <a:solidFill>
            <a:srgbClr val="007E83"/>
          </a:solidFill>
          <a:ln w="0">
            <a:noFill/>
            <a:prstDash val="solid"/>
          </a:ln>
        </p:spPr>
      </p:sp>
      <p:sp>
        <p:nvSpPr>
          <p:cNvPr id="20" name="forward-arrow-1"/>
          <p:cNvSpPr>
            <a:spLocks noGrp="1"/>
          </p:cNvSpPr>
          <p:nvPr/>
        </p:nvSpPr>
        <p:spPr>
          <a:xfrm>
            <a:off x="5953125" y="3038475"/>
            <a:ext cx="285750" cy="133350"/>
          </a:xfrm>
          <a:prstGeom prst="rightArrow">
            <a:avLst/>
          </a:prstGeom>
          <a:solidFill>
            <a:srgbClr val="007E83"/>
          </a:solidFill>
          <a:ln w="0">
            <a:noFill/>
            <a:prstDash val="solid"/>
          </a:ln>
        </p:spPr>
      </p:sp>
      <p:sp>
        <p:nvSpPr>
          <p:cNvPr id="21" name="forward-arrow-2"/>
          <p:cNvSpPr>
            <a:spLocks noGrp="1"/>
          </p:cNvSpPr>
          <p:nvPr/>
        </p:nvSpPr>
        <p:spPr>
          <a:xfrm>
            <a:off x="8829675" y="3038475"/>
            <a:ext cx="285750" cy="133350"/>
          </a:xfrm>
          <a:prstGeom prst="rightArrow">
            <a:avLst/>
          </a:prstGeom>
          <a:solidFill>
            <a:srgbClr val="007E83"/>
          </a:solidFill>
          <a:ln w="0">
            <a:noFill/>
            <a:prstDash val="solid"/>
          </a:ln>
        </p:spPr>
      </p:sp>
      <p:sp>
        <p:nvSpPr>
          <p:cNvPr id="22" name="self-consistency-return"/>
          <p:cNvSpPr>
            <a:spLocks noGrp="1"/>
          </p:cNvSpPr>
          <p:nvPr/>
        </p:nvSpPr>
        <p:spPr>
          <a:xfrm>
            <a:off x="4657725" y="3600450"/>
            <a:ext cx="5753100" cy="438150"/>
          </a:xfrm>
          <a:custGeom>
            <a:avLst/>
            <a:gdLst/>
            <a:ahLst/>
            <a:cxnLst/>
            <a:pathLst>
              <a:path w="5753100" h="438150">
                <a:moveTo>
                  <a:pt x="5753100" y="0"/>
                </a:moveTo>
                <a:lnTo>
                  <a:pt x="5753100" y="438150"/>
                </a:lnTo>
                <a:lnTo>
                  <a:pt x="0" y="438150"/>
                </a:lnTo>
                <a:lnTo>
                  <a:pt x="0" y="66675"/>
                </a:lnTo>
              </a:path>
            </a:pathLst>
          </a:custGeom>
          <a:noFill/>
          <a:ln w="19050">
            <a:solidFill>
              <a:srgbClr val="007E83"/>
            </a:solidFill>
            <a:prstDash val="solid"/>
          </a:ln>
        </p:spPr>
      </p:sp>
      <p:sp>
        <p:nvSpPr>
          <p:cNvPr id="23" name="return-arrowhead"/>
          <p:cNvSpPr>
            <a:spLocks noGrp="1"/>
          </p:cNvSpPr>
          <p:nvPr/>
        </p:nvSpPr>
        <p:spPr>
          <a:xfrm>
            <a:off x="4600575" y="3600450"/>
            <a:ext cx="114300" cy="114300"/>
          </a:xfrm>
          <a:prstGeom prst="triangle">
            <a:avLst/>
          </a:prstGeom>
          <a:solidFill>
            <a:srgbClr val="007E83"/>
          </a:solidFill>
          <a:ln w="0">
            <a:noFill/>
            <a:prstDash val="solid"/>
          </a:ln>
        </p:spPr>
      </p:sp>
      <p:sp>
        <p:nvSpPr>
          <p:cNvPr id="24" name="return-label-background"/>
          <p:cNvSpPr>
            <a:spLocks noGrp="1"/>
          </p:cNvSpPr>
          <p:nvPr/>
        </p:nvSpPr>
        <p:spPr>
          <a:xfrm>
            <a:off x="5057775" y="3876675"/>
            <a:ext cx="4933950" cy="3238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5" name="return-label"/>
          <p:cNvSpPr>
            <a:spLocks noGrp="1"/>
          </p:cNvSpPr>
          <p:nvPr/>
        </p:nvSpPr>
        <p:spPr>
          <a:xfrm>
            <a:off x="5057775" y="3876675"/>
            <a:ext cx="493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007E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0">
                <a:solidFill>
                  <a:srgbClr val="007E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007E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未收敛：更新电荷与多极矩，继续迭代</a:t>
            </a:r>
            <a:endParaRPr sz="1575" b="0">
              <a:solidFill>
                <a:srgbClr val="007E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quation-divider"/>
          <p:cNvSpPr>
            <a:spLocks noGrp="1"/>
          </p:cNvSpPr>
          <p:nvPr/>
        </p:nvSpPr>
        <p:spPr>
          <a:xfrm>
            <a:off x="7953375" y="4429125"/>
            <a:ext cx="0" cy="1028700"/>
          </a:xfrm>
          <a:prstGeom prst="line">
            <a:avLst/>
          </a:prstGeom>
          <a:noFill/>
          <a:ln w="9525">
            <a:solidFill>
              <a:srgbClr val="CFD9E2"/>
            </a:solidFill>
            <a:prstDash val="solid"/>
          </a:ln>
        </p:spPr>
      </p:sp>
      <p:sp>
        <p:nvSpPr>
          <p:cNvPr id="30" name="equation-label"/>
          <p:cNvSpPr>
            <a:spLocks noGrp="1"/>
          </p:cNvSpPr>
          <p:nvPr/>
        </p:nvSpPr>
        <p:spPr>
          <a:xfrm>
            <a:off x="8267700" y="440055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75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广义本征值方程</a:t>
            </a:r>
            <a:endParaRPr sz="1575" b="0">
              <a:solidFill>
                <a:srgbClr val="5365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igenvalue-equation"/>
          <p:cNvSpPr>
            <a:spLocks noGrp="1"/>
          </p:cNvSpPr>
          <p:nvPr/>
        </p:nvSpPr>
        <p:spPr>
          <a:xfrm>
            <a:off x="8267700" y="4781550"/>
            <a:ext cx="333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75" b="0">
                <a:solidFill>
                  <a:srgbClr val="007E83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defPPr>
          </a:lstStyle>
          <a:p>
            <a:pPr algn="l">
              <a:defRPr sz="2775" b="0">
                <a:solidFill>
                  <a:srgbClr val="007E83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2775" b="0">
                <a:solidFill>
                  <a:srgbClr val="007E83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H C = S C ε</a:t>
            </a:r>
            <a:endParaRPr sz="2775" b="0">
              <a:solidFill>
                <a:srgbClr val="007E83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32" name="equation-legend"/>
          <p:cNvSpPr>
            <a:spLocks noGrp="1"/>
          </p:cNvSpPr>
          <p:nvPr/>
        </p:nvSpPr>
        <p:spPr>
          <a:xfrm>
            <a:off x="8267700" y="5286375"/>
            <a:ext cx="3333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S：重叠矩阵    C：轨道系数</a:t>
            </a:r>
            <a:endParaRPr sz="1425" b="0">
              <a:solidFill>
                <a:srgbClr val="5365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bottom-rule"/>
          <p:cNvSpPr>
            <a:spLocks noGrp="1"/>
          </p:cNvSpPr>
          <p:nvPr/>
        </p:nvSpPr>
        <p:spPr>
          <a:xfrm>
            <a:off x="609600" y="5734050"/>
            <a:ext cx="10972800" cy="0"/>
          </a:xfrm>
          <a:prstGeom prst="line">
            <a:avLst/>
          </a:prstGeom>
          <a:noFill/>
          <a:ln w="9525">
            <a:solidFill>
              <a:srgbClr val="CFD9E2"/>
            </a:solidFill>
            <a:prstDash val="solid"/>
          </a:ln>
        </p:spPr>
      </p:sp>
      <p:sp>
        <p:nvSpPr>
          <p:cNvPr id="39" name="文本框 38"/>
          <p:cNvSpPr txBox="1"/>
          <p:nvPr/>
        </p:nvSpPr>
        <p:spPr>
          <a:xfrm>
            <a:off x="695325" y="4820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输出：电子</a:t>
            </a:r>
            <a:r>
              <a:rPr lang="zh-CN" altLang="en-US"/>
              <a:t>结构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/>
              <p:cNvSpPr txBox="1"/>
              <p:nvPr/>
            </p:nvSpPr>
            <p:spPr>
              <a:xfrm>
                <a:off x="3143250" y="4467225"/>
                <a:ext cx="4064000" cy="101219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𝜇𝜈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≈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𝜇𝜇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𝜈𝜈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𝜇𝜈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𝜇𝜈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50" y="4467225"/>
                <a:ext cx="4064000" cy="101219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本框 40"/>
          <p:cNvSpPr txBox="1"/>
          <p:nvPr/>
        </p:nvSpPr>
        <p:spPr>
          <a:xfrm>
            <a:off x="622935" y="1021080"/>
            <a:ext cx="9993630" cy="433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xTB:</a:t>
            </a:r>
            <a:r>
              <a:rPr lang="zh-CN" altLang="en-US"/>
              <a:t> 是一类计算方法及其软件实现</a:t>
            </a:r>
            <a:r>
              <a:rPr lang="en-US" altLang="zh-CN"/>
              <a:t>,</a:t>
            </a:r>
            <a:r>
              <a:rPr lang="zh-CN" altLang="en-US"/>
              <a:t>有多种不同的计算方法如</a:t>
            </a:r>
            <a:r>
              <a:rPr lang="en-US" altLang="zh-CN"/>
              <a:t>GFN2-xTB</a:t>
            </a:r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-title"/>
          <p:cNvSpPr>
            <a:spLocks noGrp="1"/>
          </p:cNvSpPr>
          <p:nvPr/>
        </p:nvSpPr>
        <p:spPr>
          <a:xfrm>
            <a:off x="609600" y="3619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33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B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xTB 的计算方法与基组</a:t>
            </a:r>
            <a:endParaRPr sz="3300" b="1">
              <a:solidFill>
                <a:srgbClr val="142B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609600" y="1438275"/>
          <a:ext cx="10972800" cy="4724400"/>
        </p:xfrm>
        <a:graphic>
          <a:graphicData uri="http://schemas.openxmlformats.org/drawingml/2006/table">
            <a:tbl>
              <a:tblPr/>
              <a:tblGrid>
                <a:gridCol w="2095500"/>
                <a:gridCol w="4438650"/>
                <a:gridCol w="4438650"/>
              </a:tblGrid>
              <a:tr h="609600">
                <a:tc>
                  <a:txBody>
                    <a:bodyPr wrap="non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T w="8096">
                      <a:solidFill>
                        <a:srgbClr val="CFD9E2"/>
                      </a:solidFill>
                      <a:prstDash val="solid"/>
                    </a:lnT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2365AD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电子结构模型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T w="8096">
                      <a:solidFill>
                        <a:srgbClr val="CFD9E2"/>
                      </a:solidFill>
                      <a:prstDash val="solid"/>
                    </a:lnT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2365AD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内置基组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T w="8096">
                      <a:solidFill>
                        <a:srgbClr val="CFD9E2"/>
                      </a:solidFill>
                      <a:prstDash val="solid"/>
                    </a:lnT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2365AD"/>
                    </a:solidFill>
                  </a:tcPr>
                </a:tc>
              </a:tr>
              <a:tr h="1371600">
                <a:tc>
                  <a:txBody>
                    <a:bodyPr wrap="non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GFN0-xTB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非自洽紧束缚模型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 SCC 电荷迭代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方法内置的参数化基组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与模型参数配套使用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</a:tr>
              <a:tr h="1371600">
                <a:tc>
                  <a:txBody>
                    <a:bodyPr wrap="non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GFN1-xTB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自洽电荷紧束缚模型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以单极电荷描述静电作用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紧凑的价层基组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氢原子含 1s 和 2s 函数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 wrap="non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142B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GFN2-xTB</a:t>
                      </a:r>
                      <a:endParaRPr sz="1950" b="1">
                        <a:solidFill>
                          <a:srgbClr val="142B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L w="8096">
                      <a:solidFill>
                        <a:srgbClr val="CFD9E2"/>
                      </a:solidFill>
                      <a:prstDash val="solid"/>
                    </a:lnL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自洽多极矩紧束缚模型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考虑电荷、偶极与四极矩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最小价层基组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53C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H：1s，C：2s、2p</a:t>
                      </a:r>
                      <a:endParaRPr sz="1950" b="0">
                        <a:solidFill>
                          <a:srgbClr val="253C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71450" marT="114300" marB="114300" anchor="ctr">
                    <a:lnR w="8096">
                      <a:solidFill>
                        <a:srgbClr val="CFD9E2"/>
                      </a:solidFill>
                      <a:prstDash val="solid"/>
                    </a:lnR>
                    <a:lnB w="8096">
                      <a:solidFill>
                        <a:srgbClr val="CFD9E2"/>
                      </a:solidFill>
                      <a:prstDash val="solid"/>
                    </a:lnB>
                    <a:solidFill>
                      <a:srgbClr val="EDF4FB"/>
                    </a:solidFill>
                  </a:tcPr>
                </a:tc>
              </a:tr>
            </a:tbl>
          </a:graphicData>
        </a:graphic>
      </p:graphicFrame>
      <p:sp>
        <p:nvSpPr>
          <p:cNvPr id="3" name="scope-note"/>
          <p:cNvSpPr>
            <a:spLocks noGrp="1"/>
          </p:cNvSpPr>
          <p:nvPr/>
        </p:nvSpPr>
        <p:spPr>
          <a:xfrm>
            <a:off x="628650" y="6419850"/>
            <a:ext cx="10953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425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5365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 GFN 方法时一并确定基组和模型参数，通常无需另选常规基组或 DFT 泛函</a:t>
            </a:r>
            <a:endParaRPr sz="1425">
              <a:solidFill>
                <a:srgbClr val="5365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"/>
          <p:cNvSpPr>
            <a:spLocks noGrp="1"/>
          </p:cNvSpPr>
          <p:nvPr/>
        </p:nvSpPr>
        <p:spPr>
          <a:xfrm>
            <a:off x="609600" y="257175"/>
            <a:ext cx="109728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分子的三种表示方法</a:t>
            </a:r>
            <a:endParaRPr sz="3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introduction"/>
          <p:cNvSpPr>
            <a:spLocks noGrp="1"/>
          </p:cNvSpPr>
          <p:nvPr/>
        </p:nvSpPr>
        <p:spPr>
          <a:xfrm>
            <a:off x="609600" y="1057275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常见的分子表示包括 SMILES、二维结构和三维构象。</a:t>
            </a:r>
            <a:endParaRPr sz="20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ection-0"/>
          <p:cNvSpPr>
            <a:spLocks noGrp="1"/>
          </p:cNvSpPr>
          <p:nvPr/>
        </p:nvSpPr>
        <p:spPr>
          <a:xfrm>
            <a:off x="609600" y="1800225"/>
            <a:ext cx="26701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SMILES 字符串</a:t>
            </a:r>
            <a:endParaRPr sz="24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-0-0"/>
          <p:cNvSpPr>
            <a:spLocks noGrp="1"/>
          </p:cNvSpPr>
          <p:nvPr/>
        </p:nvSpPr>
        <p:spPr>
          <a:xfrm>
            <a:off x="609600" y="2276475"/>
            <a:ext cx="654621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用一串字符编码分子的原子、连接关系和化学键类型。</a:t>
            </a:r>
            <a:endParaRPr sz="20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0-1"/>
          <p:cNvSpPr>
            <a:spLocks noGrp="1"/>
          </p:cNvSpPr>
          <p:nvPr/>
        </p:nvSpPr>
        <p:spPr>
          <a:xfrm>
            <a:off x="609600" y="2647950"/>
            <a:ext cx="452310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也可通过附加符号标注立体化学信息。</a:t>
            </a:r>
            <a:endParaRPr sz="20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ection-1"/>
          <p:cNvSpPr>
            <a:spLocks noGrp="1"/>
          </p:cNvSpPr>
          <p:nvPr/>
        </p:nvSpPr>
        <p:spPr>
          <a:xfrm>
            <a:off x="609600" y="3305175"/>
            <a:ext cx="242951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二维分子结构</a:t>
            </a:r>
            <a:endParaRPr sz="24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ody-1-0"/>
          <p:cNvSpPr>
            <a:spLocks noGrp="1"/>
          </p:cNvSpPr>
          <p:nvPr/>
        </p:nvSpPr>
        <p:spPr>
          <a:xfrm>
            <a:off x="609600" y="3781425"/>
            <a:ext cx="579945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用平面结构式展示原子种类、原子之间的连接关系，</a:t>
            </a:r>
            <a:endParaRPr sz="20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body-1-1"/>
          <p:cNvSpPr>
            <a:spLocks noGrp="1"/>
          </p:cNvSpPr>
          <p:nvPr/>
        </p:nvSpPr>
        <p:spPr>
          <a:xfrm>
            <a:off x="609600" y="4152900"/>
            <a:ext cx="396684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以及单键、双键等化学键的类型。</a:t>
            </a:r>
            <a:endParaRPr sz="20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ection-2"/>
          <p:cNvSpPr>
            <a:spLocks noGrp="1"/>
          </p:cNvSpPr>
          <p:nvPr/>
        </p:nvSpPr>
        <p:spPr>
          <a:xfrm>
            <a:off x="609600" y="4810125"/>
            <a:ext cx="165227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三维构象</a:t>
            </a:r>
            <a:endParaRPr sz="24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ody-2-0"/>
          <p:cNvSpPr>
            <a:spLocks noGrp="1"/>
          </p:cNvSpPr>
          <p:nvPr/>
        </p:nvSpPr>
        <p:spPr>
          <a:xfrm>
            <a:off x="609600" y="5286375"/>
            <a:ext cx="57918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用三维坐标描述各原子在空间中的具体位置与排列</a:t>
            </a:r>
            <a:r>
              <a:rPr sz="2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20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body-2-1"/>
          <p:cNvSpPr>
            <a:spLocks noGrp="1"/>
          </p:cNvSpPr>
          <p:nvPr/>
        </p:nvSpPr>
        <p:spPr>
          <a:xfrm>
            <a:off x="609600" y="5657850"/>
            <a:ext cx="4883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并可结合键连接信息表示分子的空间结构。</a:t>
            </a:r>
            <a:endParaRPr sz="20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04380" y="1917065"/>
            <a:ext cx="4064000" cy="870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aspirin</a:t>
            </a:r>
            <a:r>
              <a:rPr lang="zh-CN" altLang="en-US" sz="2000"/>
              <a:t>的</a:t>
            </a:r>
            <a:r>
              <a:rPr lang="en-US" altLang="zh-CN" sz="2000"/>
              <a:t>smiles</a:t>
            </a:r>
            <a:r>
              <a:rPr lang="zh-CN" altLang="en-US" sz="2000"/>
              <a:t>序列为</a:t>
            </a:r>
            <a:r>
              <a:rPr lang="en-US" altLang="zh-CN" sz="2000"/>
              <a:t>:</a:t>
            </a:r>
            <a:endParaRPr lang="en-US" altLang="zh-CN" sz="2000"/>
          </a:p>
          <a:p>
            <a:r>
              <a:rPr lang="en-US" altLang="zh-CN" sz="1600"/>
              <a:t>CC(=O)Oc1ccccc1C(=O)O</a:t>
            </a:r>
            <a:endParaRPr lang="en-US" altLang="zh-CN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350" y="3780155"/>
            <a:ext cx="1315085" cy="110680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039610" y="2806700"/>
            <a:ext cx="5024755" cy="574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可以使用</a:t>
            </a:r>
            <a:r>
              <a:rPr lang="en-US" altLang="zh-CN"/>
              <a:t>RDKit</a:t>
            </a:r>
            <a:r>
              <a:rPr lang="zh-CN" altLang="en-US"/>
              <a:t>读取</a:t>
            </a:r>
            <a:r>
              <a:rPr lang="en-US" altLang="zh-CN"/>
              <a:t>SMILES，</a:t>
            </a:r>
            <a:r>
              <a:rPr lang="zh-CN" altLang="en-US"/>
              <a:t>构建分子图并绘制二维分子结构</a:t>
            </a:r>
            <a:endParaRPr lang="zh-CN" altLang="en-US"/>
          </a:p>
          <a:p>
            <a:r>
              <a:rPr lang="en-US" altLang="zh-CN"/>
              <a:t>mol = Chem.MolFromSmiles(smiles)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7155815" y="4038600"/>
            <a:ext cx="2435225" cy="429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aspirin</a:t>
            </a:r>
            <a:r>
              <a:rPr lang="zh-CN" altLang="en-US"/>
              <a:t>的二维分子</a:t>
            </a:r>
            <a:r>
              <a:rPr lang="zh-CN" altLang="en-US"/>
              <a:t>图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title"/>
          <p:cNvSpPr>
            <a:spLocks noGrp="1"/>
          </p:cNvSpPr>
          <p:nvPr/>
        </p:nvSpPr>
        <p:spPr>
          <a:xfrm>
            <a:off x="609600" y="257175"/>
            <a:ext cx="109728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SMILES 编码规则</a:t>
            </a:r>
            <a:endParaRPr sz="31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definition"/>
          <p:cNvSpPr>
            <a:spLocks noGrp="1"/>
          </p:cNvSpPr>
          <p:nvPr/>
        </p:nvSpPr>
        <p:spPr>
          <a:xfrm>
            <a:off x="609600" y="1057275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SMILES </a:t>
            </a:r>
            <a:r>
              <a:rPr lang="zh-CN"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字符串</a:t>
            </a:r>
            <a:r>
              <a:rPr sz="19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用一串字符表示分子的原子及其连接关系。</a:t>
            </a:r>
            <a:endParaRPr sz="19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ule-label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1743075"/>
            <a:ext cx="1809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原子与芳香性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-body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571750" y="1743075"/>
            <a:ext cx="90106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元素符号表示原子，如 C、N、Cl；芳香原子用小写 c、n。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ule-label-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600" y="2266950"/>
            <a:ext cx="1809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化学键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ule-body-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571750" y="2266950"/>
            <a:ext cx="90106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单键 -、双键 =、三键 #、芳香键 :；未标键符时按单键或芳香键解释。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ule-label-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9600" y="2790825"/>
            <a:ext cx="1809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分支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ule-body-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571750" y="2790825"/>
            <a:ext cx="90106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用圆括号 () 表示，分支连接括号前的原子，如 CC(O)C。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ule-label-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00" y="3314700"/>
            <a:ext cx="1809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环闭合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ule-body-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2571750" y="3314700"/>
            <a:ext cx="90106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成对数字标记闭环连接，如 C1CCCCC1；数字不表示环大小。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ule-label-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09600" y="3838575"/>
            <a:ext cx="1809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不连续组分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ule-body-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571750" y="3838575"/>
            <a:ext cx="90106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用点号 . 分隔不相连的组分，如 [Na+].[Cl-]。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ule-label-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09600" y="4362450"/>
            <a:ext cx="1809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方括号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ule-body-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571750" y="4362450"/>
            <a:ext cx="90106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方括号 [] 内可写电荷、同位素、氢数等，如 [NH4+]、[13CH4]。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spirin-heading"/>
          <p:cNvSpPr>
            <a:spLocks noGrp="1"/>
          </p:cNvSpPr>
          <p:nvPr/>
        </p:nvSpPr>
        <p:spPr>
          <a:xfrm>
            <a:off x="609600" y="5095875"/>
            <a:ext cx="10972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阿司匹林（aspirin）示例</a:t>
            </a:r>
            <a:endParaRPr sz="18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aspirin-smiles"/>
          <p:cNvSpPr>
            <a:spLocks noGrp="1"/>
          </p:cNvSpPr>
          <p:nvPr/>
        </p:nvSpPr>
        <p:spPr>
          <a:xfrm>
            <a:off x="609600" y="5514975"/>
            <a:ext cx="10972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11111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400" b="0">
                <a:solidFill>
                  <a:srgbClr val="11111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400" b="0">
                <a:solidFill>
                  <a:srgbClr val="11111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400" b="0">
                <a:solidFill>
                  <a:srgbClr val="11111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400" b="0">
                <a:solidFill>
                  <a:srgbClr val="11111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400" b="0">
                <a:solidFill>
                  <a:srgbClr val="11111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400" b="0">
                <a:solidFill>
                  <a:srgbClr val="11111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400" b="0">
                <a:solidFill>
                  <a:srgbClr val="11111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400" b="0">
                <a:solidFill>
                  <a:srgbClr val="11111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400" b="0">
                <a:solidFill>
                  <a:srgbClr val="11111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2400" b="0">
                <a:solidFill>
                  <a:srgbClr val="11111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0">
                <a:solidFill>
                  <a:srgbClr val="11111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CC(=O)Oc1ccccc1C(=O)O</a:t>
            </a:r>
            <a:endParaRPr sz="2400" b="0">
              <a:solidFill>
                <a:srgbClr val="11111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aspirin-reading"/>
          <p:cNvSpPr>
            <a:spLocks noGrp="1"/>
          </p:cNvSpPr>
          <p:nvPr/>
        </p:nvSpPr>
        <p:spPr>
          <a:xfrm>
            <a:off x="609600" y="6038850"/>
            <a:ext cx="1097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可识别乙酰氧基 CC(=O)O、苯环 c1ccccc1 和羧基 C(=O)O。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16*365"/>
  <p:tag name="TABLE_ENDDRAG_RECT" val="72*120*816*365"/>
</p:tagLst>
</file>

<file path=ppt/tags/tag2.xml><?xml version="1.0" encoding="utf-8"?>
<p:tagLst xmlns:p="http://schemas.openxmlformats.org/presentationml/2006/main">
  <p:tag name="KSO_WM_DIAGRAM_VIRTUALLY_FRAME" val="{&quot;height&quot;:234,&quot;left&quot;:48,&quot;top&quot;:137.25,&quot;width&quot;:864}"/>
</p:tagLst>
</file>

<file path=ppt/tags/tag3.xml><?xml version="1.0" encoding="utf-8"?>
<p:tagLst xmlns:p="http://schemas.openxmlformats.org/presentationml/2006/main">
  <p:tag name="KSO_WM_DIAGRAM_VIRTUALLY_FRAME" val="{&quot;height&quot;:234,&quot;left&quot;:48,&quot;top&quot;:137.25,&quot;width&quot;:864}"/>
</p:tagLst>
</file>

<file path=ppt/tags/tag4.xml><?xml version="1.0" encoding="utf-8"?>
<p:tagLst xmlns:p="http://schemas.openxmlformats.org/presentationml/2006/main">
  <p:tag name="KSO_WM_DIAGRAM_VIRTUALLY_FRAME" val="{&quot;height&quot;:234,&quot;left&quot;:48,&quot;top&quot;:137.25,&quot;width&quot;:864}"/>
</p:tagLst>
</file>

<file path=ppt/tags/tag5.xml><?xml version="1.0" encoding="utf-8"?>
<p:tagLst xmlns:p="http://schemas.openxmlformats.org/presentationml/2006/main">
  <p:tag name="KSO_WM_DIAGRAM_VIRTUALLY_FRAME" val="{&quot;height&quot;:234,&quot;left&quot;:48,&quot;top&quot;:137.25,&quot;width&quot;:864}"/>
</p:tagLst>
</file>

<file path=ppt/tags/tag6.xml><?xml version="1.0" encoding="utf-8"?>
<p:tagLst xmlns:p="http://schemas.openxmlformats.org/presentationml/2006/main">
  <p:tag name="KSO_WM_DIAGRAM_VIRTUALLY_FRAME" val="{&quot;height&quot;:234,&quot;left&quot;:48,&quot;top&quot;:137.25,&quot;width&quot;:864}"/>
</p:tagLst>
</file>

<file path=ppt/tags/tag7.xml><?xml version="1.0" encoding="utf-8"?>
<p:tagLst xmlns:p="http://schemas.openxmlformats.org/presentationml/2006/main">
  <p:tag name="KSO_WM_DIAGRAM_VIRTUALLY_FRAME" val="{&quot;height&quot;:234,&quot;left&quot;:48,&quot;top&quot;:137.25,&quot;width&quot;:864}"/>
</p:tagLst>
</file>

<file path=ppt/tags/tag8.xml><?xml version="1.0" encoding="utf-8"?>
<p:tagLst xmlns:p="http://schemas.openxmlformats.org/presentationml/2006/main">
  <p:tag name="KSO_WM_DIAGRAM_VIRTUALLY_FRAME" val="{&quot;height&quot;:234,&quot;left&quot;:48,&quot;top&quot;:137.25,&quot;width&quot;:864}"/>
</p:tagLst>
</file>

<file path=ppt/tags/tag9.xml><?xml version="1.0" encoding="utf-8"?>
<p:tagLst xmlns:p="http://schemas.openxmlformats.org/presentationml/2006/main">
  <p:tag name="KSO_WM_DIAGRAM_VIRTUALLY_FRAME" val="{&quot;height&quot;:234,&quot;left&quot;:48,&quot;top&quot;:137.25,&quot;width&quot;:864}"/>
</p:tagLst>
</file>

<file path=ppt/tags/tag10.xml><?xml version="1.0" encoding="utf-8"?>
<p:tagLst xmlns:p="http://schemas.openxmlformats.org/presentationml/2006/main">
  <p:tag name="KSO_WM_DIAGRAM_VIRTUALLY_FRAME" val="{&quot;height&quot;:234,&quot;left&quot;:48,&quot;top&quot;:137.25,&quot;width&quot;:864}"/>
</p:tagLst>
</file>

<file path=ppt/tags/tag11.xml><?xml version="1.0" encoding="utf-8"?>
<p:tagLst xmlns:p="http://schemas.openxmlformats.org/presentationml/2006/main">
  <p:tag name="KSO_WM_DIAGRAM_VIRTUALLY_FRAME" val="{&quot;height&quot;:234,&quot;left&quot;:48,&quot;top&quot;:137.25,&quot;width&quot;:864}"/>
</p:tagLst>
</file>

<file path=ppt/tags/tag12.xml><?xml version="1.0" encoding="utf-8"?>
<p:tagLst xmlns:p="http://schemas.openxmlformats.org/presentationml/2006/main">
  <p:tag name="KSO_WM_DIAGRAM_VIRTUALLY_FRAME" val="{&quot;height&quot;:234,&quot;left&quot;:48,&quot;top&quot;:137.25,&quot;width&quot;:864}"/>
</p:tagLst>
</file>

<file path=ppt/tags/tag13.xml><?xml version="1.0" encoding="utf-8"?>
<p:tagLst xmlns:p="http://schemas.openxmlformats.org/presentationml/2006/main">
  <p:tag name="KSO_WM_DIAGRAM_VIRTUALLY_FRAME" val="{&quot;height&quot;:234,&quot;left&quot;:48,&quot;top&quot;:137.25,&quot;width&quot;:864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4800</Words>
  <Application>WPS 演示</Application>
  <PresentationFormat>Converted Presentation</PresentationFormat>
  <Paragraphs>622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Cambria Math</vt:lpstr>
      <vt:lpstr>Cambria Math</vt:lpstr>
      <vt:lpstr>MS Mincho</vt:lpstr>
      <vt:lpstr>Segoe Print</vt:lpstr>
      <vt:lpstr>Arial Unicode MS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周阳</cp:lastModifiedBy>
  <cp:revision>4</cp:revision>
  <dcterms:created xsi:type="dcterms:W3CDTF">2026-10-19T11:34:00Z</dcterms:created>
  <dcterms:modified xsi:type="dcterms:W3CDTF">2026-10-21T10:42:22Z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B2595695AF2040C4BD92E7E6D3B6BCAA_13</vt:lpwstr>
  </property>
</Properties>
</file>