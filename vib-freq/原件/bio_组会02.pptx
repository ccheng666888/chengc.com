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2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23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3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  <p:sldMasterId id="2147483661" r:id="rId9"/>
  </p:sldMasterIdLst>
  <p:notesMasterIdLst>
    <p:notesMasterId r:id="rId6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</p:sldIdLst>
  <p:sldSz cx="18288000" cy="10287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1.xml" Type="http://schemas.openxmlformats.org/officeDocument/2006/relationships/slide"/><Relationship Id="rId11" Target="slides/slide2.xml" Type="http://schemas.openxmlformats.org/officeDocument/2006/relationships/slide"/><Relationship Id="rId12" Target="slides/slide3.xml" Type="http://schemas.openxmlformats.org/officeDocument/2006/relationships/slide"/><Relationship Id="rId13" Target="slides/slide4.xml" Type="http://schemas.openxmlformats.org/officeDocument/2006/relationships/slide"/><Relationship Id="rId14" Target="slides/slide5.xml" Type="http://schemas.openxmlformats.org/officeDocument/2006/relationships/slide"/><Relationship Id="rId15" Target="slides/slide6.xml" Type="http://schemas.openxmlformats.org/officeDocument/2006/relationships/slide"/><Relationship Id="rId16" Target="slides/slide7.xml" Type="http://schemas.openxmlformats.org/officeDocument/2006/relationships/slide"/><Relationship Id="rId17" Target="slides/slide8.xml" Type="http://schemas.openxmlformats.org/officeDocument/2006/relationships/slide"/><Relationship Id="rId18" Target="slides/slide9.xml" Type="http://schemas.openxmlformats.org/officeDocument/2006/relationships/slide"/><Relationship Id="rId19" Target="slides/slide10.xml" Type="http://schemas.openxmlformats.org/officeDocument/2006/relationships/slide"/><Relationship Id="rId2" Target="viewProps.xml" Type="http://schemas.openxmlformats.org/officeDocument/2006/relationships/viewProps"/><Relationship Id="rId20" Target="slides/slide11.xml" Type="http://schemas.openxmlformats.org/officeDocument/2006/relationships/slide"/><Relationship Id="rId21" Target="slides/slide12.xml" Type="http://schemas.openxmlformats.org/officeDocument/2006/relationships/slide"/><Relationship Id="rId22" Target="slides/slide13.xml" Type="http://schemas.openxmlformats.org/officeDocument/2006/relationships/slide"/><Relationship Id="rId23" Target="slides/slide14.xml" Type="http://schemas.openxmlformats.org/officeDocument/2006/relationships/slide"/><Relationship Id="rId24" Target="slides/slide15.xml" Type="http://schemas.openxmlformats.org/officeDocument/2006/relationships/slide"/><Relationship Id="rId25" Target="slides/slide16.xml" Type="http://schemas.openxmlformats.org/officeDocument/2006/relationships/slide"/><Relationship Id="rId26" Target="slides/slide17.xml" Type="http://schemas.openxmlformats.org/officeDocument/2006/relationships/slide"/><Relationship Id="rId27" Target="slides/slide18.xml" Type="http://schemas.openxmlformats.org/officeDocument/2006/relationships/slide"/><Relationship Id="rId28" Target="slides/slide19.xml" Type="http://schemas.openxmlformats.org/officeDocument/2006/relationships/slide"/><Relationship Id="rId29" Target="slides/slide20.xml" Type="http://schemas.openxmlformats.org/officeDocument/2006/relationships/slide"/><Relationship Id="rId3" Target="presProps.xml" Type="http://schemas.openxmlformats.org/officeDocument/2006/relationships/presProps"/><Relationship Id="rId30" Target="slides/slide21.xml" Type="http://schemas.openxmlformats.org/officeDocument/2006/relationships/slide"/><Relationship Id="rId31" Target="slides/slide22.xml" Type="http://schemas.openxmlformats.org/officeDocument/2006/relationships/slide"/><Relationship Id="rId32" Target="slides/slide23.xml" Type="http://schemas.openxmlformats.org/officeDocument/2006/relationships/slide"/><Relationship Id="rId33" Target="slides/slide24.xml" Type="http://schemas.openxmlformats.org/officeDocument/2006/relationships/slide"/><Relationship Id="rId34" Target="slides/slide25.xml" Type="http://schemas.openxmlformats.org/officeDocument/2006/relationships/slide"/><Relationship Id="rId35" Target="notesSlides/notesSlide1.xml" Type="http://schemas.openxmlformats.org/officeDocument/2006/relationships/notesSlide"/><Relationship Id="rId36" Target="notesSlides/notesSlide2.xml" Type="http://schemas.openxmlformats.org/officeDocument/2006/relationships/notesSlide"/><Relationship Id="rId37" Target="notesSlides/notesSlide3.xml" Type="http://schemas.openxmlformats.org/officeDocument/2006/relationships/notesSlide"/><Relationship Id="rId38" Target="notesSlides/notesSlide4.xml" Type="http://schemas.openxmlformats.org/officeDocument/2006/relationships/notesSlide"/><Relationship Id="rId39" Target="notesSlides/notesSlide5.xml" Type="http://schemas.openxmlformats.org/officeDocument/2006/relationships/notesSlide"/><Relationship Id="rId4" Target="slideMasters/slideMaster1.xml" Type="http://schemas.openxmlformats.org/officeDocument/2006/relationships/slideMaster"/><Relationship Id="rId40" Target="notesSlides/notesSlide6.xml" Type="http://schemas.openxmlformats.org/officeDocument/2006/relationships/notesSlide"/><Relationship Id="rId41" Target="notesSlides/notesSlide7.xml" Type="http://schemas.openxmlformats.org/officeDocument/2006/relationships/notesSlide"/><Relationship Id="rId42" Target="notesSlides/notesSlide8.xml" Type="http://schemas.openxmlformats.org/officeDocument/2006/relationships/notesSlide"/><Relationship Id="rId43" Target="notesSlides/notesSlide9.xml" Type="http://schemas.openxmlformats.org/officeDocument/2006/relationships/notesSlide"/><Relationship Id="rId44" Target="notesSlides/notesSlide10.xml" Type="http://schemas.openxmlformats.org/officeDocument/2006/relationships/notesSlide"/><Relationship Id="rId45" Target="notesSlides/notesSlide11.xml" Type="http://schemas.openxmlformats.org/officeDocument/2006/relationships/notesSlide"/><Relationship Id="rId46" Target="notesSlides/notesSlide12.xml" Type="http://schemas.openxmlformats.org/officeDocument/2006/relationships/notesSlide"/><Relationship Id="rId47" Target="notesSlides/notesSlide13.xml" Type="http://schemas.openxmlformats.org/officeDocument/2006/relationships/notesSlide"/><Relationship Id="rId48" Target="notesSlides/notesSlide14.xml" Type="http://schemas.openxmlformats.org/officeDocument/2006/relationships/notesSlide"/><Relationship Id="rId49" Target="notesSlides/notesSlide15.xml" Type="http://schemas.openxmlformats.org/officeDocument/2006/relationships/notesSlide"/><Relationship Id="rId50" Target="notesSlides/notesSlide16.xml" Type="http://schemas.openxmlformats.org/officeDocument/2006/relationships/notesSlide"/><Relationship Id="rId51" Target="notesSlides/notesSlide17.xml" Type="http://schemas.openxmlformats.org/officeDocument/2006/relationships/notesSlide"/><Relationship Id="rId52" Target="notesSlides/notesSlide18.xml" Type="http://schemas.openxmlformats.org/officeDocument/2006/relationships/notesSlide"/><Relationship Id="rId53" Target="notesSlides/notesSlide19.xml" Type="http://schemas.openxmlformats.org/officeDocument/2006/relationships/notesSlide"/><Relationship Id="rId54" Target="notesSlides/notesSlide20.xml" Type="http://schemas.openxmlformats.org/officeDocument/2006/relationships/notesSlide"/><Relationship Id="rId55" Target="notesSlides/notesSlide21.xml" Type="http://schemas.openxmlformats.org/officeDocument/2006/relationships/notesSlide"/><Relationship Id="rId56" Target="notesSlides/notesSlide22.xml" Type="http://schemas.openxmlformats.org/officeDocument/2006/relationships/notesSlide"/><Relationship Id="rId57" Target="notesSlides/notesSlide23.xml" Type="http://schemas.openxmlformats.org/officeDocument/2006/relationships/notesSlide"/><Relationship Id="rId58" Target="notesSlides/notesSlide24.xml" Type="http://schemas.openxmlformats.org/officeDocument/2006/relationships/notesSlide"/><Relationship Id="rId59" Target="notesSlides/notesSlide25.xml" Type="http://schemas.openxmlformats.org/officeDocument/2006/relationships/notesSlide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Masters/slideMaster3.xml" Type="http://schemas.openxmlformats.org/officeDocument/2006/relationships/slideMaster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_rels/notesSlide2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3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14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15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16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17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18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19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20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21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22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23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xfrm rot="0" flipH="false" flipV="false">
            <a:off x="685800" y="2130425"/>
            <a:ext cx="7772400" cy="14700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ctr" defTabSz="914400">
              <a:lnSpc>
                <a:spcPct val="100000"/>
              </a:lnSpc>
              <a:defRPr sz="4400" b="fals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ctr" marL="0" indent="0" defTabSz="914400">
              <a:lnSpc>
                <a:spcPct val="100000"/>
              </a:lnSpc>
            </a:pPr>
            <a:r>
              <a:rPr lang="en-US" b="false" i="false" strike="noStrike" u="none" sz="4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name="AutoShape 3" id="3"/>
          <p:cNvSpPr/>
          <p:nvPr>
            <p:ph idx="7" type="body" sz="quarter" hasCustomPrompt="true"/>
          </p:nvPr>
        </p:nvSpPr>
        <p:spPr>
          <a:xfrm rot="0" flipH="false" flipV="false">
            <a:off x="1371600" y="3886200"/>
            <a:ext cx="6400800" cy="1752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rmAutofit lnSpcReduction="0"/>
          </a:bodyPr>
          <a:lstStyle>
            <a:lvl1pPr algn="ctr" defTabSz="914400">
              <a:lnSpc>
                <a:spcPct val="100000"/>
              </a:lnSpc>
              <a:defRPr sz="3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ctr" marL="0" indent="0" defTabSz="914400">
              <a:lnSpc>
                <a:spcPct val="100000"/>
              </a:lnSpc>
              <a:spcBef>
                <a:spcPct val="20000"/>
              </a:spcBef>
            </a:pPr>
            <a:r>
              <a:rPr lang="en-US" b="false" i="false" strike="noStrike" u="none" sz="3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Click to edit Master subtitle style</a:t>
            </a:r>
          </a:p>
        </p:txBody>
      </p:sp>
      <p:sp>
        <p:nvSpPr>
          <p:cNvPr name="AutoShape 4" id="4"/>
          <p:cNvSpPr/>
          <p:nvPr>
            <p:ph idx="8" type="body" sz="quarter"/>
          </p:nvPr>
        </p:nvSpPr>
        <p:spPr>
          <a:xfrm rot="0" flipH="false" flipV="false"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xfrm rot="0" flipH="false" flipV="false"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ctr" defTabSz="914400">
              <a:lnSpc>
                <a:spcPct val="100000"/>
              </a:lnSpc>
              <a:defRPr sz="12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name="AutoShape 6" id="6"/>
          <p:cNvSpPr/>
          <p:nvPr>
            <p:ph idx="10" type="body" sz="quarter" hasCustomPrompt="true"/>
          </p:nvPr>
        </p:nvSpPr>
        <p:spPr>
          <a:xfrm rot="0" flipH="false" flipV="false"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 defTabSz="9144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r" marL="0" indent="0" defTabSz="914400">
              <a:lnSpc>
                <a:spcPct val="100000"/>
              </a:lnSpc>
            </a:pPr>
            <a:fld type="slidenum" id="{07ACE677-7DE6-453E-8538-827E02524861}">
              <a:rPr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1" type="body" sz="quarter" hasCustomPrompt="true"/>
          </p:nvPr>
        </p:nvSpPr>
        <p:spPr>
          <a:xfrm rot="0" flipH="false" flipV="false">
            <a:off x="457200" y="274638"/>
            <a:ext cx="8229600" cy="1143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ctr" defTabSz="914400">
              <a:lnSpc>
                <a:spcPct val="100000"/>
              </a:lnSpc>
              <a:defRPr sz="4400" b="fals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ctr" marL="0" indent="0" defTabSz="914400">
              <a:lnSpc>
                <a:spcPct val="100000"/>
              </a:lnSpc>
            </a:pPr>
            <a:r>
              <a:rPr lang="en-US" b="false" i="false" strike="noStrike" u="none" sz="4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name="AutoShape 3" id="3"/>
          <p:cNvSpPr/>
          <p:nvPr>
            <p:ph idx="12" type="body" sz="quarter" hasCustomPrompt="true"/>
          </p:nvPr>
        </p:nvSpPr>
        <p:spPr>
          <a:xfrm rot="0" flipH="false" flipV="false">
            <a:off x="457200" y="1600200"/>
            <a:ext cx="8229600" cy="45259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rmAutofit lnSpcReduction="0"/>
          </a:bodyPr>
          <a:lstStyle>
            <a:lvl1pPr algn="l" defTabSz="914400" marL="749300" indent="-406400">
              <a:lnSpc>
                <a:spcPct val="100000"/>
              </a:lnSpc>
              <a:defRPr sz="3200" b="fals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1098550" indent="-355600"/>
            <a:lvl3pPr marL="1447800" indent="-304800"/>
            <a:lvl4pPr marL="1854200" indent="-254000"/>
            <a:lvl5pPr marL="2311400" indent="-254000"/>
            <a:lvl6pPr marL="2768600" indent="-254000"/>
            <a:lvl7pPr marL="3225800" indent="-254000"/>
            <a:lvl8pPr marL="3683000" indent="-254000"/>
            <a:lvl9pPr marL="4140200" indent="-254000"/>
          </a:lstStyle>
          <a:p>
            <a:pPr algn="l" indent="-342900" marL="342900" defTabSz="9144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algn="l" lvl="1" indent="-285750" marL="742950" defTabSz="9144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b="false" i="false" strike="noStrike" u="none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algn="l" lvl="2" indent="-228600" marL="1143000" defTabSz="9144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algn="l" lvl="3" indent="-228600" marL="1600200" defTabSz="9144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algn="l" lvl="4" indent="-228600" marL="2057400" defTabSz="9144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name="AutoShape 4" id="4"/>
          <p:cNvSpPr/>
          <p:nvPr>
            <p:ph idx="13" type="body" sz="quarter"/>
          </p:nvPr>
        </p:nvSpPr>
        <p:spPr>
          <a:xfrm rot="0" flipH="false" flipV="false"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14" type="body" sz="quarter" hasCustomPrompt="true"/>
          </p:nvPr>
        </p:nvSpPr>
        <p:spPr>
          <a:xfrm rot="0" flipH="false" flipV="false"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ctr" defTabSz="914400">
              <a:lnSpc>
                <a:spcPct val="100000"/>
              </a:lnSpc>
              <a:defRPr sz="12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name="AutoShape 6" id="6"/>
          <p:cNvSpPr/>
          <p:nvPr>
            <p:ph idx="15" type="body" sz="quarter" hasCustomPrompt="true"/>
          </p:nvPr>
        </p:nvSpPr>
        <p:spPr>
          <a:xfrm rot="0" flipH="false" flipV="false"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 defTabSz="9144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r" marL="0" indent="0" defTabSz="914400">
              <a:lnSpc>
                <a:spcPct val="100000"/>
              </a:lnSpc>
            </a:pPr>
            <a:fld type="slidenum" id="{CDC3EE63-EEBF-4427-9092-792C9582690E}">
              <a:rPr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6" type="body" sz="quarter" hasCustomPrompt="true"/>
          </p:nvPr>
        </p:nvSpPr>
        <p:spPr>
          <a:xfrm rot="0" flipH="false" flipV="false">
            <a:off x="722313" y="4406900"/>
            <a:ext cx="7772400" cy="13620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rmAutofit lnSpcReduction="0"/>
          </a:bodyPr>
          <a:lstStyle>
            <a:lvl1pPr algn="l" defTabSz="914400">
              <a:lnSpc>
                <a:spcPct val="100000"/>
              </a:lnSpc>
              <a:defRPr sz="4000" b="tru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4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name="AutoShape 3" id="3"/>
          <p:cNvSpPr/>
          <p:nvPr>
            <p:ph idx="17" type="body" sz="quarter" hasCustomPrompt="true"/>
          </p:nvPr>
        </p:nvSpPr>
        <p:spPr>
          <a:xfrm rot="0" flipH="false" flipV="false">
            <a:off x="722313" y="2906713"/>
            <a:ext cx="7772400" cy="150018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wrap="square" lIns="91440" rIns="91440" tIns="45720" bIns="45720">
            <a:normAutofit lnSpcReduction="0"/>
          </a:bodyPr>
          <a:lstStyle>
            <a:lvl1pPr algn="l" defTabSz="914400">
              <a:lnSpc>
                <a:spcPct val="100000"/>
              </a:lnSpc>
              <a:defRPr sz="20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 defTabSz="914400">
              <a:lnSpc>
                <a:spcPct val="100000"/>
              </a:lnSpc>
              <a:spcBef>
                <a:spcPct val="20000"/>
              </a:spcBef>
            </a:pPr>
            <a:r>
              <a:rPr lang="en-US" b="false" i="false" strike="noStrike" u="none" sz="20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</p:txBody>
      </p:sp>
      <p:sp>
        <p:nvSpPr>
          <p:cNvPr name="AutoShape 4" id="4"/>
          <p:cNvSpPr/>
          <p:nvPr>
            <p:ph idx="18" type="body" sz="quarter"/>
          </p:nvPr>
        </p:nvSpPr>
        <p:spPr>
          <a:xfrm rot="0" flipH="false" flipV="false"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19" type="body" sz="quarter" hasCustomPrompt="true"/>
          </p:nvPr>
        </p:nvSpPr>
        <p:spPr>
          <a:xfrm rot="0" flipH="false" flipV="false"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ctr" defTabSz="914400">
              <a:lnSpc>
                <a:spcPct val="100000"/>
              </a:lnSpc>
              <a:defRPr sz="12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name="AutoShape 6" id="6"/>
          <p:cNvSpPr/>
          <p:nvPr>
            <p:ph idx="20" type="body" sz="quarter" hasCustomPrompt="true"/>
          </p:nvPr>
        </p:nvSpPr>
        <p:spPr>
          <a:xfrm rot="0" flipH="false" flipV="false"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 defTabSz="9144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r" marL="0" indent="0" defTabSz="914400">
              <a:lnSpc>
                <a:spcPct val="100000"/>
              </a:lnSpc>
            </a:pPr>
            <a:fld type="slidenum" id="{E075D0C3-FB3B-47A4-A71E-0B78AE089B49}">
              <a:rPr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1" type="body" sz="quarter" hasCustomPrompt="true"/>
          </p:nvPr>
        </p:nvSpPr>
        <p:spPr>
          <a:xfrm rot="0" flipH="false" flipV="false">
            <a:off x="457200" y="274638"/>
            <a:ext cx="8229600" cy="1143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ctr" defTabSz="914400">
              <a:lnSpc>
                <a:spcPct val="100000"/>
              </a:lnSpc>
              <a:defRPr sz="4400" b="fals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ctr" marL="0" indent="0" defTabSz="914400">
              <a:lnSpc>
                <a:spcPct val="100000"/>
              </a:lnSpc>
            </a:pPr>
            <a:r>
              <a:rPr lang="en-US" b="false" i="false" strike="noStrike" u="none" sz="4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name="AutoShape 3" id="3"/>
          <p:cNvSpPr/>
          <p:nvPr>
            <p:ph idx="22" type="body" sz="quarter" hasCustomPrompt="true"/>
          </p:nvPr>
        </p:nvSpPr>
        <p:spPr>
          <a:xfrm rot="0" flipH="false" flipV="false">
            <a:off x="457200" y="1600200"/>
            <a:ext cx="4038600" cy="45259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rmAutofit lnSpcReduction="0"/>
          </a:bodyPr>
          <a:lstStyle>
            <a:lvl1pPr algn="l" defTabSz="914400" marL="698500" indent="-355600">
              <a:lnSpc>
                <a:spcPct val="100000"/>
              </a:lnSpc>
              <a:defRPr sz="2800" b="fals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1047750" indent="-304800"/>
            <a:lvl3pPr marL="1397000" indent="-254000"/>
            <a:lvl4pPr marL="1828800" indent="-228600"/>
            <a:lvl5pPr marL="2286000" indent="-228600"/>
            <a:lvl6pPr marL="2743200" indent="-228600"/>
            <a:lvl7pPr marL="3200400" indent="-228600"/>
            <a:lvl8pPr marL="3657600" indent="-228600"/>
            <a:lvl9pPr marL="4114800" indent="-228600"/>
          </a:lstStyle>
          <a:p>
            <a:pPr algn="l" indent="-342900" marL="342900" defTabSz="9144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algn="l" lvl="1" indent="-285750" marL="742950" defTabSz="9144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b="fals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algn="l" lvl="2" indent="-228600" marL="1143000" defTabSz="9144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algn="l" lvl="3" indent="-228600" marL="1600200" defTabSz="9144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algn="l" lvl="4" indent="-228600" marL="2057400" defTabSz="9144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name="AutoShape 4" id="4"/>
          <p:cNvSpPr/>
          <p:nvPr>
            <p:ph idx="23" type="body" sz="quarter" hasCustomPrompt="true"/>
          </p:nvPr>
        </p:nvSpPr>
        <p:spPr>
          <a:xfrm rot="0" flipH="false" flipV="false">
            <a:off x="4648200" y="1600200"/>
            <a:ext cx="4038600" cy="45259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 defTabSz="914400" marL="698500" indent="-355600">
              <a:lnSpc>
                <a:spcPct val="100000"/>
              </a:lnSpc>
              <a:defRPr sz="2800" b="fals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1047750" indent="-304800"/>
            <a:lvl3pPr marL="1397000" indent="-254000"/>
            <a:lvl4pPr marL="1828800" indent="-228600"/>
            <a:lvl5pPr marL="2286000" indent="-228600"/>
            <a:lvl6pPr marL="2743200" indent="-228600"/>
            <a:lvl7pPr marL="3200400" indent="-228600"/>
            <a:lvl8pPr marL="3657600" indent="-228600"/>
            <a:lvl9pPr marL="4114800" indent="-228600"/>
          </a:lstStyle>
          <a:p>
            <a:pPr algn="l" indent="-342900" marL="342900" defTabSz="9144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algn="l" lvl="1" indent="-285750" marL="742950" defTabSz="9144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b="fals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algn="l" lvl="2" indent="-228600" marL="1143000" defTabSz="9144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algn="l" lvl="3" indent="-228600" marL="1600200" defTabSz="9144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algn="l" lvl="4" indent="-228600" marL="2057400" defTabSz="9144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name="AutoShape 5" id="5"/>
          <p:cNvSpPr/>
          <p:nvPr>
            <p:ph idx="24" type="body" sz="quarter"/>
          </p:nvPr>
        </p:nvSpPr>
        <p:spPr>
          <a:xfrm rot="0" flipH="false" flipV="false"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l"/>
            <a:endParaRPr/>
          </a:p>
        </p:txBody>
      </p:sp>
      <p:sp>
        <p:nvSpPr>
          <p:cNvPr name="AutoShape 6" id="6"/>
          <p:cNvSpPr/>
          <p:nvPr>
            <p:ph idx="25" type="body" sz="quarter" hasCustomPrompt="true"/>
          </p:nvPr>
        </p:nvSpPr>
        <p:spPr>
          <a:xfrm rot="0" flipH="false" flipV="false"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ctr" defTabSz="914400">
              <a:lnSpc>
                <a:spcPct val="100000"/>
              </a:lnSpc>
              <a:defRPr sz="12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name="AutoShape 7" id="7"/>
          <p:cNvSpPr/>
          <p:nvPr>
            <p:ph idx="26" type="body" sz="quarter" hasCustomPrompt="true"/>
          </p:nvPr>
        </p:nvSpPr>
        <p:spPr>
          <a:xfrm rot="0" flipH="false" flipV="false"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 defTabSz="9144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r" marL="0" indent="0" defTabSz="914400">
              <a:lnSpc>
                <a:spcPct val="100000"/>
              </a:lnSpc>
            </a:pPr>
            <a:fld type="slidenum" id="{EA7F9F23-B99A-44F7-9E6E-D7F761C7B17A}">
              <a:rPr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7" type="body" sz="quarter" hasCustomPrompt="true"/>
          </p:nvPr>
        </p:nvSpPr>
        <p:spPr>
          <a:xfrm rot="0" flipH="false" flipV="false">
            <a:off x="457200" y="274638"/>
            <a:ext cx="8229600" cy="1143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ctr" defTabSz="914400">
              <a:lnSpc>
                <a:spcPct val="100000"/>
              </a:lnSpc>
              <a:defRPr sz="4400" b="fals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ctr" marL="0" indent="0" defTabSz="914400">
              <a:lnSpc>
                <a:spcPct val="100000"/>
              </a:lnSpc>
            </a:pPr>
            <a:r>
              <a:rPr lang="en-US" b="false" i="false" strike="noStrike" u="none" sz="4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name="AutoShape 3" id="3"/>
          <p:cNvSpPr/>
          <p:nvPr>
            <p:ph idx="28" type="body" sz="quarter" hasCustomPrompt="true"/>
          </p:nvPr>
        </p:nvSpPr>
        <p:spPr>
          <a:xfrm rot="0" flipH="false" flipV="false">
            <a:off x="457200" y="1535113"/>
            <a:ext cx="4040188" cy="6397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wrap="square" lIns="91440" rIns="91440" tIns="45720" bIns="45720">
            <a:normAutofit lnSpcReduction="0"/>
          </a:bodyPr>
          <a:lstStyle>
            <a:lvl1pPr algn="l" defTabSz="914400">
              <a:lnSpc>
                <a:spcPct val="100000"/>
              </a:lnSpc>
              <a:defRPr sz="2400" b="tru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 defTabSz="9144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</p:txBody>
      </p:sp>
      <p:sp>
        <p:nvSpPr>
          <p:cNvPr name="AutoShape 4" id="4"/>
          <p:cNvSpPr/>
          <p:nvPr>
            <p:ph idx="29" type="body" sz="quarter" hasCustomPrompt="true"/>
          </p:nvPr>
        </p:nvSpPr>
        <p:spPr>
          <a:xfrm rot="0" flipH="false" flipV="false">
            <a:off x="457200" y="2174875"/>
            <a:ext cx="4040188" cy="39512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 defTabSz="914400" marL="647700" indent="-304800">
              <a:lnSpc>
                <a:spcPct val="100000"/>
              </a:lnSpc>
              <a:defRPr sz="2400" b="fals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996950" indent="-254000"/>
            <a:lvl3pPr marL="1371600" indent="-228600"/>
            <a:lvl4pPr marL="1803400" indent="-203200"/>
            <a:lvl5pPr marL="2260600" indent="-203200"/>
            <a:lvl6pPr marL="2717800" indent="-203200"/>
            <a:lvl7pPr marL="3175000" indent="-203200"/>
            <a:lvl8pPr marL="3632200" indent="-203200"/>
            <a:lvl9pPr marL="4089400" indent="-203200"/>
          </a:lstStyle>
          <a:p>
            <a:pPr algn="l" indent="-342900" marL="342900" defTabSz="9144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algn="l" lvl="1" indent="-285750" marL="742950" defTabSz="9144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algn="l" lvl="2" indent="-228600" marL="1143000" defTabSz="9144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algn="l" lvl="3" indent="-228600" marL="1600200" defTabSz="9144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b="false" i="false" strike="noStrike" u="none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algn="l" lvl="4" indent="-228600" marL="2057400" defTabSz="9144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b="false" i="false" strike="noStrike" u="none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name="AutoShape 5" id="5"/>
          <p:cNvSpPr/>
          <p:nvPr>
            <p:ph idx="30" type="body" sz="quarter" hasCustomPrompt="true"/>
          </p:nvPr>
        </p:nvSpPr>
        <p:spPr>
          <a:xfrm rot="0" flipH="false" flipV="false">
            <a:off x="4645025" y="1535113"/>
            <a:ext cx="4041775" cy="6397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wrap="square" lIns="91440" rIns="91440" tIns="45720" bIns="45720">
            <a:noAutofit/>
          </a:bodyPr>
          <a:lstStyle>
            <a:lvl1pPr algn="l" defTabSz="914400">
              <a:lnSpc>
                <a:spcPct val="100000"/>
              </a:lnSpc>
              <a:defRPr sz="2400" b="tru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 defTabSz="914400">
              <a:lnSpc>
                <a:spcPct val="100000"/>
              </a:lnSpc>
              <a:spcBef>
                <a:spcPct val="20000"/>
              </a:spcBef>
            </a:pPr>
            <a:r>
              <a:rPr lang="en-US" b="tru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</p:txBody>
      </p:sp>
      <p:sp>
        <p:nvSpPr>
          <p:cNvPr name="AutoShape 6" id="6"/>
          <p:cNvSpPr/>
          <p:nvPr>
            <p:ph idx="31" type="body" sz="quarter" hasCustomPrompt="true"/>
          </p:nvPr>
        </p:nvSpPr>
        <p:spPr>
          <a:xfrm rot="0" flipH="false" flipV="false">
            <a:off x="4645025" y="2174875"/>
            <a:ext cx="4041775" cy="39512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 defTabSz="914400" marL="647700" indent="-304800">
              <a:lnSpc>
                <a:spcPct val="100000"/>
              </a:lnSpc>
              <a:defRPr sz="2400" b="fals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996950" indent="-254000"/>
            <a:lvl3pPr marL="1371600" indent="-228600"/>
            <a:lvl4pPr marL="1803400" indent="-203200"/>
            <a:lvl5pPr marL="2260600" indent="-203200"/>
            <a:lvl6pPr marL="2717800" indent="-203200"/>
            <a:lvl7pPr marL="3175000" indent="-203200"/>
            <a:lvl8pPr marL="3632200" indent="-203200"/>
            <a:lvl9pPr marL="4089400" indent="-203200"/>
          </a:lstStyle>
          <a:p>
            <a:pPr algn="l" indent="-342900" marL="342900" defTabSz="9144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algn="l" lvl="1" indent="-285750" marL="742950" defTabSz="9144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algn="l" lvl="2" indent="-228600" marL="1143000" defTabSz="9144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algn="l" lvl="3" indent="-228600" marL="1600200" defTabSz="9144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b="false" i="false" strike="noStrike" u="none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algn="l" lvl="4" indent="-228600" marL="2057400" defTabSz="9144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b="false" i="false" strike="noStrike" u="none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name="AutoShape 7" id="7"/>
          <p:cNvSpPr/>
          <p:nvPr>
            <p:ph idx="32" type="body" sz="quarter"/>
          </p:nvPr>
        </p:nvSpPr>
        <p:spPr>
          <a:xfrm rot="0" flipH="false" flipV="false"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l"/>
            <a:endParaRPr/>
          </a:p>
        </p:txBody>
      </p:sp>
      <p:sp>
        <p:nvSpPr>
          <p:cNvPr name="AutoShape 8" id="8"/>
          <p:cNvSpPr/>
          <p:nvPr>
            <p:ph idx="33" type="body" sz="quarter" hasCustomPrompt="true"/>
          </p:nvPr>
        </p:nvSpPr>
        <p:spPr>
          <a:xfrm rot="0" flipH="false" flipV="false"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ctr" defTabSz="914400">
              <a:lnSpc>
                <a:spcPct val="100000"/>
              </a:lnSpc>
              <a:defRPr sz="12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name="AutoShape 9" id="9"/>
          <p:cNvSpPr/>
          <p:nvPr>
            <p:ph idx="34" type="body" sz="quarter" hasCustomPrompt="true"/>
          </p:nvPr>
        </p:nvSpPr>
        <p:spPr>
          <a:xfrm rot="0" flipH="false" flipV="false"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 defTabSz="9144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r" marL="0" indent="0" defTabSz="914400">
              <a:lnSpc>
                <a:spcPct val="100000"/>
              </a:lnSpc>
            </a:pPr>
            <a:fld type="slidenum" id="{AB2C2794-2FC5-4095-8344-9870D1A7B7EE}">
              <a:rPr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5" type="body" sz="quarter" hasCustomPrompt="true"/>
          </p:nvPr>
        </p:nvSpPr>
        <p:spPr>
          <a:xfrm rot="0" flipH="false" flipV="false">
            <a:off x="457200" y="274638"/>
            <a:ext cx="8229600" cy="1143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ctr" defTabSz="914400">
              <a:lnSpc>
                <a:spcPct val="100000"/>
              </a:lnSpc>
              <a:defRPr sz="4400" b="fals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ctr" marL="0" indent="0" defTabSz="914400">
              <a:lnSpc>
                <a:spcPct val="100000"/>
              </a:lnSpc>
            </a:pPr>
            <a:r>
              <a:rPr lang="en-US" b="false" i="false" strike="noStrike" u="none" sz="4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name="AutoShape 3" id="3"/>
          <p:cNvSpPr/>
          <p:nvPr>
            <p:ph idx="36" type="body" sz="quarter"/>
          </p:nvPr>
        </p:nvSpPr>
        <p:spPr>
          <a:xfrm rot="0" flipH="false" flipV="false"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37" type="body" sz="quarter" hasCustomPrompt="true"/>
          </p:nvPr>
        </p:nvSpPr>
        <p:spPr>
          <a:xfrm rot="0" flipH="false" flipV="false"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ctr" defTabSz="914400">
              <a:lnSpc>
                <a:spcPct val="100000"/>
              </a:lnSpc>
              <a:defRPr sz="12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name="AutoShape 5" id="5"/>
          <p:cNvSpPr/>
          <p:nvPr>
            <p:ph idx="38" type="body" sz="quarter" hasCustomPrompt="true"/>
          </p:nvPr>
        </p:nvSpPr>
        <p:spPr>
          <a:xfrm rot="0" flipH="false" flipV="false"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 defTabSz="9144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r" marL="0" indent="0" defTabSz="914400">
              <a:lnSpc>
                <a:spcPct val="100000"/>
              </a:lnSpc>
            </a:pPr>
            <a:fld type="slidenum" id="{198B0D60-C5D6-46F1-A5D3-CD579D0E81F0}">
              <a:rPr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9" type="body" sz="quarter"/>
          </p:nvPr>
        </p:nvSpPr>
        <p:spPr>
          <a:xfrm rot="0" flipH="false" flipV="false"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40" type="body" sz="quarter" hasCustomPrompt="true"/>
          </p:nvPr>
        </p:nvSpPr>
        <p:spPr>
          <a:xfrm rot="0" flipH="false" flipV="false"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ctr" defTabSz="914400">
              <a:lnSpc>
                <a:spcPct val="100000"/>
              </a:lnSpc>
              <a:defRPr sz="12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name="AutoShape 4" id="4"/>
          <p:cNvSpPr/>
          <p:nvPr>
            <p:ph idx="41" type="body" sz="quarter" hasCustomPrompt="true"/>
          </p:nvPr>
        </p:nvSpPr>
        <p:spPr>
          <a:xfrm rot="0" flipH="false" flipV="false"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 defTabSz="9144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r" marL="0" indent="0" defTabSz="914400">
              <a:lnSpc>
                <a:spcPct val="100000"/>
              </a:lnSpc>
            </a:pPr>
            <a:fld type="slidenum" id="{274512A1-B04D-4FAA-ADA9-F03D8F003A39}">
              <a:rPr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2" type="body" sz="quarter" hasCustomPrompt="true"/>
          </p:nvPr>
        </p:nvSpPr>
        <p:spPr>
          <a:xfrm rot="0" flipH="false" flipV="false">
            <a:off x="457200" y="273050"/>
            <a:ext cx="3008313" cy="11620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wrap="square" lIns="91440" rIns="91440" tIns="45720" bIns="45720">
            <a:normAutofit lnSpcReduction="0"/>
          </a:bodyPr>
          <a:lstStyle>
            <a:lvl1pPr algn="l" defTabSz="914400">
              <a:lnSpc>
                <a:spcPct val="100000"/>
              </a:lnSpc>
              <a:defRPr sz="2000" b="tru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name="AutoShape 3" id="3"/>
          <p:cNvSpPr/>
          <p:nvPr>
            <p:ph idx="43" type="body" sz="quarter" hasCustomPrompt="true"/>
          </p:nvPr>
        </p:nvSpPr>
        <p:spPr>
          <a:xfrm rot="0" flipH="false" flipV="false">
            <a:off x="3575050" y="273050"/>
            <a:ext cx="5111750" cy="58531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rmAutofit lnSpcReduction="0"/>
          </a:bodyPr>
          <a:lstStyle>
            <a:lvl1pPr algn="l" defTabSz="914400" marL="749300" indent="-406400">
              <a:lnSpc>
                <a:spcPct val="100000"/>
              </a:lnSpc>
              <a:defRPr sz="3200" b="fals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1098550" indent="-355600"/>
            <a:lvl3pPr marL="1447800" indent="-304800"/>
            <a:lvl4pPr marL="1854200" indent="-254000"/>
            <a:lvl5pPr marL="2311400" indent="-254000"/>
            <a:lvl6pPr marL="2768600" indent="-254000"/>
            <a:lvl7pPr marL="3225800" indent="-254000"/>
            <a:lvl8pPr marL="3683000" indent="-254000"/>
            <a:lvl9pPr marL="4140200" indent="-254000"/>
          </a:lstStyle>
          <a:p>
            <a:pPr algn="l" indent="-342900" marL="342900" defTabSz="9144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algn="l" lvl="1" indent="-285750" marL="742950" defTabSz="9144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b="false" i="false" strike="noStrike" u="none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algn="l" lvl="2" indent="-228600" marL="1143000" defTabSz="9144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algn="l" lvl="3" indent="-228600" marL="1600200" defTabSz="9144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algn="l" lvl="4" indent="-228600" marL="2057400" defTabSz="9144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name="AutoShape 4" id="4"/>
          <p:cNvSpPr/>
          <p:nvPr>
            <p:ph idx="44" type="body" sz="quarter" hasCustomPrompt="true"/>
          </p:nvPr>
        </p:nvSpPr>
        <p:spPr>
          <a:xfrm rot="0" flipH="false" flipV="false">
            <a:off x="457200" y="1435100"/>
            <a:ext cx="3008313" cy="46910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 defTabSz="914400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 defTabSz="914400">
              <a:lnSpc>
                <a:spcPct val="100000"/>
              </a:lnSpc>
              <a:spcBef>
                <a:spcPct val="20000"/>
              </a:spcBef>
            </a:pPr>
            <a:r>
              <a:rPr lang="en-US" b="fals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</p:txBody>
      </p:sp>
      <p:sp>
        <p:nvSpPr>
          <p:cNvPr name="AutoShape 5" id="5"/>
          <p:cNvSpPr/>
          <p:nvPr>
            <p:ph idx="45" type="body" sz="quarter"/>
          </p:nvPr>
        </p:nvSpPr>
        <p:spPr>
          <a:xfrm rot="0" flipH="false" flipV="false"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l"/>
            <a:endParaRPr/>
          </a:p>
        </p:txBody>
      </p:sp>
      <p:sp>
        <p:nvSpPr>
          <p:cNvPr name="AutoShape 6" id="6"/>
          <p:cNvSpPr/>
          <p:nvPr>
            <p:ph idx="46" type="body" sz="quarter" hasCustomPrompt="true"/>
          </p:nvPr>
        </p:nvSpPr>
        <p:spPr>
          <a:xfrm rot="0" flipH="false" flipV="false"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ctr" defTabSz="914400">
              <a:lnSpc>
                <a:spcPct val="100000"/>
              </a:lnSpc>
              <a:defRPr sz="12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name="AutoShape 7" id="7"/>
          <p:cNvSpPr/>
          <p:nvPr>
            <p:ph idx="47" type="body" sz="quarter" hasCustomPrompt="true"/>
          </p:nvPr>
        </p:nvSpPr>
        <p:spPr>
          <a:xfrm rot="0" flipH="false" flipV="false"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 defTabSz="9144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r" marL="0" indent="0" defTabSz="914400">
              <a:lnSpc>
                <a:spcPct val="100000"/>
              </a:lnSpc>
            </a:pPr>
            <a:fld type="slidenum" id="{2BB2C7E9-F908-4EC1-B6D4-A64DDEBE5E22}">
              <a:rPr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8" type="body" sz="quarter" hasCustomPrompt="true"/>
          </p:nvPr>
        </p:nvSpPr>
        <p:spPr>
          <a:xfrm rot="0" flipH="false" flipV="false">
            <a:off x="1792288" y="4800600"/>
            <a:ext cx="5486400" cy="5667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wrap="square" lIns="91440" rIns="91440" tIns="45720" bIns="45720">
            <a:normAutofit lnSpcReduction="0"/>
          </a:bodyPr>
          <a:lstStyle>
            <a:lvl1pPr algn="l" defTabSz="914400">
              <a:lnSpc>
                <a:spcPct val="100000"/>
              </a:lnSpc>
              <a:defRPr sz="2000" b="tru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name="AutoShape 3" id="3"/>
          <p:cNvSpPr/>
          <p:nvPr>
            <p:ph idx="49" type="pic" sz="quarter"/>
          </p:nvPr>
        </p:nvSpPr>
        <p:spPr>
          <a:xfrm rot="0" flipH="false" flipV="false">
            <a:off x="1792288" y="612775"/>
            <a:ext cx="5486400" cy="411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4" id="4"/>
          <p:cNvSpPr/>
          <p:nvPr>
            <p:ph idx="50" type="body" sz="quarter" hasCustomPrompt="true"/>
          </p:nvPr>
        </p:nvSpPr>
        <p:spPr>
          <a:xfrm rot="0" flipH="false" flipV="false">
            <a:off x="1792288" y="5367338"/>
            <a:ext cx="5486400" cy="8048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 defTabSz="914400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 defTabSz="914400">
              <a:lnSpc>
                <a:spcPct val="100000"/>
              </a:lnSpc>
              <a:spcBef>
                <a:spcPct val="20000"/>
              </a:spcBef>
            </a:pPr>
            <a:r>
              <a:rPr lang="en-US" b="fals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</p:txBody>
      </p:sp>
      <p:sp>
        <p:nvSpPr>
          <p:cNvPr name="AutoShape 5" id="5"/>
          <p:cNvSpPr/>
          <p:nvPr>
            <p:ph idx="51" type="body" sz="quarter"/>
          </p:nvPr>
        </p:nvSpPr>
        <p:spPr>
          <a:xfrm rot="0" flipH="false" flipV="false"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l"/>
            <a:endParaRPr/>
          </a:p>
        </p:txBody>
      </p:sp>
      <p:sp>
        <p:nvSpPr>
          <p:cNvPr name="AutoShape 6" id="6"/>
          <p:cNvSpPr/>
          <p:nvPr>
            <p:ph idx="52" type="body" sz="quarter" hasCustomPrompt="true"/>
          </p:nvPr>
        </p:nvSpPr>
        <p:spPr>
          <a:xfrm rot="0" flipH="false" flipV="false"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ctr" defTabSz="914400">
              <a:lnSpc>
                <a:spcPct val="100000"/>
              </a:lnSpc>
              <a:defRPr sz="12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name="AutoShape 7" id="7"/>
          <p:cNvSpPr/>
          <p:nvPr>
            <p:ph idx="53" type="body" sz="quarter" hasCustomPrompt="true"/>
          </p:nvPr>
        </p:nvSpPr>
        <p:spPr>
          <a:xfrm rot="0" flipH="false" flipV="false"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 defTabSz="9144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r" marL="0" indent="0" defTabSz="914400">
              <a:lnSpc>
                <a:spcPct val="100000"/>
              </a:lnSpc>
            </a:pPr>
            <a:fld type="slidenum" id="{27599C21-7D4A-4C5B-BD54-FDB1F5EC85BC}">
              <a:rPr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4" type="body" sz="quarter" hasCustomPrompt="true"/>
          </p:nvPr>
        </p:nvSpPr>
        <p:spPr>
          <a:xfrm rot="0" flipH="false" flipV="false">
            <a:off x="457200" y="274638"/>
            <a:ext cx="8229600" cy="1143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ctr" defTabSz="914400">
              <a:lnSpc>
                <a:spcPct val="100000"/>
              </a:lnSpc>
              <a:defRPr sz="4400" b="fals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ctr" marL="0" indent="0" defTabSz="914400">
              <a:lnSpc>
                <a:spcPct val="100000"/>
              </a:lnSpc>
            </a:pPr>
            <a:r>
              <a:rPr lang="en-US" b="false" i="false" strike="noStrike" u="none" sz="4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name="AutoShape 3" id="3"/>
          <p:cNvSpPr/>
          <p:nvPr>
            <p:ph idx="55" type="body" sz="quarter" hasCustomPrompt="true"/>
          </p:nvPr>
        </p:nvSpPr>
        <p:spPr>
          <a:xfrm rot="0" flipH="false" flipV="false">
            <a:off x="457200" y="1600200"/>
            <a:ext cx="8229600" cy="45259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eaVert" wrap="square" lIns="91440" rIns="91440" tIns="45720" bIns="45720">
            <a:normAutofit lnSpcReduction="0"/>
          </a:bodyPr>
          <a:lstStyle>
            <a:lvl1pPr algn="l" defTabSz="914400" marL="749300" indent="-406400">
              <a:lnSpc>
                <a:spcPct val="100000"/>
              </a:lnSpc>
              <a:defRPr sz="3200" b="fals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1098550" indent="-355600"/>
            <a:lvl3pPr marL="1447800" indent="-304800"/>
            <a:lvl4pPr marL="1854200" indent="-254000"/>
            <a:lvl5pPr marL="2311400" indent="-254000"/>
            <a:lvl6pPr marL="2768600" indent="-254000"/>
            <a:lvl7pPr marL="3225800" indent="-254000"/>
            <a:lvl8pPr marL="3683000" indent="-254000"/>
            <a:lvl9pPr marL="4140200" indent="-254000"/>
          </a:lstStyle>
          <a:p>
            <a:pPr algn="l" indent="-342900" marL="342900" defTabSz="9144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algn="l" lvl="1" indent="-285750" marL="742950" defTabSz="9144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b="false" i="false" strike="noStrike" u="none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algn="l" lvl="2" indent="-228600" marL="1143000" defTabSz="9144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algn="l" lvl="3" indent="-228600" marL="1600200" defTabSz="9144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algn="l" lvl="4" indent="-228600" marL="2057400" defTabSz="9144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name="AutoShape 4" id="4"/>
          <p:cNvSpPr/>
          <p:nvPr>
            <p:ph idx="56" type="body" sz="quarter"/>
          </p:nvPr>
        </p:nvSpPr>
        <p:spPr>
          <a:xfrm rot="0" flipH="false" flipV="false"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57" type="body" sz="quarter" hasCustomPrompt="true"/>
          </p:nvPr>
        </p:nvSpPr>
        <p:spPr>
          <a:xfrm rot="0" flipH="false" flipV="false"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ctr" defTabSz="914400">
              <a:lnSpc>
                <a:spcPct val="100000"/>
              </a:lnSpc>
              <a:defRPr sz="12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name="AutoShape 6" id="6"/>
          <p:cNvSpPr/>
          <p:nvPr>
            <p:ph idx="58" type="body" sz="quarter" hasCustomPrompt="true"/>
          </p:nvPr>
        </p:nvSpPr>
        <p:spPr>
          <a:xfrm rot="0" flipH="false" flipV="false"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 defTabSz="9144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r" marL="0" indent="0" defTabSz="914400">
              <a:lnSpc>
                <a:spcPct val="100000"/>
              </a:lnSpc>
            </a:pPr>
            <a:fld type="slidenum" id="{5804D4C1-E2C5-49EC-809B-D8E70AA32D5C}">
              <a:rPr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9" type="body" sz="quarter" hasCustomPrompt="true"/>
          </p:nvPr>
        </p:nvSpPr>
        <p:spPr>
          <a:xfrm rot="0" flipH="false" flipV="false">
            <a:off x="6629400" y="274638"/>
            <a:ext cx="2057400" cy="58515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eaVert" wrap="square" lIns="91440" rIns="91440" tIns="45720" bIns="45720">
            <a:normAutofit lnSpcReduction="0"/>
          </a:bodyPr>
          <a:lstStyle>
            <a:lvl1pPr algn="ctr" defTabSz="914400">
              <a:lnSpc>
                <a:spcPct val="100000"/>
              </a:lnSpc>
              <a:defRPr sz="4400" b="fals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ctr" marL="0" indent="0" defTabSz="914400">
              <a:lnSpc>
                <a:spcPct val="100000"/>
              </a:lnSpc>
            </a:pPr>
            <a:r>
              <a:rPr lang="en-US" b="false" i="false" strike="noStrike" u="none" sz="4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name="AutoShape 3" id="3"/>
          <p:cNvSpPr/>
          <p:nvPr>
            <p:ph idx="60" type="body" sz="quarter" hasCustomPrompt="true"/>
          </p:nvPr>
        </p:nvSpPr>
        <p:spPr>
          <a:xfrm rot="0" flipH="false" flipV="false">
            <a:off x="457200" y="274638"/>
            <a:ext cx="6019800" cy="58515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eaVert" wrap="square" lIns="91440" rIns="91440" tIns="45720" bIns="45720">
            <a:normAutofit lnSpcReduction="0"/>
          </a:bodyPr>
          <a:lstStyle>
            <a:lvl1pPr algn="l" defTabSz="914400" marL="749300" indent="-406400">
              <a:lnSpc>
                <a:spcPct val="100000"/>
              </a:lnSpc>
              <a:defRPr sz="3200" b="fals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1098550" indent="-355600"/>
            <a:lvl3pPr marL="1447800" indent="-304800"/>
            <a:lvl4pPr marL="1854200" indent="-254000"/>
            <a:lvl5pPr marL="2311400" indent="-254000"/>
            <a:lvl6pPr marL="2768600" indent="-254000"/>
            <a:lvl7pPr marL="3225800" indent="-254000"/>
            <a:lvl8pPr marL="3683000" indent="-254000"/>
            <a:lvl9pPr marL="4140200" indent="-254000"/>
          </a:lstStyle>
          <a:p>
            <a:pPr algn="l" indent="-342900" marL="342900" defTabSz="9144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algn="l" lvl="1" indent="-285750" marL="742950" defTabSz="9144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b="false" i="false" strike="noStrike" u="none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algn="l" lvl="2" indent="-228600" marL="1143000" defTabSz="9144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algn="l" lvl="3" indent="-228600" marL="1600200" defTabSz="9144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algn="l" lvl="4" indent="-228600" marL="2057400" defTabSz="9144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name="AutoShape 4" id="4"/>
          <p:cNvSpPr/>
          <p:nvPr>
            <p:ph idx="61" type="body" sz="quarter"/>
          </p:nvPr>
        </p:nvSpPr>
        <p:spPr>
          <a:xfrm rot="0" flipH="false" flipV="false"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62" type="body" sz="quarter" hasCustomPrompt="true"/>
          </p:nvPr>
        </p:nvSpPr>
        <p:spPr>
          <a:xfrm rot="0" flipH="false" flipV="false"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ctr" defTabSz="914400">
              <a:lnSpc>
                <a:spcPct val="100000"/>
              </a:lnSpc>
              <a:defRPr sz="12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name="AutoShape 6" id="6"/>
          <p:cNvSpPr/>
          <p:nvPr>
            <p:ph idx="63" type="body" sz="quarter" hasCustomPrompt="true"/>
          </p:nvPr>
        </p:nvSpPr>
        <p:spPr>
          <a:xfrm rot="0" flipH="false" flipV="false"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 defTabSz="9144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r" marL="0" indent="0" defTabSz="914400">
              <a:lnSpc>
                <a:spcPct val="100000"/>
              </a:lnSpc>
            </a:pPr>
            <a:fld type="slidenum" id="{3B721C23-F099-4579-8F8F-FDA372276981}">
              <a:rPr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_rels/slideMaster3.xml.rels><?xml version="1.0" encoding="UTF-8" standalone="yes"?><Relationships xmlns="http://schemas.openxmlformats.org/package/2006/relationships"><Relationship Id="rId1" Target="../theme/theme4.xml" Type="http://schemas.openxmlformats.org/officeDocument/2006/relationships/theme"/><Relationship Id="rId10" Target="../slideLayouts/slideLayout21.xml" Type="http://schemas.openxmlformats.org/officeDocument/2006/relationships/slideLayout"/><Relationship Id="rId11" Target="../slideLayouts/slideLayout22.xml" Type="http://schemas.openxmlformats.org/officeDocument/2006/relationships/slideLayout"/><Relationship Id="rId12" Target="../slideLayouts/slideLayout23.xml" Type="http://schemas.openxmlformats.org/officeDocument/2006/relationships/slideLayout"/><Relationship Id="rId2" Target="../slideLayouts/slideLayout13.xml" Type="http://schemas.openxmlformats.org/officeDocument/2006/relationships/slideLayout"/><Relationship Id="rId3" Target="../slideLayouts/slideLayout14.xml" Type="http://schemas.openxmlformats.org/officeDocument/2006/relationships/slideLayout"/><Relationship Id="rId4" Target="../slideLayouts/slideLayout15.xml" Type="http://schemas.openxmlformats.org/officeDocument/2006/relationships/slideLayout"/><Relationship Id="rId5" Target="../slideLayouts/slideLayout16.xml" Type="http://schemas.openxmlformats.org/officeDocument/2006/relationships/slideLayout"/><Relationship Id="rId6" Target="../slideLayouts/slideLayout17.xml" Type="http://schemas.openxmlformats.org/officeDocument/2006/relationships/slideLayout"/><Relationship Id="rId7" Target="../slideLayouts/slideLayout18.xml" Type="http://schemas.openxmlformats.org/officeDocument/2006/relationships/slideLayout"/><Relationship Id="rId8" Target="../slideLayouts/slideLayout19.xml" Type="http://schemas.openxmlformats.org/officeDocument/2006/relationships/slideLayout"/><Relationship Id="rId9" Target="../slideLayouts/slideLayout20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自定义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Office Theme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1" id="1"/>
          <p:cNvSpPr/>
          <p:nvPr>
            <p:ph idx="1" type="body" sz="quarter" hasCustomPrompt="true"/>
          </p:nvPr>
        </p:nvSpPr>
        <p:spPr>
          <a:xfrm rot="0" flipH="false" flipV="false">
            <a:off x="457200" y="274638"/>
            <a:ext cx="8229600" cy="1143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rmAutofit lnSpcReduction="0"/>
          </a:bodyPr>
          <a:lstStyle>
            <a:lvl1pPr algn="ctr" defTabSz="914400">
              <a:lnSpc>
                <a:spcPct val="100000"/>
              </a:lnSpc>
              <a:defRPr sz="4400" b="tru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ctr" marL="0" indent="0" defTabSz="914400">
              <a:lnSpc>
                <a:spcPct val="100000"/>
              </a:lnSpc>
            </a:pPr>
            <a:r>
              <a:rPr lang="en-US" b="true" i="false" strike="noStrike" u="none" sz="4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name="AutoShape 2" id="2"/>
          <p:cNvSpPr/>
          <p:nvPr>
            <p:ph idx="2" type="body" sz="quarter" hasCustomPrompt="true"/>
          </p:nvPr>
        </p:nvSpPr>
        <p:spPr>
          <a:xfrm rot="0" flipH="false" flipV="false">
            <a:off x="457200" y="1600200"/>
            <a:ext cx="8229600" cy="45259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91440" rIns="91440" tIns="45720" bIns="45720">
            <a:normAutofit lnSpcReduction="0"/>
          </a:bodyPr>
          <a:lstStyle>
            <a:lvl1pPr algn="l" defTabSz="914400" marL="749300" indent="-406400">
              <a:lnSpc>
                <a:spcPct val="100000"/>
              </a:lnSpc>
              <a:defRPr sz="3200" b="fals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1098550" indent="-355600"/>
            <a:lvl3pPr marL="1447800" indent="-304800"/>
            <a:lvl4pPr marL="1854200" indent="-254000"/>
            <a:lvl5pPr marL="2311400" indent="-254000"/>
            <a:lvl6pPr marL="2768600" indent="-254000"/>
            <a:lvl7pPr marL="3225800" indent="-254000"/>
            <a:lvl8pPr marL="3683000" indent="-254000"/>
            <a:lvl9pPr marL="4140200" indent="-254000"/>
          </a:lstStyle>
          <a:p>
            <a:pPr algn="l" indent="-342900" marL="342900" defTabSz="9144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algn="l" lvl="1" indent="-285750" marL="742950" defTabSz="9144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b="false" i="false" strike="noStrike" u="none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algn="l" lvl="2" indent="-228600" marL="1143000" defTabSz="9144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algn="l" lvl="3" indent="-228600" marL="1600200" defTabSz="9144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algn="l" lvl="4" indent="-228600" marL="2057400" defTabSz="9144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b="false" i="false" strike="noStrike" u="none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name="AutoShape 3" id="3"/>
          <p:cNvSpPr/>
          <p:nvPr>
            <p:ph idx="3" type="body" sz="quarter"/>
          </p:nvPr>
        </p:nvSpPr>
        <p:spPr>
          <a:xfrm rot="0" flipH="false" flipV="false"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l" defTabSz="9144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4" type="body" sz="quarter" hasCustomPrompt="true"/>
          </p:nvPr>
        </p:nvSpPr>
        <p:spPr>
          <a:xfrm rot="0" flipH="false" flipV="false"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ctr" defTabSz="914400">
              <a:lnSpc>
                <a:spcPct val="100000"/>
              </a:lnSpc>
              <a:defRPr sz="12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 defTabSz="91440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name="AutoShape 6" id="6"/>
          <p:cNvSpPr/>
          <p:nvPr>
            <p:ph idx="5" type="body" sz="quarter" hasCustomPrompt="true"/>
          </p:nvPr>
        </p:nvSpPr>
        <p:spPr>
          <a:xfrm rot="0" flipH="false" flipV="false"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r" defTabSz="914400">
              <a:lnSpc>
                <a:spcPct val="100000"/>
              </a:lnSpc>
              <a:defRPr sz="1200" b="false" i="false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algn="r" marL="0" indent="0" defTabSz="914400">
              <a:lnSpc>
                <a:spcPct val="100000"/>
              </a:lnSpc>
            </a:pPr>
            <a:fld type="slidenum" id="{F2C8FCFB-48C7-464A-A40E-14FC8E48FFAC}">
              <a:rPr b="false" i="false" strike="noStrike" u="none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57483700" r:id="rId2"/>
    <p:sldLayoutId id="2157483701" r:id="rId3"/>
    <p:sldLayoutId id="2157483702" r:id="rId4"/>
    <p:sldLayoutId id="2157483703" r:id="rId5"/>
    <p:sldLayoutId id="2157483704" r:id="rId6"/>
    <p:sldLayoutId id="2157483705" r:id="rId7"/>
    <p:sldLayoutId id="2157483706" r:id="rId8"/>
    <p:sldLayoutId id="2157483707" r:id="rId9"/>
    <p:sldLayoutId id="2157483708" r:id="rId10"/>
    <p:sldLayoutId id="2157483709" r:id="rId11"/>
    <p:sldLayoutId id="215748371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https://data.dtu.dk/articles/dataset/QM9_Charge_Densities_and_Energies_Calculated_with_VASP/16794500" TargetMode="External" Type="http://schemas.openxmlformats.org/officeDocument/2006/relationships/hyperlink"/><Relationship Id="rId2" Target="../media/image3.png" Type="http://schemas.openxmlformats.org/officeDocument/2006/relationships/image"/><Relationship Id="rId3" Target="../notesSlides/notesSlide4.xml" Type="http://schemas.openxmlformats.org/officeDocument/2006/relationships/notesSlide"/><Relationship Id="rId4" Target="https://dataverse.harvard.edu/dataverse/EDBench" TargetMode="External" Type="http://schemas.openxmlformats.org/officeDocument/2006/relationships/hyperlink"/><Relationship Id="rId5" Target="https://dataverse.harvard.edu/dataverse/EDBench" TargetMode="External" Type="http://schemas.openxmlformats.org/officeDocument/2006/relationships/hyperlink"/><Relationship Id="rId6" Target="https://libdrive.ethz.ch/index.php/s/X5vOBNSITAG5vzM?path=/wfns" TargetMode="External" Type="http://schemas.openxmlformats.org/officeDocument/2006/relationships/hyperlink"/><Relationship Id="rId7" Target="https://libdrive.ethz.ch/index.php/s/X5vOBNSITAG5vzM?path=/wfns" TargetMode="External" Type="http://schemas.openxmlformats.org/officeDocument/2006/relationships/hyperlink"/><Relationship Id="rId8" Target="https://libdrive.ethz.ch/index.php/s/X5vOBNSITAG5vzM?path=/wfns" TargetMode="External" Type="http://schemas.openxmlformats.org/officeDocument/2006/relationships/hyperlink"/><Relationship Id="rId9" Target="https://data.dtu.dk/articles/dataset/QM9_Charge_Densities_and_Energies_Calculated_with_VASP/16794500" TargetMode="External" Type="http://schemas.openxmlformats.org/officeDocument/2006/relationships/hyperlink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.png" Type="http://schemas.openxmlformats.org/officeDocument/2006/relationships/image"/><Relationship Id="rId3" Target="../media/image13.png" Type="http://schemas.openxmlformats.org/officeDocument/2006/relationships/image"/><Relationship Id="rId4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4.png" Type="http://schemas.openxmlformats.org/officeDocument/2006/relationships/image"/><Relationship Id="rId3" Target="../media/image3.png" Type="http://schemas.openxmlformats.org/officeDocument/2006/relationships/image"/><Relationship Id="rId4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Relationship Id="rId6" Target="../media/image19.png" Type="http://schemas.openxmlformats.org/officeDocument/2006/relationships/image"/><Relationship Id="rId7" Target="../media/image20.png" Type="http://schemas.openxmlformats.org/officeDocument/2006/relationships/image"/><Relationship Id="rId8" Target="../media/image21.png" Type="http://schemas.openxmlformats.org/officeDocument/2006/relationships/image"/><Relationship Id="rId9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6.png" Type="http://schemas.openxmlformats.org/officeDocument/2006/relationships/image"/><Relationship Id="rId3" Target="../media/image22.png" Type="http://schemas.openxmlformats.org/officeDocument/2006/relationships/image"/><Relationship Id="rId4" Target="../media/image23.png" Type="http://schemas.openxmlformats.org/officeDocument/2006/relationships/image"/><Relationship Id="rId5" Target="../media/image24.png" Type="http://schemas.openxmlformats.org/officeDocument/2006/relationships/image"/><Relationship Id="rId6" Target="../media/image25.png" Type="http://schemas.openxmlformats.org/officeDocument/2006/relationships/image"/><Relationship Id="rId7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Relationship Id="rId4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6.png" Type="http://schemas.openxmlformats.org/officeDocument/2006/relationships/image"/><Relationship Id="rId3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6.png" Type="http://schemas.openxmlformats.org/officeDocument/2006/relationships/image"/><Relationship Id="rId3" Target="../media/image16.png" Type="http://schemas.openxmlformats.org/officeDocument/2006/relationships/image"/><Relationship Id="rId4" Target="../notesSlides/notesSlide15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7.png" Type="http://schemas.openxmlformats.org/officeDocument/2006/relationships/image"/><Relationship Id="rId3" Target="../media/image16.png" Type="http://schemas.openxmlformats.org/officeDocument/2006/relationships/image"/><Relationship Id="rId4" Target="../notesSlides/notesSlide16.xml" Type="http://schemas.openxmlformats.org/officeDocument/2006/relationships/notesSlide"/></Relationships>
</file>

<file path=ppt/slides/_rels/slide1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8.png" Type="http://schemas.openxmlformats.org/officeDocument/2006/relationships/image"/><Relationship Id="rId3" Target="../media/image16.png" Type="http://schemas.openxmlformats.org/officeDocument/2006/relationships/image"/><Relationship Id="rId4" Target="../notesSlides/notesSlide17.xml" Type="http://schemas.openxmlformats.org/officeDocument/2006/relationships/notesSlide"/></Relationships>
</file>

<file path=ppt/slides/_rels/slide1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9.png" Type="http://schemas.openxmlformats.org/officeDocument/2006/relationships/image"/><Relationship Id="rId3" Target="../media/image16.png" Type="http://schemas.openxmlformats.org/officeDocument/2006/relationships/image"/><Relationship Id="rId4" Target="../notesSlides/notesSlide18.xml" Type="http://schemas.openxmlformats.org/officeDocument/2006/relationships/notesSlide"/></Relationships>
</file>

<file path=ppt/slides/_rels/slide1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0.png" Type="http://schemas.openxmlformats.org/officeDocument/2006/relationships/image"/><Relationship Id="rId3" Target="../media/image16.png" Type="http://schemas.openxmlformats.org/officeDocument/2006/relationships/image"/><Relationship Id="rId4" Target="../notesSlides/notesSlide19.xml" Type="http://schemas.openxmlformats.org/officeDocument/2006/relationships/notesSlide"/></Relationships>
</file>

<file path=ppt/slides/_rels/slide2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1.png" Type="http://schemas.openxmlformats.org/officeDocument/2006/relationships/image"/><Relationship Id="rId3" Target="../media/image16.png" Type="http://schemas.openxmlformats.org/officeDocument/2006/relationships/image"/><Relationship Id="rId4" Target="../notesSlides/notesSlide20.xml" Type="http://schemas.openxmlformats.org/officeDocument/2006/relationships/notesSlide"/></Relationships>
</file>

<file path=ppt/slides/_rels/slide2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2.png" Type="http://schemas.openxmlformats.org/officeDocument/2006/relationships/image"/><Relationship Id="rId3" Target="../media/image33.png" Type="http://schemas.openxmlformats.org/officeDocument/2006/relationships/image"/><Relationship Id="rId4" Target="../notesSlides/notesSlide21.xml" Type="http://schemas.openxmlformats.org/officeDocument/2006/relationships/notesSlide"/></Relationships>
</file>

<file path=ppt/slides/_rels/slide2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4.png" Type="http://schemas.openxmlformats.org/officeDocument/2006/relationships/image"/><Relationship Id="rId3" Target="../media/image35.png" Type="http://schemas.openxmlformats.org/officeDocument/2006/relationships/image"/><Relationship Id="rId4" Target="../notesSlides/notesSlide22.xml" Type="http://schemas.openxmlformats.org/officeDocument/2006/relationships/notesSlide"/></Relationships>
</file>

<file path=ppt/slides/_rels/slide2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6.png" Type="http://schemas.openxmlformats.org/officeDocument/2006/relationships/image"/><Relationship Id="rId3" Target="../media/image34.png" Type="http://schemas.openxmlformats.org/officeDocument/2006/relationships/image"/><Relationship Id="rId4" Target="../notesSlides/notesSlide23.xml" Type="http://schemas.openxmlformats.org/officeDocument/2006/relationships/notesSlide"/></Relationships>
</file>

<file path=ppt/slides/_rels/slide2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7.png" Type="http://schemas.openxmlformats.org/officeDocument/2006/relationships/image"/><Relationship Id="rId3" Target="../media/image34.png" Type="http://schemas.openxmlformats.org/officeDocument/2006/relationships/image"/><Relationship Id="rId4" Target="../notesSlides/notesSlide24.xml" Type="http://schemas.openxmlformats.org/officeDocument/2006/relationships/notesSlide"/></Relationships>
</file>

<file path=ppt/slides/_rels/slide2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5.xml" Type="http://schemas.openxmlformats.org/officeDocument/2006/relationships/notesSlide"/><Relationship Id="rId3" Target="../media/image3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00206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close/>
              </a:path>
            </a:pathLst>
          </a:custGeom>
          <a:solidFill>
            <a:srgbClr val="00206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863556" y="3125562"/>
            <a:ext cx="16558974" cy="124650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914400">
              <a:lnSpc>
                <a:spcPts val="4860"/>
              </a:lnSpc>
              <a:defRPr/>
            </a:pPr>
            <a:r>
              <a:rPr lang="en-US" b="true" i="false" strike="noStrike" u="none" sz="4500" spc="3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电子密度数据与计算方法调研</a:t>
            </a:r>
            <a:endParaRPr lang="en-US" sz="1100"/>
          </a:p>
          <a:p>
            <a:pPr algn="ctr" marL="0" indent="0" defTabSz="914400">
              <a:lnSpc>
                <a:spcPts val="4860"/>
              </a:lnSpc>
            </a:pPr>
            <a:r>
              <a:rPr lang="en-US" b="true" i="false" strike="noStrike" u="none" sz="4500" spc="3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——数据样例、分子表示与电子结构计算流程</a:t>
            </a:r>
          </a:p>
        </p:txBody>
      </p:sp>
      <p:cxnSp>
        <p:nvCxnSpPr>
          <p:cNvPr name="Connector 4" id="4"/>
          <p:cNvCxnSpPr/>
          <p:nvPr/>
        </p:nvCxnSpPr>
        <p:spPr>
          <a:xfrm rot="12840" flipH="false" flipV="false">
            <a:off x="3398463" y="6363281"/>
            <a:ext cx="11492217" cy="0"/>
          </a:xfrm>
          <a:prstGeom prst="line">
            <a:avLst/>
          </a:prstGeom>
          <a:noFill/>
          <a:ln w="12700" cap="rnd">
            <a:solidFill>
              <a:srgbClr val="FFFFFF">
                <a:alpha val="100000"/>
              </a:srgbClr>
            </a:solidFill>
            <a:prstDash val="solid"/>
            <a:headEnd type="none" w="sm" len="sm"/>
            <a:tailEnd type="none" w="sm" len="sm"/>
          </a:ln>
        </p:spPr>
      </p:cxnSp>
      <p:sp>
        <p:nvSpPr>
          <p:cNvPr name="AutoShape 5" id="5"/>
          <p:cNvSpPr txBox="true"/>
          <p:nvPr/>
        </p:nvSpPr>
        <p:spPr>
          <a:xfrm rot="0" flipH="false" flipV="false">
            <a:off x="1604010" y="4728210"/>
            <a:ext cx="15493365" cy="166179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914400">
              <a:lnSpc>
                <a:spcPts val="432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Survey of Electron Density Data and Computational Methods</a:t>
            </a:r>
            <a:endParaRPr lang="en-US" sz="1100"/>
          </a:p>
          <a:p>
            <a:pPr algn="ctr" marL="0" indent="0" defTabSz="914400">
              <a:lnSpc>
                <a:spcPts val="4320"/>
              </a:lnSpc>
            </a:pPr>
            <a:r>
              <a:rPr lang="en-US" b="true" i="false" strike="noStrike" u="none" sz="3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Examples, Molecular Representations, and Electronic Structure Calculation Workflows</a:t>
            </a:r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6858953" y="7044690"/>
            <a:ext cx="4168140" cy="45656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914400">
              <a:lnSpc>
                <a:spcPts val="3565"/>
              </a:lnSpc>
              <a:defRPr/>
            </a:pPr>
            <a:r>
              <a:rPr lang="en-US" b="true" i="false" strike="noStrike" u="none" sz="3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2026</a:t>
            </a:r>
            <a:r>
              <a:rPr lang="en-US" b="true" i="false" strike="noStrike" u="none" sz="33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年</a:t>
            </a:r>
            <a:r>
              <a:rPr lang="en-US" b="true" i="false" strike="noStrike" u="none" sz="3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lang="en-US" b="true" i="false" strike="noStrike" u="none" sz="33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月27日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7075580" y="7907788"/>
            <a:ext cx="3731895" cy="830580"/>
          </a:xfrm>
          <a:prstGeom prst="rect">
            <a:avLst/>
          </a:prstGeom>
          <a:noFill/>
          <a:ln w="1905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marL="0" indent="0" defTabSz="914400">
              <a:lnSpc>
                <a:spcPts val="3240"/>
              </a:lnSpc>
              <a:defRPr/>
            </a:pPr>
            <a:r>
              <a:rPr lang="en-US" b="true" i="false" strike="noStrike" u="none" sz="30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汇报人：谭雨彤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main="http://schemas.microsoft.com/office/powerpoint/2010/main">
  <p:cSld>
    <p:bg>
      <p:bgPr>
        <a:solidFill>
          <a:srgbClr val="00206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438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close/>
              </a:path>
            </a:pathLst>
          </a:custGeom>
          <a:solidFill>
            <a:srgbClr val="00206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0" flipH="false" flipV="false">
            <a:off x="-1403471" y="-16824779"/>
            <a:ext cx="20522281" cy="20522281"/>
          </a:xfrm>
          <a:custGeom>
            <a:avLst/>
            <a:gdLst/>
            <a:ahLst/>
            <a:cxnLst/>
            <a:rect r="r" b="b" t="t" l="l"/>
            <a:pathLst>
              <a:path h="20522281" w="20522281">
                <a:moveTo>
                  <a:pt x="0" y="10261187"/>
                </a:moveTo>
                <a:cubicBezTo>
                  <a:pt x="0" y="4594098"/>
                  <a:pt x="4594098" y="0"/>
                  <a:pt x="10261187" y="0"/>
                </a:cubicBezTo>
                <a:cubicBezTo>
                  <a:pt x="15928278" y="0"/>
                  <a:pt x="20522281" y="4594098"/>
                  <a:pt x="20522281" y="10261187"/>
                </a:cubicBezTo>
                <a:cubicBezTo>
                  <a:pt x="20522281" y="15928278"/>
                  <a:pt x="15928181" y="20522281"/>
                  <a:pt x="10261187" y="20522281"/>
                </a:cubicBezTo>
                <a:cubicBezTo>
                  <a:pt x="4594195" y="20522281"/>
                  <a:pt x="0" y="15928181"/>
                  <a:pt x="0" y="10261187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7173595" y="1528445"/>
            <a:ext cx="3816350" cy="5537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914400">
              <a:lnSpc>
                <a:spcPts val="4320"/>
              </a:lnSpc>
              <a:defRPr/>
            </a:pPr>
            <a:r>
              <a:rPr lang="en-US" b="true" i="false" strike="noStrike" u="none" sz="3600">
                <a:solidFill>
                  <a:srgbClr val="2F559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CONTENTS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7427747" y="187109"/>
            <a:ext cx="3432505" cy="124650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914400">
              <a:lnSpc>
                <a:spcPts val="9720"/>
              </a:lnSpc>
              <a:defRPr/>
            </a:pPr>
            <a:r>
              <a:rPr lang="en-US" b="true" i="false" strike="noStrike" u="none" sz="8100">
                <a:solidFill>
                  <a:srgbClr val="2F5597"/>
                </a:solidFill>
                <a:latin typeface="微软雅黑"/>
                <a:ea typeface="微软雅黑"/>
                <a:cs typeface="微软雅黑"/>
                <a:sym typeface="微软雅黑"/>
              </a:rPr>
              <a:t>目 录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75360" flipH="false" flipV="true">
            <a:off x="7839710" y="1461770"/>
            <a:ext cx="2543175" cy="69215"/>
          </a:xfrm>
          <a:prstGeom prst="line">
            <a:avLst/>
          </a:prstGeom>
          <a:noFill/>
          <a:ln w="25400" cap="rnd">
            <a:solidFill>
              <a:srgbClr val="2F5597">
                <a:alpha val="100000"/>
              </a:srgbClr>
            </a:solidFill>
            <a:prstDash val="solid"/>
            <a:headEnd type="none" w="sm" len="sm"/>
            <a:tailEnd type="none" w="sm" len="sm"/>
          </a:ln>
        </p:spPr>
      </p:cxnSp>
      <p:sp>
        <p:nvSpPr>
          <p:cNvPr name="AutoShape 7" id="7"/>
          <p:cNvSpPr txBox="true"/>
          <p:nvPr/>
        </p:nvSpPr>
        <p:spPr>
          <a:xfrm rot="0" flipH="false" flipV="false">
            <a:off x="2133600" y="4838700"/>
            <a:ext cx="6122670" cy="6013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914400">
              <a:lnSpc>
                <a:spcPts val="4690"/>
              </a:lnSpc>
              <a:defRPr/>
            </a:pPr>
            <a:r>
              <a:rPr lang="en-US" b="true" i="false" strike="noStrike" u="none" sz="42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电子密度的基础概念</a:t>
            </a:r>
            <a:endParaRPr lang="en-US" sz="1100"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1464945" y="4594327"/>
            <a:ext cx="1102804" cy="1102614"/>
          </a:xfrm>
          <a:custGeom>
            <a:avLst/>
            <a:gdLst/>
            <a:ahLst/>
            <a:cxnLst/>
            <a:rect r="r" b="b" t="t" l="l"/>
            <a:pathLst>
              <a:path h="1102614" w="1102804">
                <a:moveTo>
                  <a:pt x="0" y="551307"/>
                </a:moveTo>
                <a:cubicBezTo>
                  <a:pt x="0" y="246888"/>
                  <a:pt x="246888" y="0"/>
                  <a:pt x="551402" y="0"/>
                </a:cubicBezTo>
                <a:cubicBezTo>
                  <a:pt x="855917" y="0"/>
                  <a:pt x="1102805" y="246888"/>
                  <a:pt x="1102805" y="551307"/>
                </a:cubicBezTo>
                <a:cubicBezTo>
                  <a:pt x="1102805" y="855726"/>
                  <a:pt x="855917" y="1102614"/>
                  <a:pt x="551402" y="1102614"/>
                </a:cubicBezTo>
                <a:cubicBezTo>
                  <a:pt x="246888" y="1102614"/>
                  <a:pt x="0" y="855821"/>
                  <a:pt x="0" y="551307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 cap="sq">
            <a:solidFill>
              <a:srgbClr val="1135B9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1464945" y="4580039"/>
            <a:ext cx="1102824" cy="11169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50800" rIns="50800" tIns="50800" bIns="50800">
            <a:noAutofit/>
          </a:bodyPr>
          <a:lstStyle/>
          <a:p>
            <a:pPr algn="ctr" marL="0" indent="0" defTabSz="914400">
              <a:lnSpc>
                <a:spcPts val="5760"/>
              </a:lnSpc>
              <a:defRPr/>
            </a:pPr>
            <a:r>
              <a:rPr lang="en-US" b="true" i="false" strike="noStrike" u="none" sz="4800">
                <a:solidFill>
                  <a:srgbClr val="1135B9"/>
                </a:solidFill>
                <a:latin typeface="Arimo Bold"/>
                <a:ea typeface="Arimo Bold"/>
                <a:cs typeface="Arimo Bold"/>
                <a:sym typeface="Arimo Bold"/>
              </a:rPr>
              <a:t>1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2840355" y="6420485"/>
            <a:ext cx="7270750" cy="64579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914400">
              <a:lnSpc>
                <a:spcPts val="5040"/>
              </a:lnSpc>
              <a:defRPr/>
            </a:pPr>
            <a:r>
              <a:rPr lang="en-US" b="true" i="false" strike="noStrike" u="none" sz="42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阿司匹林的分子表示</a:t>
            </a:r>
            <a:endParaRPr lang="en-US" sz="1100"/>
          </a:p>
        </p:txBody>
      </p:sp>
      <p:sp>
        <p:nvSpPr>
          <p:cNvPr name="Freeform 11" id="11"/>
          <p:cNvSpPr/>
          <p:nvPr/>
        </p:nvSpPr>
        <p:spPr>
          <a:xfrm rot="0" flipH="false" flipV="false">
            <a:off x="1464945" y="6258754"/>
            <a:ext cx="1102804" cy="1102614"/>
          </a:xfrm>
          <a:custGeom>
            <a:avLst/>
            <a:gdLst/>
            <a:ahLst/>
            <a:cxnLst/>
            <a:rect r="r" b="b" t="t" l="l"/>
            <a:pathLst>
              <a:path h="1102614" w="1102804">
                <a:moveTo>
                  <a:pt x="0" y="551307"/>
                </a:moveTo>
                <a:cubicBezTo>
                  <a:pt x="0" y="246888"/>
                  <a:pt x="246888" y="0"/>
                  <a:pt x="551402" y="0"/>
                </a:cubicBezTo>
                <a:cubicBezTo>
                  <a:pt x="855917" y="0"/>
                  <a:pt x="1102805" y="246888"/>
                  <a:pt x="1102805" y="551307"/>
                </a:cubicBezTo>
                <a:cubicBezTo>
                  <a:pt x="1102805" y="855726"/>
                  <a:pt x="855917" y="1102614"/>
                  <a:pt x="551402" y="1102614"/>
                </a:cubicBezTo>
                <a:cubicBezTo>
                  <a:pt x="246888" y="1102614"/>
                  <a:pt x="0" y="855821"/>
                  <a:pt x="0" y="551307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 cap="sq">
            <a:solidFill>
              <a:srgbClr val="1135B9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64945" y="6244466"/>
            <a:ext cx="1102824" cy="11169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50800" rIns="50800" tIns="50800" bIns="50800">
            <a:noAutofit/>
          </a:bodyPr>
          <a:lstStyle/>
          <a:p>
            <a:pPr algn="ctr" marL="0" indent="0" defTabSz="914400">
              <a:lnSpc>
                <a:spcPts val="5760"/>
              </a:lnSpc>
              <a:defRPr/>
            </a:pPr>
            <a:r>
              <a:rPr lang="en-US" b="true" i="false" strike="noStrike" u="none" sz="4800">
                <a:solidFill>
                  <a:srgbClr val="1135B9"/>
                </a:solidFill>
                <a:latin typeface="Arimo Bold"/>
                <a:ea typeface="Arimo Bold"/>
                <a:cs typeface="Arimo Bold"/>
                <a:sym typeface="Arimo Bold"/>
              </a:rPr>
              <a:t>3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11934825" y="4773295"/>
            <a:ext cx="4984115" cy="64579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914400">
              <a:lnSpc>
                <a:spcPts val="5040"/>
              </a:lnSpc>
              <a:defRPr/>
            </a:pPr>
            <a:r>
              <a:rPr lang="en-US" b="true" i="false" strike="noStrike" u="none" sz="42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数据集样例展示</a:t>
            </a:r>
            <a:endParaRPr lang="en-US" sz="1100"/>
          </a:p>
        </p:txBody>
      </p:sp>
      <p:sp>
        <p:nvSpPr>
          <p:cNvPr name="Freeform 14" id="14"/>
          <p:cNvSpPr/>
          <p:nvPr/>
        </p:nvSpPr>
        <p:spPr>
          <a:xfrm rot="0" flipH="false" flipV="false">
            <a:off x="10646273" y="4594327"/>
            <a:ext cx="1102805" cy="1102614"/>
          </a:xfrm>
          <a:custGeom>
            <a:avLst/>
            <a:gdLst/>
            <a:ahLst/>
            <a:cxnLst/>
            <a:rect r="r" b="b" t="t" l="l"/>
            <a:pathLst>
              <a:path h="1102614" w="1102805">
                <a:moveTo>
                  <a:pt x="0" y="551307"/>
                </a:moveTo>
                <a:cubicBezTo>
                  <a:pt x="0" y="246888"/>
                  <a:pt x="246888" y="0"/>
                  <a:pt x="551402" y="0"/>
                </a:cubicBezTo>
                <a:cubicBezTo>
                  <a:pt x="855917" y="0"/>
                  <a:pt x="1102805" y="246888"/>
                  <a:pt x="1102805" y="551307"/>
                </a:cubicBezTo>
                <a:cubicBezTo>
                  <a:pt x="1102805" y="855726"/>
                  <a:pt x="855917" y="1102614"/>
                  <a:pt x="551402" y="1102614"/>
                </a:cubicBezTo>
                <a:cubicBezTo>
                  <a:pt x="246888" y="1102614"/>
                  <a:pt x="0" y="855821"/>
                  <a:pt x="0" y="551307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 cap="sq">
            <a:solidFill>
              <a:srgbClr val="1135B9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10646273" y="4580039"/>
            <a:ext cx="1102824" cy="11169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50800" rIns="50800" tIns="50800" bIns="50800">
            <a:noAutofit/>
          </a:bodyPr>
          <a:lstStyle/>
          <a:p>
            <a:pPr algn="ctr" marL="0" indent="0" defTabSz="914400">
              <a:lnSpc>
                <a:spcPts val="5760"/>
              </a:lnSpc>
              <a:defRPr/>
            </a:pPr>
            <a:r>
              <a:rPr lang="en-US" b="true" i="false" strike="noStrike" u="none" sz="4800">
                <a:solidFill>
                  <a:srgbClr val="1135B9"/>
                </a:solidFill>
                <a:latin typeface="Arimo Bold"/>
                <a:ea typeface="Arimo Bold"/>
                <a:cs typeface="Arimo Bold"/>
                <a:sym typeface="Arimo Bold"/>
              </a:rPr>
              <a:t>2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12021922" y="6419717"/>
            <a:ext cx="5829300" cy="64579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914400">
              <a:lnSpc>
                <a:spcPts val="5040"/>
              </a:lnSpc>
              <a:defRPr/>
            </a:pPr>
            <a:r>
              <a:rPr lang="en-US" b="true" i="false" strike="noStrike" u="none" sz="42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电子密度的计算方法</a:t>
            </a:r>
            <a:endParaRPr lang="en-US" sz="1100"/>
          </a:p>
        </p:txBody>
      </p:sp>
      <p:sp>
        <p:nvSpPr>
          <p:cNvPr name="Freeform 17" id="17"/>
          <p:cNvSpPr/>
          <p:nvPr/>
        </p:nvSpPr>
        <p:spPr>
          <a:xfrm rot="0" flipH="false" flipV="false">
            <a:off x="10646512" y="6344888"/>
            <a:ext cx="1102805" cy="1102614"/>
          </a:xfrm>
          <a:custGeom>
            <a:avLst/>
            <a:gdLst/>
            <a:ahLst/>
            <a:cxnLst/>
            <a:rect r="r" b="b" t="t" l="l"/>
            <a:pathLst>
              <a:path h="1102614" w="1102805">
                <a:moveTo>
                  <a:pt x="0" y="551307"/>
                </a:moveTo>
                <a:cubicBezTo>
                  <a:pt x="0" y="246888"/>
                  <a:pt x="246888" y="0"/>
                  <a:pt x="551402" y="0"/>
                </a:cubicBezTo>
                <a:cubicBezTo>
                  <a:pt x="855916" y="0"/>
                  <a:pt x="1102804" y="246888"/>
                  <a:pt x="1102804" y="551307"/>
                </a:cubicBezTo>
                <a:cubicBezTo>
                  <a:pt x="1102804" y="855726"/>
                  <a:pt x="855916" y="1102614"/>
                  <a:pt x="551402" y="1102614"/>
                </a:cubicBezTo>
                <a:cubicBezTo>
                  <a:pt x="246888" y="1102614"/>
                  <a:pt x="0" y="855821"/>
                  <a:pt x="0" y="551307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 cap="sq">
            <a:solidFill>
              <a:srgbClr val="1135B9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10646512" y="6330600"/>
            <a:ext cx="1102824" cy="11169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50800" rIns="50800" tIns="50800" bIns="50800">
            <a:noAutofit/>
          </a:bodyPr>
          <a:lstStyle/>
          <a:p>
            <a:pPr algn="ctr" marL="0" indent="0" defTabSz="914400">
              <a:lnSpc>
                <a:spcPts val="5760"/>
              </a:lnSpc>
              <a:defRPr/>
            </a:pPr>
            <a:r>
              <a:rPr lang="en-US" b="true" i="false" strike="noStrike" u="none" sz="4800">
                <a:solidFill>
                  <a:srgbClr val="1135B9"/>
                </a:solidFill>
                <a:latin typeface="Arimo Bold"/>
                <a:ea typeface="Arimo Bold"/>
                <a:cs typeface="Arimo Bold"/>
                <a:sym typeface="Arimo Bold"/>
              </a:rPr>
              <a:t>4</a:t>
            </a:r>
            <a:endParaRPr lang="en-US" sz="1100"/>
          </a:p>
        </p:txBody>
      </p:sp>
    </p:spTree>
  </p:cSld>
  <p:clrMapOvr>
    <a:masterClrMapping/>
  </p:clrMapOvr>
  <p:transition main:dur="500">
    <p:fade thruBlk="false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7716" r="0" t="3859" b="0"/>
          <a:stretch>
            <a:fillRect/>
          </a:stretch>
        </p:blipFill>
        <p:spPr>
          <a:xfrm rot="0" flipH="false" flipV="false">
            <a:off x="11887200" y="2506345"/>
            <a:ext cx="5467350" cy="569595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Freeform 3" id="3"/>
          <p:cNvSpPr/>
          <p:nvPr/>
        </p:nvSpPr>
        <p:spPr>
          <a:xfrm rot="0" flipH="false" flipV="false">
            <a:off x="-1235075" y="-19050"/>
            <a:ext cx="3366135" cy="10407650"/>
          </a:xfrm>
          <a:custGeom>
            <a:avLst/>
            <a:gdLst/>
            <a:ahLst/>
            <a:cxnLst/>
            <a:rect r="r" b="b" t="t" l="l"/>
            <a:pathLst>
              <a:path h="10407650" w="3366135">
                <a:moveTo>
                  <a:pt x="0" y="0"/>
                </a:moveTo>
                <a:lnTo>
                  <a:pt x="3366135" y="0"/>
                </a:lnTo>
                <a:lnTo>
                  <a:pt x="3366135" y="10407650"/>
                </a:lnTo>
                <a:lnTo>
                  <a:pt x="0" y="10407650"/>
                </a:lnTo>
                <a:close/>
              </a:path>
            </a:pathLst>
          </a:custGeom>
          <a:solidFill>
            <a:srgbClr val="6083BA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-1235075" y="-201997"/>
            <a:ext cx="3366135" cy="10590597"/>
          </a:xfrm>
          <a:prstGeom prst="rect">
            <a:avLst/>
          </a:prstGeom>
          <a:noFill/>
          <a:ln w="19050" cmpd="sng" cap="flat">
            <a:noFill/>
            <a:prstDash val="solid"/>
            <a:round/>
          </a:ln>
        </p:spPr>
        <p:txBody>
          <a:bodyPr anchor="ctr" rtlCol="false" anchorCtr="false" vert="horz" wrap="square" lIns="51395" rIns="51395" tIns="51395" bIns="51395"/>
          <a:lstStyle/>
          <a:p>
            <a:pPr algn="ctr">
              <a:defRPr/>
            </a:pPr>
            <a:endParaRPr/>
          </a:p>
        </p:txBody>
      </p:sp>
      <p:cxnSp>
        <p:nvCxnSpPr>
          <p:cNvPr name="Connector 5" id="5"/>
          <p:cNvCxnSpPr/>
          <p:nvPr/>
        </p:nvCxnSpPr>
        <p:spPr>
          <a:xfrm rot="0" flipH="false" flipV="false">
            <a:off x="2442549" y="1970426"/>
            <a:ext cx="523869" cy="0"/>
          </a:xfrm>
          <a:prstGeom prst="line">
            <a:avLst/>
          </a:prstGeom>
          <a:noFill/>
          <a:ln w="12700" cap="flat">
            <a:solidFill>
              <a:srgbClr val="F4F4F4">
                <a:alpha val="100000"/>
              </a:srgbClr>
            </a:solidFill>
            <a:prstDash val="solid"/>
            <a:headEnd type="none" w="sm" len="sm"/>
            <a:tailEnd type="none" w="sm" len="sm"/>
          </a:ln>
        </p:spPr>
      </p:cxnSp>
      <p:cxnSp>
        <p:nvCxnSpPr>
          <p:cNvPr name="Connector 6" id="6"/>
          <p:cNvCxnSpPr/>
          <p:nvPr/>
        </p:nvCxnSpPr>
        <p:spPr>
          <a:xfrm rot="0" flipH="false" flipV="false">
            <a:off x="2442549" y="4341947"/>
            <a:ext cx="523869" cy="0"/>
          </a:xfrm>
          <a:prstGeom prst="line">
            <a:avLst/>
          </a:prstGeom>
          <a:noFill/>
          <a:ln w="12700" cap="flat">
            <a:solidFill>
              <a:srgbClr val="F4F4F4">
                <a:alpha val="100000"/>
              </a:srgbClr>
            </a:solidFill>
            <a:prstDash val="solid"/>
            <a:headEnd type="none" w="sm" len="sm"/>
            <a:tailEnd type="none" w="sm" len="sm"/>
          </a:ln>
        </p:spPr>
      </p:cxnSp>
      <p:cxnSp>
        <p:nvCxnSpPr>
          <p:cNvPr name="Connector 7" id="7"/>
          <p:cNvCxnSpPr/>
          <p:nvPr/>
        </p:nvCxnSpPr>
        <p:spPr>
          <a:xfrm rot="0" flipH="false" flipV="false">
            <a:off x="2442549" y="6618045"/>
            <a:ext cx="523869" cy="0"/>
          </a:xfrm>
          <a:prstGeom prst="line">
            <a:avLst/>
          </a:prstGeom>
          <a:noFill/>
          <a:ln w="12700" cap="flat">
            <a:solidFill>
              <a:srgbClr val="F4F4F4">
                <a:alpha val="100000"/>
              </a:srgbClr>
            </a:solidFill>
            <a:prstDash val="solid"/>
            <a:headEnd type="none" w="sm" len="sm"/>
            <a:tailEnd type="none" w="sm" len="sm"/>
          </a:ln>
        </p:spPr>
      </p:cxnSp>
      <p:cxnSp>
        <p:nvCxnSpPr>
          <p:cNvPr name="Connector 8" id="8"/>
          <p:cNvCxnSpPr/>
          <p:nvPr/>
        </p:nvCxnSpPr>
        <p:spPr>
          <a:xfrm rot="0" flipH="false" flipV="false">
            <a:off x="-423469" y="4145452"/>
            <a:ext cx="3375630" cy="0"/>
          </a:xfrm>
          <a:prstGeom prst="line">
            <a:avLst/>
          </a:prstGeom>
          <a:noFill/>
          <a:ln w="25400" cap="flat">
            <a:solidFill>
              <a:srgbClr val="FFFFFF">
                <a:alpha val="100000"/>
              </a:srgbClr>
            </a:solidFill>
            <a:prstDash val="solid"/>
            <a:headEnd type="none" w="sm" len="sm"/>
            <a:tailEnd type="none" w="sm" len="sm"/>
          </a:ln>
        </p:spPr>
      </p:cxnSp>
      <p:cxnSp>
        <p:nvCxnSpPr>
          <p:cNvPr name="Connector 9" id="9"/>
          <p:cNvCxnSpPr/>
          <p:nvPr/>
        </p:nvCxnSpPr>
        <p:spPr>
          <a:xfrm rot="0" flipH="false" flipV="false">
            <a:off x="-795646" y="6096999"/>
            <a:ext cx="3375630" cy="0"/>
          </a:xfrm>
          <a:prstGeom prst="line">
            <a:avLst/>
          </a:prstGeom>
          <a:noFill/>
          <a:ln w="25400" cap="flat">
            <a:solidFill>
              <a:srgbClr val="FFFFFF">
                <a:alpha val="100000"/>
              </a:srgbClr>
            </a:solidFill>
            <a:prstDash val="solid"/>
            <a:headEnd type="none" w="sm" len="sm"/>
            <a:tailEnd type="none" w="sm" len="sm"/>
          </a:ln>
        </p:spPr>
      </p:cxnSp>
      <p:cxnSp>
        <p:nvCxnSpPr>
          <p:cNvPr name="Connector 10" id="10"/>
          <p:cNvCxnSpPr/>
          <p:nvPr/>
        </p:nvCxnSpPr>
        <p:spPr>
          <a:xfrm rot="0" flipH="false" flipV="false">
            <a:off x="-385415" y="8165809"/>
            <a:ext cx="3375630" cy="0"/>
          </a:xfrm>
          <a:prstGeom prst="line">
            <a:avLst/>
          </a:prstGeom>
          <a:noFill/>
          <a:ln w="25400" cap="flat">
            <a:solidFill>
              <a:srgbClr val="FFFFFF">
                <a:alpha val="100000"/>
              </a:srgbClr>
            </a:solidFill>
            <a:prstDash val="solid"/>
            <a:headEnd type="none" w="sm" len="sm"/>
            <a:tailEnd type="none" w="sm" len="sm"/>
          </a:ln>
        </p:spPr>
      </p:cxnSp>
      <p:sp>
        <p:nvSpPr>
          <p:cNvPr name="Freeform 11" id="11"/>
          <p:cNvSpPr/>
          <p:nvPr/>
        </p:nvSpPr>
        <p:spPr>
          <a:xfrm rot="-5400000" flipH="false" flipV="false">
            <a:off x="388722" y="1322200"/>
            <a:ext cx="1124549" cy="3493287"/>
          </a:xfrm>
          <a:custGeom>
            <a:avLst/>
            <a:gdLst/>
            <a:ahLst/>
            <a:cxnLst/>
            <a:rect r="r" b="b" t="t" l="l"/>
            <a:pathLst>
              <a:path h="3493287" w="1124549">
                <a:moveTo>
                  <a:pt x="1124549" y="0"/>
                </a:moveTo>
                <a:lnTo>
                  <a:pt x="1124549" y="3094206"/>
                </a:lnTo>
                <a:lnTo>
                  <a:pt x="562275" y="3493287"/>
                </a:lnTo>
                <a:lnTo>
                  <a:pt x="0" y="3094206"/>
                </a:lnTo>
                <a:lnTo>
                  <a:pt x="0" y="0"/>
                </a:lnTo>
                <a:lnTo>
                  <a:pt x="1124549" y="0"/>
                </a:lnTo>
                <a:close/>
              </a:path>
            </a:pathLst>
          </a:custGeom>
          <a:solidFill>
            <a:srgbClr val="6083BA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 txBox="true"/>
          <p:nvPr/>
        </p:nvSpPr>
        <p:spPr>
          <a:xfrm rot="-5400000" flipH="false" flipV="false">
            <a:off x="77876" y="1450158"/>
            <a:ext cx="1124550" cy="3237371"/>
          </a:xfrm>
          <a:prstGeom prst="rect">
            <a:avLst/>
          </a:prstGeom>
          <a:noFill/>
          <a:ln w="19050" cmpd="sng" cap="flat">
            <a:noFill/>
            <a:prstDash val="solid"/>
            <a:round/>
          </a:ln>
        </p:spPr>
        <p:txBody>
          <a:bodyPr anchor="ctr" rtlCol="false" anchorCtr="false" vert="horz" wrap="square" lIns="51395" rIns="51395" tIns="51395" bIns="51395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132764" y="2762804"/>
            <a:ext cx="2302611" cy="6013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914400">
              <a:lnSpc>
                <a:spcPts val="4690"/>
              </a:lnSpc>
              <a:defRPr/>
            </a:pPr>
            <a:r>
              <a:rPr lang="en-US" b="true" i="false" strike="noStrike" u="none" sz="3600" spc="732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基础概念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-19452" y="4955306"/>
            <a:ext cx="1943204" cy="39369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914400">
              <a:lnSpc>
                <a:spcPts val="3070"/>
              </a:lnSpc>
              <a:defRPr/>
            </a:pPr>
            <a:r>
              <a:rPr lang="en-US" b="true" i="false" strike="noStrike" u="none" sz="2400" spc="48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数据样例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47226" y="6961039"/>
            <a:ext cx="1943204" cy="39369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914400">
              <a:lnSpc>
                <a:spcPts val="3070"/>
              </a:lnSpc>
              <a:defRPr/>
            </a:pPr>
            <a:r>
              <a:rPr lang="en-US" b="true" i="false" strike="noStrike" u="none" sz="2400" spc="48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分子表示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56751" y="8999856"/>
            <a:ext cx="1943204" cy="39369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914400">
              <a:lnSpc>
                <a:spcPts val="3070"/>
              </a:lnSpc>
              <a:defRPr/>
            </a:pPr>
            <a:r>
              <a:rPr lang="en-US" b="true" i="false" strike="noStrike" u="none" sz="2400" spc="48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计算方法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0" flipH="false" flipV="true">
            <a:off x="3110005" y="1009975"/>
            <a:ext cx="14720500" cy="19050"/>
          </a:xfrm>
          <a:prstGeom prst="line">
            <a:avLst/>
          </a:prstGeom>
          <a:noFill/>
          <a:ln w="38100" cap="rnd">
            <a:solidFill>
              <a:srgbClr val="013E80">
                <a:alpha val="100000"/>
              </a:srgbClr>
            </a:solidFill>
            <a:prstDash val="solid"/>
            <a:headEnd type="none" w="sm" len="sm"/>
            <a:tailEnd type="none" w="sm" len="sm"/>
          </a:ln>
        </p:spPr>
      </p:cxnSp>
      <p:pic>
        <p:nvPicPr>
          <p:cNvPr name="Picture 18" id="18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2182274" y="190806"/>
            <a:ext cx="978530" cy="97855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9" id="19"/>
          <p:cNvSpPr txBox="true"/>
          <p:nvPr/>
        </p:nvSpPr>
        <p:spPr>
          <a:xfrm rot="0" flipH="false" flipV="false">
            <a:off x="3213509" y="267008"/>
            <a:ext cx="12207817" cy="73852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914400">
              <a:lnSpc>
                <a:spcPts val="5760"/>
              </a:lnSpc>
              <a:defRPr/>
            </a:pPr>
            <a:r>
              <a:rPr lang="en-US" b="true" i="false" strike="noStrike" u="none" sz="4800">
                <a:solidFill>
                  <a:srgbClr val="2F5597"/>
                </a:solidFill>
                <a:latin typeface="微软雅黑"/>
                <a:ea typeface="微软雅黑"/>
                <a:cs typeface="微软雅黑"/>
                <a:sym typeface="微软雅黑"/>
              </a:rPr>
              <a:t>电子密度的定义</a:t>
            </a:r>
            <a:endParaRPr lang="en-US" sz="1100"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3124200" y="1257300"/>
            <a:ext cx="9377680" cy="9009380"/>
          </a:xfrm>
          <a:prstGeom prst="rect">
            <a:avLst/>
          </a:prstGeom>
          <a:noFill/>
          <a:ln w="1905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914400">
              <a:lnSpc>
                <a:spcPct val="150000"/>
              </a:lnSpc>
              <a:defRPr/>
            </a:pPr>
            <a:r>
              <a:rPr lang="en-US" b="true" i="false" strike="noStrike" u="none" sz="28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1.物理含义：</a:t>
            </a:r>
            <a:r>
              <a:rPr lang="en-US" b="fals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 defTabSz="914400">
              <a:lnSpc>
                <a:spcPct val="150000"/>
              </a:lnSpc>
            </a:pPr>
            <a:r>
              <a:rPr lang="en-US" b="true" i="false" strike="noStrike" u="none" sz="2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电子密度 </a:t>
            </a:r>
            <a:r>
              <a:rPr lang="en-US" b="true" i="false" strike="noStrike" u="none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ρ(r)</a:t>
            </a:r>
            <a:r>
              <a:rPr lang="en-US" b="true" i="false" strike="noStrike" u="none" sz="2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 </a:t>
            </a:r>
            <a:r>
              <a:rPr lang="en-US" b="false" i="false" strike="noStrike" u="none" sz="2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表示空间位置 </a:t>
            </a:r>
            <a:r>
              <a:rPr lang="en-US" b="false" i="false" strike="noStrike" u="none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b="false" i="false" strike="noStrike" u="none" sz="2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 附近，</a:t>
            </a:r>
            <a:r>
              <a:rPr lang="en-US" b="true" i="false" strike="noStrike" u="none" sz="2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单位体积内的平均电子数</a:t>
            </a:r>
            <a:r>
              <a:rPr lang="en-US" b="false" i="false" strike="noStrike" u="none" sz="2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，</a:t>
            </a:r>
            <a:r>
              <a:rPr lang="en-US" b="fals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 defTabSz="914400">
              <a:lnSpc>
                <a:spcPct val="150000"/>
              </a:lnSpc>
            </a:pPr>
            <a:r>
              <a:rPr lang="en-US" b="false" i="false" strike="noStrike" u="none" sz="2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用于描述电子在三维空间中的分布。</a:t>
            </a:r>
            <a:r>
              <a:rPr lang="en-US" b="fals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 defTabSz="914400">
              <a:lnSpc>
                <a:spcPct val="150000"/>
              </a:lnSpc>
            </a:pPr>
            <a:r>
              <a:rPr lang="en-US" b="true" i="false" strike="noStrike" u="none" sz="28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2.数学表达：</a:t>
            </a:r>
            <a:r>
              <a:rPr lang="en-US" b="fals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 defTabSz="914400">
              <a:lnSpc>
                <a:spcPct val="150000"/>
              </a:lnSpc>
            </a:pPr>
            <a:r>
              <a:rPr lang="en-US" b="false" i="false" strike="noStrike" u="none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∫ ρ(r) dV = N</a:t>
            </a:r>
            <a:r>
              <a:rPr lang="en-US" b="false" i="false" strike="noStrike" u="none" sz="2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（积分范围：整个空间）</a:t>
            </a:r>
            <a:r>
              <a:rPr lang="en-US" b="fals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 defTabSz="914400">
              <a:lnSpc>
                <a:spcPct val="150000"/>
              </a:lnSpc>
            </a:pPr>
            <a:r>
              <a:rPr lang="en-US" b="false" i="false" strike="noStrike" u="none" sz="2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其中，</a:t>
            </a:r>
            <a:r>
              <a:rPr lang="en-US" b="false" i="false" strike="noStrike" u="none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ρ(r)</a:t>
            </a:r>
            <a:r>
              <a:rPr lang="en-US" b="false" i="false" strike="noStrike" u="none" sz="2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 为电子密度，</a:t>
            </a:r>
            <a:r>
              <a:rPr lang="en-US" b="false" i="false" strike="noStrike" u="none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dV</a:t>
            </a:r>
            <a:r>
              <a:rPr lang="en-US" b="false" i="false" strike="noStrike" u="none" sz="2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 为微小体积，</a:t>
            </a:r>
            <a:r>
              <a:rPr lang="en-US" b="false" i="false" strike="noStrike" u="none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b="false" i="false" strike="noStrike" u="none" sz="2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 为体系的总电子数。</a:t>
            </a:r>
            <a:r>
              <a:rPr lang="en-US" b="fals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 defTabSz="914400">
              <a:lnSpc>
                <a:spcPct val="150000"/>
              </a:lnSpc>
            </a:pPr>
            <a:r>
              <a:rPr lang="en-US" b="true" i="false" strike="noStrike" u="none" sz="28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3.基本性质：</a:t>
            </a:r>
            <a:r>
              <a:rPr lang="en-US" b="fals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 defTabSz="914400">
              <a:lnSpc>
                <a:spcPct val="150000"/>
              </a:lnSpc>
            </a:pPr>
            <a:r>
              <a:rPr lang="en-US" b="false" i="false" strike="noStrike" u="none" sz="2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1. 电子密度不小于零：ρ(r) ≥ 0。</a:t>
            </a:r>
            <a:r>
              <a:rPr lang="en-US" b="fals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 defTabSz="914400">
              <a:lnSpc>
                <a:spcPct val="150000"/>
              </a:lnSpc>
            </a:pPr>
            <a:r>
              <a:rPr lang="en-US" b="false" i="false" strike="noStrike" u="none" sz="2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2. 常用单位：电子数/Å³，即每立方埃的电子数。</a:t>
            </a:r>
            <a:r>
              <a:rPr lang="en-US" b="fals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 defTabSz="914400">
              <a:lnSpc>
                <a:spcPct val="150000"/>
              </a:lnSpc>
            </a:pPr>
            <a:r>
              <a:rPr lang="en-US" b="false" i="false" strike="noStrike" u="none" sz="2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3. 全空间积分等于体系的总电子数。</a:t>
            </a:r>
            <a:r>
              <a:rPr lang="en-US" b="fals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 defTabSz="914400">
              <a:lnSpc>
                <a:spcPct val="150000"/>
              </a:lnSpc>
            </a:pPr>
            <a:r>
              <a:rPr lang="en-US" b="true" i="false" strike="noStrike" u="none" sz="28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4.水分子示例(如右图)：</a:t>
            </a:r>
            <a:r>
              <a:rPr lang="en-US" b="fals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 defTabSz="914400">
              <a:lnSpc>
                <a:spcPct val="150000"/>
              </a:lnSpc>
            </a:pPr>
            <a:r>
              <a:rPr lang="en-US" b="false" i="false" strike="noStrike" u="none" sz="2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按中性原子的电子数计，氧原子有 8 个电子，两个氢原子共有 2 个电子。</a:t>
            </a:r>
            <a:r>
              <a:rPr lang="en-US" b="fals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 defTabSz="914400">
              <a:lnSpc>
                <a:spcPct val="150000"/>
              </a:lnSpc>
            </a:pPr>
            <a:r>
              <a:rPr lang="en-US" b="false" i="false" strike="noStrike" u="none" sz="2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总电子数：</a:t>
            </a:r>
            <a:r>
              <a:rPr lang="en-US" b="false" i="false" strike="noStrike" u="none" sz="2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= 8 + 2 </a:t>
            </a:r>
            <a:r>
              <a:rPr lang="en-US" b="false" i="false" strike="noStrike" u="none" sz="25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×</a:t>
            </a:r>
            <a:r>
              <a:rPr lang="en-US" b="false" i="false" strike="noStrike" u="none" sz="2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 = 10</a:t>
            </a:r>
            <a:r>
              <a:rPr lang="en-US" b="false" i="false" strike="noStrike" u="none" sz="25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。</a:t>
            </a:r>
            <a:r>
              <a:rPr lang="en-US" b="fals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 defTabSz="914400">
              <a:lnSpc>
                <a:spcPct val="150000"/>
              </a:lnSpc>
            </a:pPr>
            <a:r>
              <a:rPr lang="en-US" b="false" i="false" strike="noStrike" u="none" sz="2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因此，水分子电子密度在整个空间的积分为 10</a:t>
            </a:r>
            <a:r>
              <a:rPr lang="en-US" b="fals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defTabSz="914400">
              <a:lnSpc>
                <a:spcPct val="100000"/>
              </a:lnSpc>
            </a:pPr>
          </a:p>
        </p:txBody>
      </p:sp>
    </p:spTree>
  </p:cSld>
  <p:clrMapOvr>
    <a:masterClrMapping/>
  </p:clrMapOvr>
  <p:transition main:dur="500">
    <p:fade thruBlk="false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451485" y="243840"/>
            <a:ext cx="10757535" cy="8413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102870" rIns="102870" tIns="51435" bIns="51435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48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复现环境与代码准备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633413" y="1417320"/>
            <a:ext cx="16290608" cy="3726180"/>
          </a:xfrm>
          <a:prstGeom prst="rect">
            <a:avLst/>
          </a:prstGeom>
          <a:noFill/>
          <a:ln w="1905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>
              <a:defRPr/>
            </a:pPr>
            <a:endParaRPr/>
          </a:p>
        </p:txBody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2830830" y="1714500"/>
          <a:ext cx="14999970" cy="5706745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767840"/>
                <a:gridCol w="1398270"/>
                <a:gridCol w="3215640"/>
                <a:gridCol w="3213100"/>
                <a:gridCol w="3413760"/>
                <a:gridCol w="1991360"/>
              </a:tblGrid>
              <a:tr h="1064260"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300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数据集</a:t>
                      </a:r>
                      <a:endParaRPr lang="en-US" sz="1100"/>
                    </a:p>
                  </a:txBody>
                  <a:tcPr anchor="t" marL="137160" marR="137160" marT="68580" marB="6858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300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年份</a:t>
                      </a:r>
                      <a:endParaRPr lang="en-US" sz="1100"/>
                    </a:p>
                  </a:txBody>
                  <a:tcPr anchor="t" marL="137160" marR="137160" marT="68580" marB="6858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300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数据来源</a:t>
                      </a:r>
                      <a:endParaRPr lang="en-US" sz="1100"/>
                    </a:p>
                  </a:txBody>
                  <a:tcPr anchor="t" marL="137160" marR="137160" marT="68580" marB="6858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300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数据规模</a:t>
                      </a:r>
                      <a:endParaRPr lang="en-US" sz="1100"/>
                    </a:p>
                  </a:txBody>
                  <a:tcPr anchor="t" marL="137160" marR="137160" marT="68580" marB="6858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300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电子密度相关数据形式</a:t>
                      </a:r>
                      <a:endParaRPr lang="en-US" sz="1100"/>
                    </a:p>
                  </a:txBody>
                  <a:tcPr anchor="t" marL="137160" marR="137160" marT="62230" marB="6223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300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获取地址</a:t>
                      </a:r>
                      <a:endParaRPr lang="en-US" sz="1100"/>
                    </a:p>
                  </a:txBody>
                  <a:tcPr anchor="t" marL="137160" marR="137160" marT="68580" marB="6858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>
                        <a:alpha val="100000"/>
                      </a:srgbClr>
                    </a:solidFill>
                  </a:tcPr>
                </a:tc>
              </a:tr>
              <a:tr h="1510030"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27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lang="en-US" sz="2700"/>
                    </a:p>
                    <a:p>
                      <a:pPr algn="ctr" marL="0" indent="0" defTabSz="914400">
                        <a:lnSpc>
                          <a:spcPct val="100000"/>
                        </a:lnSpc>
                      </a:pPr>
                      <a:r>
                        <a:rPr lang="en-US" b="false" i="false" strike="noStrike" u="none" sz="27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EDBench</a:t>
                      </a:r>
                    </a:p>
                  </a:txBody>
                  <a:tcPr anchor="t" marL="137160" marR="137160" marT="68580" marB="6858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27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lang="en-US" sz="2700"/>
                    </a:p>
                    <a:p>
                      <a:pPr algn="ctr" marL="0" indent="0" defTabSz="914400">
                        <a:lnSpc>
                          <a:spcPct val="100000"/>
                        </a:lnSpc>
                      </a:pPr>
                      <a:r>
                        <a:rPr lang="en-US" b="false" i="false" strike="noStrike" u="none" sz="27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2025</a:t>
                      </a:r>
                    </a:p>
                  </a:txBody>
                  <a:tcPr anchor="t" marL="137160" marR="137160" marT="68580" marB="6858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27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以PCQM4Mv2的分子结构为基础，进行量子化学计算</a:t>
                      </a:r>
                      <a:endParaRPr lang="en-US" sz="1100"/>
                    </a:p>
                  </a:txBody>
                  <a:tcPr anchor="t" marL="137160" marR="137160" marT="68580" marB="6858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27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lang="en-US" sz="2700"/>
                    </a:p>
                    <a:p>
                      <a:pPr algn="ctr" marL="0" indent="0" defTabSz="914400">
                        <a:lnSpc>
                          <a:spcPct val="100000"/>
                        </a:lnSpc>
                      </a:pPr>
                      <a:r>
                        <a:rPr lang="en-US" b="false" i="false" strike="noStrike" u="none" sz="27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约 336 万个分子</a:t>
                      </a:r>
                    </a:p>
                  </a:txBody>
                  <a:tcPr anchor="t" marL="137160" marR="137160" marT="68580" marB="6858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27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CUBE</a:t>
                      </a:r>
                      <a:r>
                        <a:rPr lang="en-US" b="false" i="false" strike="noStrike" u="none" sz="27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 网格，每个网格点记录一个电子密度值</a:t>
                      </a:r>
                      <a:endParaRPr lang="en-US" sz="1100"/>
                    </a:p>
                  </a:txBody>
                  <a:tcPr anchor="t" marL="137160" marR="137160" marT="68580" marB="6858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270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  <a:hlinkClick r:id="rId4" tooltip="https://dataverse.harvard.edu/dataverse/EDBench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GitHub</a:t>
                      </a:r>
                      <a:r>
                        <a:rPr lang="en-US" b="false" i="false" strike="noStrike" u="none" sz="2700">
                          <a:solidFill>
                            <a:srgbClr val="0000FF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  <a:hlinkClick r:id="rId5" tooltip="https://dataverse.harvard.edu/dataverse/EDBench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数据下载链接</a:t>
                      </a:r>
                      <a:endParaRPr lang="en-US" sz="1100"/>
                    </a:p>
                  </a:txBody>
                  <a:tcPr anchor="ctr" anchorCtr="false" marL="137160" marR="137160" marT="68580" marB="6858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>
                        <a:alpha val="100000"/>
                      </a:srgbClr>
                    </a:solidFill>
                  </a:tcPr>
                </a:tc>
              </a:tr>
              <a:tr h="1494155"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27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/>
                      </a:r>
                      <a:endParaRPr lang="en-US" sz="1100"/>
                    </a:p>
                    <a:p>
                      <a:pPr algn="ctr" marL="0" indent="0" defTabSz="914400">
                        <a:lnSpc>
                          <a:spcPct val="100000"/>
                        </a:lnSpc>
                      </a:pPr>
                      <a:r>
                        <a:rPr lang="en-US" b="false" i="false" strike="noStrike" u="none" sz="27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QMugs</a:t>
                      </a:r>
                    </a:p>
                  </a:txBody>
                  <a:tcPr anchor="ctr" anchorCtr="false" marL="137160" marR="137160" marT="68580" marB="6858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27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lang="en-US" sz="2700"/>
                    </a:p>
                    <a:p>
                      <a:pPr algn="ctr" marL="0" indent="0" defTabSz="914400">
                        <a:lnSpc>
                          <a:spcPct val="100000"/>
                        </a:lnSpc>
                      </a:pPr>
                      <a:r>
                        <a:rPr lang="en-US" b="false" i="false" strike="noStrike" u="none" sz="27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2022</a:t>
                      </a:r>
                    </a:p>
                  </a:txBody>
                  <a:tcPr anchor="t" marL="137160" marR="137160" marT="68580" marB="6858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27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ChEMBL 中筛选的类药分子，经量子化学计算生成数据</a:t>
                      </a:r>
                      <a:endParaRPr lang="en-US" sz="1100"/>
                    </a:p>
                  </a:txBody>
                  <a:tcPr anchor="t" marL="137160" marR="137160" marT="68580" marB="6858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27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约 66.6 万个分子</a:t>
                      </a:r>
                      <a:endParaRPr lang="en-US" sz="1100"/>
                    </a:p>
                    <a:p>
                      <a:pPr algn="ctr" marL="0" indent="0" defTabSz="914400">
                        <a:lnSpc>
                          <a:spcPct val="100000"/>
                        </a:lnSpc>
                      </a:pPr>
                      <a:r>
                        <a:rPr lang="en-US" b="false" i="false" strike="noStrike" u="none" sz="27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约 199 万个构象</a:t>
                      </a:r>
                    </a:p>
                  </a:txBody>
                  <a:tcPr anchor="t" marL="137160" marR="137160" marT="68580" marB="6858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27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NPY</a:t>
                      </a:r>
                      <a:r>
                        <a:rPr lang="en-US" b="false" i="false" strike="noStrike" u="none" sz="27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 中保存电子密度矩阵、轨道系数等</a:t>
                      </a:r>
                      <a:endParaRPr lang="en-US" sz="1100"/>
                    </a:p>
                  </a:txBody>
                  <a:tcPr anchor="t" marL="137160" marR="137160" marT="68580" marB="6858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270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  <a:hlinkClick r:id="rId6" tooltip="https://libdrive.ethz.ch/index.php/s/X5vOBNSITAG5vzM?path=/wfns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ETH</a:t>
                      </a:r>
                      <a:r>
                        <a:rPr lang="en-US" b="false" i="false" strike="noStrike" u="none" sz="2700">
                          <a:solidFill>
                            <a:srgbClr val="0000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  <a:hlinkClick r:id="rId7" tooltip="https://libdrive.ethz.ch/index.php/s/X5vOBNSITAG5vzM?path=/wfns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lang="en-US" b="false" i="false" strike="noStrike" u="none" sz="2700">
                          <a:solidFill>
                            <a:srgbClr val="0000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  <a:hlinkClick r:id="rId8" tooltip="https://libdrive.ethz.ch/index.php/s/X5vOBNSITAG5vzM?path=/wfns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官方数据仓库</a:t>
                      </a:r>
                      <a:endParaRPr lang="en-US" sz="1100"/>
                    </a:p>
                  </a:txBody>
                  <a:tcPr anchor="t" marL="137160" marR="137160" marT="68580" marB="6858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>
                        <a:alpha val="100000"/>
                      </a:srgbClr>
                    </a:solidFill>
                  </a:tcPr>
                </a:tc>
              </a:tr>
              <a:tr h="1638300"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27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QM9-VASP</a:t>
                      </a:r>
                      <a:endParaRPr lang="en-US" sz="1100"/>
                    </a:p>
                  </a:txBody>
                  <a:tcPr anchor="t" marL="137160" marR="137160" marT="68580" marB="6858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27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lang="en-US" sz="2700"/>
                    </a:p>
                    <a:p>
                      <a:pPr algn="ctr" marL="0" indent="0" defTabSz="914400">
                        <a:lnSpc>
                          <a:spcPct val="100000"/>
                        </a:lnSpc>
                      </a:pPr>
                      <a:r>
                        <a:rPr lang="en-US" b="false" i="false" strike="noStrike" u="none" sz="27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2022</a:t>
                      </a:r>
                    </a:p>
                  </a:txBody>
                  <a:tcPr anchor="t" marL="137160" marR="137160" marT="68580" marB="6858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27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基于 QM9 分子结构，使用 VASP 进行 PBE-DFT 计算</a:t>
                      </a:r>
                      <a:endParaRPr lang="en-US" sz="1100"/>
                    </a:p>
                  </a:txBody>
                  <a:tcPr anchor="t" marL="137160" marR="137160" marT="68580" marB="6858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27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lang="en-US" sz="2700"/>
                    </a:p>
                    <a:p>
                      <a:pPr algn="ctr" marL="0" indent="0" defTabSz="914400">
                        <a:lnSpc>
                          <a:spcPct val="100000"/>
                        </a:lnSpc>
                      </a:pPr>
                      <a:r>
                        <a:rPr lang="en-US" b="false" i="false" strike="noStrike" u="none" sz="27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约 13.4 万个分子</a:t>
                      </a:r>
                    </a:p>
                  </a:txBody>
                  <a:tcPr anchor="t" marL="137160" marR="137160" marT="68580" marB="6858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27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CHGCAR</a:t>
                      </a:r>
                      <a:r>
                        <a:rPr lang="en-US" b="false" i="false" strike="noStrike" u="none" sz="27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：保存晶胞、原子位置及电子密度网格数据</a:t>
                      </a:r>
                      <a:endParaRPr lang="en-US" sz="1100"/>
                    </a:p>
                  </a:txBody>
                  <a:tcPr anchor="t" marL="137160" marR="137160" marT="68580" marB="6858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2700">
                          <a:solidFill>
                            <a:srgbClr val="0000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  <a:hlinkClick r:id="rId9" tooltip="https://data.dtu.dk/articles/dataset/QM9_Charge_Densities_and_Energies_Calculated_with_VASP/1679450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DTU </a:t>
                      </a:r>
                      <a:r>
                        <a:rPr lang="en-US" b="false" i="false" strike="noStrike" u="none" sz="2700">
                          <a:solidFill>
                            <a:srgbClr val="0000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  <a:hlinkClick r:id="rId10" tooltip="https://data.dtu.dk/articles/dataset/QM9_Charge_Densities_and_Energies_Calculated_with_VASP/1679450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官方数据仓库</a:t>
                      </a:r>
                      <a:endParaRPr lang="en-US" sz="1100"/>
                    </a:p>
                  </a:txBody>
                  <a:tcPr anchor="t" marL="137160" marR="137160" marT="68580" marB="6858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name="AutoShape 5" id="5"/>
          <p:cNvSpPr/>
          <p:nvPr/>
        </p:nvSpPr>
        <p:spPr>
          <a:xfrm rot="0" flipH="false" flipV="false">
            <a:off x="3309620" y="8242935"/>
            <a:ext cx="13669010" cy="857885"/>
          </a:xfrm>
          <a:prstGeom prst="roundRect">
            <a:avLst>
              <a:gd name="adj" fmla="val 16666"/>
            </a:avLst>
          </a:prstGeom>
          <a:solidFill>
            <a:srgbClr val="F2F2F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3581400" y="7476490"/>
            <a:ext cx="13460095" cy="152336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914400">
              <a:lnSpc>
                <a:spcPct val="100000"/>
              </a:lnSpc>
              <a:spcAft>
                <a:spcPct val="60000"/>
              </a:spcAft>
              <a:defRPr/>
            </a:pPr>
            <a:r>
              <a:rPr lang="en-US" b="false" i="false" strike="noStrike" u="none" sz="3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lang="en-US" sz="3300"/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3300">
                <a:solidFill>
                  <a:srgbClr val="254061"/>
                </a:solidFill>
                <a:latin typeface="微软雅黑"/>
                <a:ea typeface="微软雅黑"/>
                <a:cs typeface="微软雅黑"/>
                <a:sym typeface="微软雅黑"/>
              </a:rPr>
              <a:t>每个数据集选取一个样本，重点回答：数据保存了什么、数值代表什么</a:t>
            </a:r>
          </a:p>
        </p:txBody>
      </p:sp>
      <p:sp>
        <p:nvSpPr>
          <p:cNvPr name="Freeform 7" id="7"/>
          <p:cNvSpPr/>
          <p:nvPr/>
        </p:nvSpPr>
        <p:spPr>
          <a:xfrm rot="0" flipH="false" flipV="false">
            <a:off x="-1235075" y="-19050"/>
            <a:ext cx="3366135" cy="10407650"/>
          </a:xfrm>
          <a:custGeom>
            <a:avLst/>
            <a:gdLst/>
            <a:ahLst/>
            <a:cxnLst/>
            <a:rect r="r" b="b" t="t" l="l"/>
            <a:pathLst>
              <a:path h="10407650" w="3366135">
                <a:moveTo>
                  <a:pt x="0" y="0"/>
                </a:moveTo>
                <a:lnTo>
                  <a:pt x="3366135" y="0"/>
                </a:lnTo>
                <a:lnTo>
                  <a:pt x="3366135" y="10407650"/>
                </a:lnTo>
                <a:lnTo>
                  <a:pt x="0" y="10407650"/>
                </a:lnTo>
                <a:close/>
              </a:path>
            </a:pathLst>
          </a:custGeom>
          <a:solidFill>
            <a:srgbClr val="6083BA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-1235075" y="-201997"/>
            <a:ext cx="3366135" cy="10590597"/>
          </a:xfrm>
          <a:prstGeom prst="rect">
            <a:avLst/>
          </a:prstGeom>
          <a:noFill/>
          <a:ln w="19050" cmpd="sng" cap="flat">
            <a:noFill/>
            <a:prstDash val="solid"/>
            <a:round/>
          </a:ln>
        </p:spPr>
        <p:txBody>
          <a:bodyPr anchor="ctr" rtlCol="false" anchorCtr="false" vert="horz" wrap="square" lIns="51395" rIns="51395" tIns="51395" bIns="51395"/>
          <a:lstStyle/>
          <a:p>
            <a:pPr algn="ctr">
              <a:defRPr/>
            </a:pPr>
            <a:endParaRPr/>
          </a:p>
        </p:txBody>
      </p:sp>
      <p:cxnSp>
        <p:nvCxnSpPr>
          <p:cNvPr name="Connector 9" id="9"/>
          <p:cNvCxnSpPr/>
          <p:nvPr/>
        </p:nvCxnSpPr>
        <p:spPr>
          <a:xfrm rot="0" flipH="false" flipV="true">
            <a:off x="-423546" y="4145910"/>
            <a:ext cx="2826385" cy="7620"/>
          </a:xfrm>
          <a:prstGeom prst="line">
            <a:avLst/>
          </a:prstGeom>
          <a:noFill/>
          <a:ln w="25400" cap="flat">
            <a:solidFill>
              <a:srgbClr val="FFFFFF">
                <a:alpha val="100000"/>
              </a:srgbClr>
            </a:solidFill>
            <a:prstDash val="solid"/>
            <a:headEnd type="none" w="sm" len="sm"/>
            <a:tailEnd type="none" w="sm" len="sm"/>
          </a:ln>
        </p:spPr>
      </p:cxnSp>
      <p:cxnSp>
        <p:nvCxnSpPr>
          <p:cNvPr name="Connector 10" id="10"/>
          <p:cNvCxnSpPr/>
          <p:nvPr/>
        </p:nvCxnSpPr>
        <p:spPr>
          <a:xfrm rot="0" flipH="false" flipV="false">
            <a:off x="-795647" y="6096999"/>
            <a:ext cx="3375631" cy="0"/>
          </a:xfrm>
          <a:prstGeom prst="line">
            <a:avLst/>
          </a:prstGeom>
          <a:noFill/>
          <a:ln w="25400" cap="flat">
            <a:solidFill>
              <a:srgbClr val="FFFFFF">
                <a:alpha val="100000"/>
              </a:srgbClr>
            </a:solidFill>
            <a:prstDash val="solid"/>
            <a:headEnd type="none" w="sm" len="sm"/>
            <a:tailEnd type="none" w="sm" len="sm"/>
          </a:ln>
        </p:spPr>
      </p:cxnSp>
      <p:cxnSp>
        <p:nvCxnSpPr>
          <p:cNvPr name="Connector 11" id="11"/>
          <p:cNvCxnSpPr/>
          <p:nvPr/>
        </p:nvCxnSpPr>
        <p:spPr>
          <a:xfrm rot="0" flipH="false" flipV="false">
            <a:off x="-385416" y="8165809"/>
            <a:ext cx="3375631" cy="0"/>
          </a:xfrm>
          <a:prstGeom prst="line">
            <a:avLst/>
          </a:prstGeom>
          <a:noFill/>
          <a:ln w="25400" cap="flat">
            <a:solidFill>
              <a:srgbClr val="FFFFFF">
                <a:alpha val="100000"/>
              </a:srgbClr>
            </a:solidFill>
            <a:prstDash val="solid"/>
            <a:headEnd type="none" w="sm" len="sm"/>
            <a:tailEnd type="none" w="sm" len="sm"/>
          </a:ln>
        </p:spPr>
      </p:cxnSp>
      <p:sp>
        <p:nvSpPr>
          <p:cNvPr name="Freeform 12" id="12"/>
          <p:cNvSpPr/>
          <p:nvPr/>
        </p:nvSpPr>
        <p:spPr>
          <a:xfrm rot="-5400000" flipH="false" flipV="false">
            <a:off x="384915" y="3365622"/>
            <a:ext cx="1124549" cy="3493287"/>
          </a:xfrm>
          <a:custGeom>
            <a:avLst/>
            <a:gdLst/>
            <a:ahLst/>
            <a:cxnLst/>
            <a:rect r="r" b="b" t="t" l="l"/>
            <a:pathLst>
              <a:path h="3493287" w="1124549">
                <a:moveTo>
                  <a:pt x="1124549" y="0"/>
                </a:moveTo>
                <a:lnTo>
                  <a:pt x="1124549" y="3094207"/>
                </a:lnTo>
                <a:lnTo>
                  <a:pt x="562274" y="3493288"/>
                </a:lnTo>
                <a:lnTo>
                  <a:pt x="0" y="3094207"/>
                </a:lnTo>
                <a:lnTo>
                  <a:pt x="0" y="0"/>
                </a:lnTo>
                <a:lnTo>
                  <a:pt x="1124549" y="0"/>
                </a:lnTo>
                <a:close/>
              </a:path>
            </a:pathLst>
          </a:custGeom>
          <a:solidFill>
            <a:srgbClr val="6083BA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 txBox="true"/>
          <p:nvPr/>
        </p:nvSpPr>
        <p:spPr>
          <a:xfrm rot="-5400000" flipH="false" flipV="false">
            <a:off x="77875" y="1450156"/>
            <a:ext cx="1124550" cy="3237371"/>
          </a:xfrm>
          <a:prstGeom prst="rect">
            <a:avLst/>
          </a:prstGeom>
          <a:noFill/>
          <a:ln w="19050" cmpd="sng" cap="flat">
            <a:noFill/>
            <a:prstDash val="solid"/>
            <a:round/>
          </a:ln>
        </p:spPr>
        <p:txBody>
          <a:bodyPr anchor="ctr" rtlCol="false" anchorCtr="false" vert="horz" wrap="square" lIns="51395" rIns="51395" tIns="51395" bIns="51395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-171401" y="2800904"/>
            <a:ext cx="2302612" cy="6013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914400">
              <a:lnSpc>
                <a:spcPts val="4690"/>
              </a:lnSpc>
              <a:defRPr/>
            </a:pPr>
            <a:r>
              <a:rPr lang="en-US" b="true" i="false" strike="noStrike" u="none" sz="2400" spc="732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基础概念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-19685" y="4955534"/>
            <a:ext cx="2633981" cy="39369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914400">
              <a:lnSpc>
                <a:spcPts val="3070"/>
              </a:lnSpc>
              <a:defRPr/>
            </a:pPr>
            <a:r>
              <a:rPr lang="en-US" b="true" i="false" strike="noStrike" u="none" sz="3600" spc="48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数据样例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47225" y="6961039"/>
            <a:ext cx="1943204" cy="39369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914400">
              <a:lnSpc>
                <a:spcPts val="3070"/>
              </a:lnSpc>
              <a:defRPr/>
            </a:pPr>
            <a:r>
              <a:rPr lang="en-US" b="true" i="false" strike="noStrike" u="none" sz="2400" spc="48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分子表示</a:t>
            </a:r>
            <a:endParaRPr lang="en-US" sz="1100"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56751" y="8999856"/>
            <a:ext cx="1943204" cy="39369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914400">
              <a:lnSpc>
                <a:spcPts val="3070"/>
              </a:lnSpc>
              <a:defRPr/>
            </a:pPr>
            <a:r>
              <a:rPr lang="en-US" b="true" i="false" strike="noStrike" u="none" sz="2400" spc="48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计算方法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0" flipH="false" flipV="true">
            <a:off x="3110230" y="1009650"/>
            <a:ext cx="14720570" cy="19050"/>
          </a:xfrm>
          <a:prstGeom prst="line">
            <a:avLst/>
          </a:prstGeom>
          <a:noFill/>
          <a:ln w="38100" cap="rnd">
            <a:solidFill>
              <a:srgbClr val="013E80">
                <a:alpha val="100000"/>
              </a:srgbClr>
            </a:solidFill>
            <a:prstDash val="solid"/>
            <a:headEnd type="none" w="sm" len="sm"/>
            <a:tailEnd type="none" w="sm" len="sm"/>
          </a:ln>
        </p:spPr>
      </p:cxnSp>
      <p:pic>
        <p:nvPicPr>
          <p:cNvPr name="Picture 19" id="1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2182495" y="190500"/>
            <a:ext cx="978535" cy="978535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20" id="20"/>
          <p:cNvSpPr txBox="true"/>
          <p:nvPr/>
        </p:nvSpPr>
        <p:spPr>
          <a:xfrm rot="0" flipH="false" flipV="false">
            <a:off x="3213735" y="266700"/>
            <a:ext cx="12207875" cy="73850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914400">
              <a:lnSpc>
                <a:spcPts val="5760"/>
              </a:lnSpc>
              <a:defRPr/>
            </a:pPr>
            <a:r>
              <a:rPr lang="en-US" b="true" i="false" strike="noStrike" u="none" sz="4800">
                <a:solidFill>
                  <a:srgbClr val="2F5597"/>
                </a:solidFill>
                <a:latin typeface="微软雅黑"/>
                <a:ea typeface="微软雅黑"/>
                <a:cs typeface="微软雅黑"/>
                <a:sym typeface="微软雅黑"/>
              </a:rPr>
              <a:t>数据集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3213735" y="5524500"/>
            <a:ext cx="13792835" cy="3885565"/>
          </a:xfrm>
          <a:prstGeom prst="roundRect">
            <a:avLst>
              <a:gd name="adj" fmla="val 16667"/>
            </a:avLst>
          </a:prstGeom>
          <a:solidFill>
            <a:srgbClr val="F2F2F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3581400" y="5676900"/>
            <a:ext cx="14282420" cy="3485515"/>
          </a:xfrm>
          <a:prstGeom prst="rect">
            <a:avLst/>
          </a:prstGeom>
          <a:noFill/>
          <a:ln w="1905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>
            <a:lvl1pPr marL="590550" indent="-304800"/>
            <a:lvl2pPr marL="1047750" indent="-304800"/>
            <a:lvl3pPr marL="1504950" indent="-304800"/>
            <a:lvl4pPr marL="1962150" indent="-304800"/>
            <a:lvl5pPr marL="2419350" indent="-304800"/>
            <a:lvl6pPr marL="2876550" indent="-304800"/>
            <a:lvl7pPr marL="3333750" indent="-304800"/>
            <a:lvl8pPr marL="3790950" indent="-304800"/>
            <a:lvl9pPr marL="4248150" indent="-304800"/>
          </a:lstStyle>
          <a:p>
            <a:pPr algn="l" indent="-285750" marL="285750" defTabSz="914400">
              <a:lnSpc>
                <a:spcPct val="150000"/>
              </a:lnSpc>
              <a:buClr>
                <a:srgbClr val="000000"/>
              </a:buClr>
              <a:buSzPct val="80000"/>
              <a:buFont typeface="Wingdings"/>
              <a:buChar char="Ø"/>
              <a:defRPr/>
            </a:pP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第</a:t>
            </a:r>
            <a:r>
              <a:rPr lang="en-US" b="false" i="false" strike="noStrike" u="none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 </a:t>
            </a: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行：由</a:t>
            </a:r>
            <a:r>
              <a:rPr lang="en-US" b="false" i="false" strike="noStrike" u="none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Psi4 </a:t>
            </a: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软件生成，采用</a:t>
            </a:r>
            <a:r>
              <a:rPr lang="en-US" b="false" i="false" strike="noStrike" u="none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Gaussian Cube </a:t>
            </a: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格式保存</a:t>
            </a:r>
            <a:r>
              <a:rPr lang="en-US" b="false" i="false" strike="noStrike" u="none" sz="24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285750" marL="285750" defTabSz="914400">
              <a:lnSpc>
                <a:spcPct val="150000"/>
              </a:lnSpc>
              <a:buClr>
                <a:srgbClr val="000000"/>
              </a:buClr>
              <a:buSzPct val="80000"/>
              <a:buFont typeface="Wingdings"/>
              <a:buChar char="Ø"/>
            </a:pP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第</a:t>
            </a:r>
            <a:r>
              <a:rPr lang="en-US" b="false" i="false" strike="noStrike" u="none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 </a:t>
            </a: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行：文件保存总电子密度，以及画出一个包围主要电子密度区域表面的参考密度值</a:t>
            </a:r>
            <a:r>
              <a:rPr lang="en-US" b="false" i="false" strike="noStrike" u="none" sz="24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85750" marL="285750" defTabSz="914400">
              <a:lnSpc>
                <a:spcPct val="150000"/>
              </a:lnSpc>
              <a:buClr>
                <a:srgbClr val="000000"/>
              </a:buClr>
              <a:buSzPct val="80000"/>
              <a:buFont typeface="Wingdings"/>
              <a:buChar char="Ø"/>
            </a:pP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第</a:t>
            </a:r>
            <a:r>
              <a:rPr lang="en-US" b="false" i="false" strike="noStrike" u="none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 </a:t>
            </a: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行：原子数量和网格起点（坐标单位是</a:t>
            </a:r>
            <a:r>
              <a:rPr lang="en-US" b="false" i="false" strike="noStrike" u="none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Bohr</a:t>
            </a: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，</a:t>
            </a:r>
            <a:r>
              <a:rPr lang="en-US" b="false" i="false" strike="noStrike" u="none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Bohr ≈ 0.529 Å ≈ 0.0529 </a:t>
            </a: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纳米）</a:t>
            </a:r>
            <a:r>
              <a:rPr lang="en-US" b="false" i="false" strike="noStrike" u="none" sz="24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85750" marL="285750" defTabSz="914400">
              <a:lnSpc>
                <a:spcPct val="150000"/>
              </a:lnSpc>
              <a:buClr>
                <a:srgbClr val="000000"/>
              </a:buClr>
              <a:buSzPct val="80000"/>
              <a:buFont typeface="Wingdings"/>
              <a:buChar char="Ø"/>
            </a:pP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第</a:t>
            </a:r>
            <a:r>
              <a:rPr lang="en-US" b="false" i="false" strike="noStrike" u="none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4</a:t>
            </a: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～</a:t>
            </a:r>
            <a:r>
              <a:rPr lang="en-US" b="false" i="false" strike="noStrike" u="none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 </a:t>
            </a: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行：该方向的网格点数量</a:t>
            </a:r>
            <a:r>
              <a:rPr lang="en-US" b="false" i="false" strike="noStrike" u="none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走一步时</a:t>
            </a:r>
            <a:r>
              <a:rPr lang="en-US" b="false" i="false" strike="noStrike" u="none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x</a:t>
            </a: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、</a:t>
            </a:r>
            <a:r>
              <a:rPr lang="en-US" b="false" i="false" strike="noStrike" u="none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、</a:t>
            </a:r>
            <a:r>
              <a:rPr lang="en-US" b="false" i="false" strike="noStrike" u="none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 </a:t>
            </a: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分别变化多少（网格点总数：</a:t>
            </a:r>
            <a:r>
              <a:rPr lang="en-US" b="false" i="false" strike="noStrike" u="none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161568</a:t>
            </a: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）</a:t>
            </a:r>
            <a:r>
              <a:rPr lang="en-US" b="false" i="false" strike="noStrike" u="none" sz="24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85750" marL="285750" defTabSz="914400">
              <a:lnSpc>
                <a:spcPct val="150000"/>
              </a:lnSpc>
              <a:buClr>
                <a:srgbClr val="000000"/>
              </a:buClr>
              <a:buSzPct val="80000"/>
              <a:buFont typeface="Wingdings"/>
              <a:buChar char="Ø"/>
            </a:pP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第</a:t>
            </a:r>
            <a:r>
              <a:rPr lang="en-US" b="false" i="false" strike="noStrike" u="none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7</a:t>
            </a: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～</a:t>
            </a:r>
            <a:r>
              <a:rPr lang="en-US" b="false" i="false" strike="noStrike" u="none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39 </a:t>
            </a: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行：</a:t>
            </a:r>
            <a:r>
              <a:rPr lang="en-US" b="false" i="false" strike="noStrike" u="none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33 </a:t>
            </a: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个原子分别在哪里（</a:t>
            </a:r>
            <a:r>
              <a:rPr lang="en-US" b="false" i="false" strike="noStrike" u="none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0.000000</a:t>
            </a: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为占位符）</a:t>
            </a:r>
            <a:r>
              <a:rPr lang="en-US" b="false" i="false" strike="noStrike" u="none" sz="24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85750" marL="285750" defTabSz="914400">
              <a:lnSpc>
                <a:spcPct val="150000"/>
              </a:lnSpc>
              <a:buClr>
                <a:srgbClr val="000000"/>
              </a:buClr>
              <a:buSzPct val="80000"/>
              <a:buFont typeface="Wingdings"/>
              <a:buChar char="Ø"/>
            </a:pP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第</a:t>
            </a:r>
            <a:r>
              <a:rPr lang="en-US" b="false" i="false" strike="noStrike" u="none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40 </a:t>
            </a: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行开始：真正的电子密度数值（按</a:t>
            </a:r>
            <a:r>
              <a:rPr lang="en-US" b="false" i="false" strike="noStrike" u="none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z </a:t>
            </a: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最快变化、然后</a:t>
            </a:r>
            <a:r>
              <a:rPr lang="en-US" b="false" i="false" strike="noStrike" u="none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y</a:t>
            </a: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、最后</a:t>
            </a:r>
            <a:r>
              <a:rPr lang="en-US" b="false" i="false" strike="noStrike" u="none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x </a:t>
            </a: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的顺序排列）</a:t>
            </a:r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451130" y="244118"/>
            <a:ext cx="5825845" cy="8413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102870" rIns="102870" tIns="51435" bIns="51435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48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实验总体流程图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0" flipH="false" flipV="true">
            <a:off x="3110230" y="1009650"/>
            <a:ext cx="14720570" cy="19050"/>
          </a:xfrm>
          <a:prstGeom prst="line">
            <a:avLst/>
          </a:prstGeom>
          <a:noFill/>
          <a:ln w="38100" cap="rnd">
            <a:solidFill>
              <a:srgbClr val="013E80">
                <a:alpha val="100000"/>
              </a:srgbClr>
            </a:solidFill>
            <a:prstDash val="solid"/>
            <a:headEnd type="none" w="sm" len="sm"/>
            <a:tailEnd type="none" w="sm" len="sm"/>
          </a:ln>
        </p:spPr>
      </p:cxn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2182495" y="190500"/>
            <a:ext cx="978535" cy="978535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7" id="7"/>
          <p:cNvSpPr txBox="true"/>
          <p:nvPr/>
        </p:nvSpPr>
        <p:spPr>
          <a:xfrm rot="0" flipH="false" flipV="false">
            <a:off x="3213735" y="266700"/>
            <a:ext cx="12207875" cy="73850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914400">
              <a:lnSpc>
                <a:spcPts val="5760"/>
              </a:lnSpc>
              <a:defRPr/>
            </a:pPr>
            <a:r>
              <a:rPr lang="en-US" b="true" i="false" strike="noStrike" u="none" sz="4800">
                <a:solidFill>
                  <a:srgbClr val="2F559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EDBench:</a:t>
            </a:r>
            <a:r>
              <a:rPr lang="en-US" b="true" i="false" strike="noStrike" u="none" sz="4800">
                <a:solidFill>
                  <a:srgbClr val="2F5597"/>
                </a:solidFill>
                <a:latin typeface="微软雅黑"/>
                <a:ea typeface="微软雅黑"/>
                <a:cs typeface="微软雅黑"/>
                <a:sym typeface="微软雅黑"/>
              </a:rPr>
              <a:t>原始数据样例解读</a:t>
            </a:r>
            <a:endParaRPr lang="en-US" sz="1100"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3110865" y="1485900"/>
            <a:ext cx="8902700" cy="229235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rcRect l="0" r="0" t="0" b="0"/>
          <a:stretch>
            <a:fillRect/>
          </a:stretch>
        </p:blipFill>
        <p:spPr>
          <a:xfrm rot="0" flipH="false" flipV="false">
            <a:off x="3110230" y="3924300"/>
            <a:ext cx="8903335" cy="126365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rcRect l="0" r="0" t="0" b="0"/>
          <a:stretch>
            <a:fillRect/>
          </a:stretch>
        </p:blipFill>
        <p:spPr>
          <a:xfrm rot="0" flipH="false" flipV="false">
            <a:off x="12649200" y="1485900"/>
            <a:ext cx="4456430" cy="3639185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Freeform 11" id="11"/>
          <p:cNvSpPr/>
          <p:nvPr/>
        </p:nvSpPr>
        <p:spPr>
          <a:xfrm rot="0" flipH="false" flipV="false">
            <a:off x="-1235075" y="-19050"/>
            <a:ext cx="3366135" cy="10407650"/>
          </a:xfrm>
          <a:custGeom>
            <a:avLst/>
            <a:gdLst/>
            <a:ahLst/>
            <a:cxnLst/>
            <a:rect r="r" b="b" t="t" l="l"/>
            <a:pathLst>
              <a:path h="10407650" w="3366135">
                <a:moveTo>
                  <a:pt x="0" y="0"/>
                </a:moveTo>
                <a:lnTo>
                  <a:pt x="3366135" y="0"/>
                </a:lnTo>
                <a:lnTo>
                  <a:pt x="3366135" y="10407650"/>
                </a:lnTo>
                <a:lnTo>
                  <a:pt x="0" y="10407650"/>
                </a:lnTo>
                <a:close/>
              </a:path>
            </a:pathLst>
          </a:custGeom>
          <a:solidFill>
            <a:srgbClr val="6083BA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-1235075" y="-201997"/>
            <a:ext cx="3366135" cy="10590597"/>
          </a:xfrm>
          <a:prstGeom prst="rect">
            <a:avLst/>
          </a:prstGeom>
          <a:noFill/>
          <a:ln w="19050" cmpd="sng" cap="flat">
            <a:noFill/>
            <a:prstDash val="solid"/>
            <a:round/>
          </a:ln>
        </p:spPr>
        <p:txBody>
          <a:bodyPr anchor="ctr" rtlCol="false" anchorCtr="false" vert="horz" wrap="square" lIns="51395" rIns="51395" tIns="51395" bIns="51395"/>
          <a:lstStyle/>
          <a:p>
            <a:pPr algn="ctr">
              <a:defRPr/>
            </a:pPr>
            <a:endParaRPr/>
          </a:p>
        </p:txBody>
      </p:sp>
      <p:cxnSp>
        <p:nvCxnSpPr>
          <p:cNvPr name="Connector 13" id="13"/>
          <p:cNvCxnSpPr/>
          <p:nvPr/>
        </p:nvCxnSpPr>
        <p:spPr>
          <a:xfrm rot="0" flipH="false" flipV="true">
            <a:off x="-423546" y="4145910"/>
            <a:ext cx="2826385" cy="7620"/>
          </a:xfrm>
          <a:prstGeom prst="line">
            <a:avLst/>
          </a:prstGeom>
          <a:noFill/>
          <a:ln w="25400" cap="flat">
            <a:solidFill>
              <a:srgbClr val="FFFFFF">
                <a:alpha val="100000"/>
              </a:srgbClr>
            </a:solidFill>
            <a:prstDash val="solid"/>
            <a:headEnd type="none" w="sm" len="sm"/>
            <a:tailEnd type="none" w="sm" len="sm"/>
          </a:ln>
        </p:spPr>
      </p:cxnSp>
      <p:cxnSp>
        <p:nvCxnSpPr>
          <p:cNvPr name="Connector 14" id="14"/>
          <p:cNvCxnSpPr/>
          <p:nvPr/>
        </p:nvCxnSpPr>
        <p:spPr>
          <a:xfrm rot="0" flipH="false" flipV="false">
            <a:off x="-795647" y="6096999"/>
            <a:ext cx="3375631" cy="0"/>
          </a:xfrm>
          <a:prstGeom prst="line">
            <a:avLst/>
          </a:prstGeom>
          <a:noFill/>
          <a:ln w="25400" cap="flat">
            <a:solidFill>
              <a:srgbClr val="FFFFFF">
                <a:alpha val="100000"/>
              </a:srgbClr>
            </a:solidFill>
            <a:prstDash val="solid"/>
            <a:headEnd type="none" w="sm" len="sm"/>
            <a:tailEnd type="none" w="sm" len="sm"/>
          </a:ln>
        </p:spPr>
      </p:cxnSp>
      <p:cxnSp>
        <p:nvCxnSpPr>
          <p:cNvPr name="Connector 15" id="15"/>
          <p:cNvCxnSpPr/>
          <p:nvPr/>
        </p:nvCxnSpPr>
        <p:spPr>
          <a:xfrm rot="0" flipH="false" flipV="false">
            <a:off x="-385416" y="8165809"/>
            <a:ext cx="3375631" cy="0"/>
          </a:xfrm>
          <a:prstGeom prst="line">
            <a:avLst/>
          </a:prstGeom>
          <a:noFill/>
          <a:ln w="25400" cap="flat">
            <a:solidFill>
              <a:srgbClr val="FFFFFF">
                <a:alpha val="100000"/>
              </a:srgbClr>
            </a:solidFill>
            <a:prstDash val="solid"/>
            <a:headEnd type="none" w="sm" len="sm"/>
            <a:tailEnd type="none" w="sm" len="sm"/>
          </a:ln>
        </p:spPr>
      </p:cxnSp>
      <p:sp>
        <p:nvSpPr>
          <p:cNvPr name="Freeform 16" id="16"/>
          <p:cNvSpPr/>
          <p:nvPr/>
        </p:nvSpPr>
        <p:spPr>
          <a:xfrm rot="-5400000" flipH="false" flipV="false">
            <a:off x="384915" y="3365622"/>
            <a:ext cx="1124549" cy="3493287"/>
          </a:xfrm>
          <a:custGeom>
            <a:avLst/>
            <a:gdLst/>
            <a:ahLst/>
            <a:cxnLst/>
            <a:rect r="r" b="b" t="t" l="l"/>
            <a:pathLst>
              <a:path h="3493287" w="1124549">
                <a:moveTo>
                  <a:pt x="1124549" y="0"/>
                </a:moveTo>
                <a:lnTo>
                  <a:pt x="1124549" y="3094207"/>
                </a:lnTo>
                <a:lnTo>
                  <a:pt x="562274" y="3493288"/>
                </a:lnTo>
                <a:lnTo>
                  <a:pt x="0" y="3094207"/>
                </a:lnTo>
                <a:lnTo>
                  <a:pt x="0" y="0"/>
                </a:lnTo>
                <a:lnTo>
                  <a:pt x="1124549" y="0"/>
                </a:lnTo>
                <a:close/>
              </a:path>
            </a:pathLst>
          </a:custGeom>
          <a:solidFill>
            <a:srgbClr val="6083BA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-5400000" flipH="false" flipV="false">
            <a:off x="77875" y="1450156"/>
            <a:ext cx="1124550" cy="3237371"/>
          </a:xfrm>
          <a:prstGeom prst="rect">
            <a:avLst/>
          </a:prstGeom>
          <a:noFill/>
          <a:ln w="19050" cmpd="sng" cap="flat">
            <a:noFill/>
            <a:prstDash val="solid"/>
            <a:round/>
          </a:ln>
        </p:spPr>
        <p:txBody>
          <a:bodyPr anchor="ctr" rtlCol="false" anchorCtr="false" vert="horz" wrap="square" lIns="51395" rIns="51395" tIns="51395" bIns="51395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-171401" y="2800904"/>
            <a:ext cx="2302612" cy="6013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914400">
              <a:lnSpc>
                <a:spcPts val="4690"/>
              </a:lnSpc>
              <a:defRPr/>
            </a:pPr>
            <a:r>
              <a:rPr lang="en-US" b="true" i="false" strike="noStrike" u="none" sz="2400" spc="732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基础概念</a:t>
            </a:r>
            <a:endParaRPr lang="en-US" sz="1100"/>
          </a:p>
        </p:txBody>
      </p:sp>
      <p:sp>
        <p:nvSpPr>
          <p:cNvPr name="AutoShape 19" id="19"/>
          <p:cNvSpPr txBox="true"/>
          <p:nvPr/>
        </p:nvSpPr>
        <p:spPr>
          <a:xfrm rot="0" flipH="false" flipV="false">
            <a:off x="-19685" y="4955534"/>
            <a:ext cx="2633981" cy="39369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914400">
              <a:lnSpc>
                <a:spcPts val="3070"/>
              </a:lnSpc>
              <a:defRPr/>
            </a:pPr>
            <a:r>
              <a:rPr lang="en-US" b="true" i="false" strike="noStrike" u="none" sz="3600" spc="48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数据样例</a:t>
            </a:r>
            <a:endParaRPr lang="en-US" sz="1100"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47225" y="6961039"/>
            <a:ext cx="1943204" cy="39369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914400">
              <a:lnSpc>
                <a:spcPts val="3070"/>
              </a:lnSpc>
              <a:defRPr/>
            </a:pPr>
            <a:r>
              <a:rPr lang="en-US" b="true" i="false" strike="noStrike" u="none" sz="2400" spc="48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分子表示</a:t>
            </a:r>
            <a:endParaRPr lang="en-US" sz="1100"/>
          </a:p>
        </p:txBody>
      </p:sp>
      <p:sp>
        <p:nvSpPr>
          <p:cNvPr name="AutoShape 21" id="21"/>
          <p:cNvSpPr txBox="true"/>
          <p:nvPr/>
        </p:nvSpPr>
        <p:spPr>
          <a:xfrm rot="0" flipH="false" flipV="false">
            <a:off x="56751" y="8999856"/>
            <a:ext cx="1943204" cy="39369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914400">
              <a:lnSpc>
                <a:spcPts val="3070"/>
              </a:lnSpc>
              <a:defRPr/>
            </a:pPr>
            <a:r>
              <a:rPr lang="en-US" b="true" i="false" strike="noStrike" u="none" sz="2400" spc="48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计算方法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153400" y="1365885"/>
            <a:ext cx="9564370" cy="3174365"/>
          </a:xfrm>
          <a:prstGeom prst="roundRect">
            <a:avLst>
              <a:gd name="adj" fmla="val 16667"/>
            </a:avLst>
          </a:prstGeom>
          <a:solidFill>
            <a:srgbClr val="F2F2F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8199755" y="1398270"/>
            <a:ext cx="9520555" cy="2687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>
            <a:lvl1pPr marL="590550" indent="-304800"/>
            <a:lvl2pPr marL="1047750" indent="-304800"/>
            <a:lvl3pPr marL="1504950" indent="-304800"/>
            <a:lvl4pPr marL="1962150" indent="-304800"/>
            <a:lvl5pPr marL="2419350" indent="-304800"/>
            <a:lvl6pPr marL="2876550" indent="-304800"/>
            <a:lvl7pPr marL="3333750" indent="-304800"/>
            <a:lvl8pPr marL="3790950" indent="-304800"/>
            <a:lvl9pPr marL="4248150" indent="-304800"/>
          </a:lstStyle>
          <a:p>
            <a:pPr algn="l" indent="-285750" marL="285750" defTabSz="914400">
              <a:lnSpc>
                <a:spcPct val="150000"/>
              </a:lnSpc>
              <a:buClr>
                <a:srgbClr val="000000"/>
              </a:buClr>
              <a:buSzPct val="80000"/>
              <a:buFont typeface="Wingdings"/>
              <a:buChar char="Ø"/>
              <a:defRPr/>
            </a:pPr>
            <a:r>
              <a:rPr lang="en-US" b="fals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样本：</a:t>
            </a:r>
            <a:r>
              <a:rPr lang="en-US" b="false" i="false" strike="noStrike" u="none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CHEMBL100607 </a:t>
            </a:r>
            <a:r>
              <a:rPr lang="en-US" b="fals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的第</a:t>
            </a:r>
            <a:r>
              <a:rPr lang="en-US" b="false" i="false" strike="noStrike" u="none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00 </a:t>
            </a:r>
            <a:r>
              <a:rPr lang="en-US" b="fals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号构象。</a:t>
            </a:r>
            <a:endParaRPr lang="en-US" sz="1100"/>
          </a:p>
          <a:p>
            <a:pPr algn="l" indent="-285750" marL="285750" defTabSz="914400">
              <a:lnSpc>
                <a:spcPct val="150000"/>
              </a:lnSpc>
              <a:buClr>
                <a:srgbClr val="000000"/>
              </a:buClr>
              <a:buSzPct val="80000"/>
              <a:buFont typeface="Wingdings"/>
              <a:buChar char="Ø"/>
            </a:pPr>
            <a:r>
              <a:rPr lang="en-US" b="fals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包含</a:t>
            </a:r>
            <a:r>
              <a:rPr lang="en-US" b="false" i="false" strike="noStrike" u="none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54 </a:t>
            </a:r>
            <a:r>
              <a:rPr lang="en-US" b="fals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个原子，总电荷为</a:t>
            </a:r>
            <a:r>
              <a:rPr lang="en-US" b="false" i="false" strike="noStrike" u="none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0</a:t>
            </a:r>
            <a:r>
              <a:rPr lang="en-US" b="fals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，自旋多重度为</a:t>
            </a:r>
            <a:r>
              <a:rPr lang="en-US" b="false" i="false" strike="noStrike" u="none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</a:t>
            </a:r>
            <a:r>
              <a:rPr lang="en-US" b="fals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（自旋多重度＝</a:t>
            </a:r>
            <a:r>
              <a:rPr lang="en-US" b="false" i="false" strike="noStrike" u="none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2S</a:t>
            </a:r>
            <a:r>
              <a:rPr lang="en-US" b="fals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＋</a:t>
            </a:r>
            <a:r>
              <a:rPr lang="en-US" b="false" i="false" strike="noStrike" u="none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b="fals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）</a:t>
            </a:r>
          </a:p>
          <a:p>
            <a:pPr algn="l" indent="-285750" marL="285750" defTabSz="914400">
              <a:lnSpc>
                <a:spcPct val="150000"/>
              </a:lnSpc>
              <a:buClr>
                <a:srgbClr val="000000"/>
              </a:buClr>
              <a:buSzPct val="80000"/>
              <a:buFont typeface="Wingdings"/>
              <a:buChar char="Ø"/>
            </a:pPr>
            <a:r>
              <a:rPr lang="en-US" b="fals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每行记录一个原子的元素及三维坐标（</a:t>
            </a:r>
            <a:r>
              <a:rPr lang="en-US" b="false" i="false" strike="noStrike" u="none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b="fals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、</a:t>
            </a:r>
            <a:r>
              <a:rPr lang="en-US" b="false" i="false" strike="noStrike" u="none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b="fals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、</a:t>
            </a:r>
            <a:r>
              <a:rPr lang="en-US" b="false" i="false" strike="noStrike" u="none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-US" b="fals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），单位为</a:t>
            </a:r>
            <a:r>
              <a:rPr lang="en-US" b="false" i="false" strike="noStrike" u="none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Å</a:t>
            </a:r>
            <a:r>
              <a:rPr lang="en-US" b="fals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。</a:t>
            </a:r>
            <a:r>
              <a:rPr lang="en-US" b="false" i="false" strike="noStrike" u="none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 Å</a:t>
            </a:r>
            <a:r>
              <a:rPr lang="en-US" b="fals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＝</a:t>
            </a:r>
            <a:r>
              <a:rPr lang="en-US" b="false" i="false" strike="noStrike" u="none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0.1 </a:t>
            </a:r>
            <a:r>
              <a:rPr lang="en-US" b="fals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纳米＝</a:t>
            </a:r>
            <a:r>
              <a:rPr lang="en-US" b="false" i="false" strike="noStrike" u="none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10⁻¹⁰ </a:t>
            </a:r>
            <a:r>
              <a:rPr lang="en-US" b="fals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米</a:t>
            </a:r>
            <a:r>
              <a:rPr lang="en-US" b="false" i="false" strike="noStrike" u="none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</a:p>
          <a:p>
            <a:pPr algn="l" indent="-285750" marL="285750" defTabSz="914400">
              <a:lnSpc>
                <a:spcPct val="150000"/>
              </a:lnSpc>
              <a:buClr>
                <a:srgbClr val="000000"/>
              </a:buClr>
              <a:buSzPct val="80000"/>
              <a:buFont typeface="Wingdings"/>
              <a:buChar char="Ø"/>
            </a:pPr>
            <a:r>
              <a:rPr lang="en-US" b="fals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图中内容由</a:t>
            </a:r>
            <a:r>
              <a:rPr lang="en-US" b="false" i="false" strike="noStrike" u="none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Python </a:t>
            </a:r>
            <a:r>
              <a:rPr lang="en-US" b="fals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直接读取官方</a:t>
            </a:r>
            <a:r>
              <a:rPr lang="en-US" b="false" i="false" strike="noStrike" u="none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NPY </a:t>
            </a:r>
            <a:r>
              <a:rPr lang="en-US" b="fals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文件得到，仅展示部分原子。</a:t>
            </a:r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451130" y="244118"/>
            <a:ext cx="5825845" cy="8413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102870" rIns="102870" tIns="51435" bIns="51435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48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实验总体流程图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0" flipH="false" flipV="true">
            <a:off x="3110230" y="1009650"/>
            <a:ext cx="14720570" cy="19050"/>
          </a:xfrm>
          <a:prstGeom prst="line">
            <a:avLst/>
          </a:prstGeom>
          <a:noFill/>
          <a:ln w="38100" cap="rnd">
            <a:solidFill>
              <a:srgbClr val="013E80">
                <a:alpha val="100000"/>
              </a:srgbClr>
            </a:solidFill>
            <a:prstDash val="solid"/>
            <a:headEnd type="none" w="sm" len="sm"/>
            <a:tailEnd type="none" w="sm" len="sm"/>
          </a:ln>
        </p:spPr>
      </p:cxn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2182495" y="190500"/>
            <a:ext cx="978535" cy="978535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7" id="7"/>
          <p:cNvSpPr txBox="true"/>
          <p:nvPr/>
        </p:nvSpPr>
        <p:spPr>
          <a:xfrm rot="0" flipH="false" flipV="false">
            <a:off x="3213735" y="266700"/>
            <a:ext cx="12207875" cy="73850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914400">
              <a:lnSpc>
                <a:spcPts val="5760"/>
              </a:lnSpc>
              <a:defRPr/>
            </a:pPr>
            <a:r>
              <a:rPr lang="en-US" b="true" i="false" strike="noStrike" u="none" sz="4800">
                <a:solidFill>
                  <a:srgbClr val="2F559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QMugs:</a:t>
            </a:r>
            <a:r>
              <a:rPr lang="en-US" b="true" i="false" strike="noStrike" u="none" sz="4800">
                <a:solidFill>
                  <a:srgbClr val="2F5597"/>
                </a:solidFill>
                <a:latin typeface="微软雅黑"/>
                <a:ea typeface="微软雅黑"/>
                <a:cs typeface="微软雅黑"/>
                <a:sym typeface="微软雅黑"/>
              </a:rPr>
              <a:t>原始数据样例解读</a:t>
            </a:r>
            <a:endParaRPr lang="en-US" sz="1100"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3429000" y="1169035"/>
            <a:ext cx="3811905" cy="361569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rcRect l="0" r="0" t="0" b="0"/>
          <a:stretch>
            <a:fillRect/>
          </a:stretch>
        </p:blipFill>
        <p:spPr>
          <a:xfrm rot="0" flipH="false" flipV="false">
            <a:off x="3110230" y="5019675"/>
            <a:ext cx="4679950" cy="489585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/>
          <p:nvPr/>
        </p:nvSpPr>
        <p:spPr>
          <a:xfrm rot="0" flipH="false" flipV="false">
            <a:off x="8170545" y="5001260"/>
            <a:ext cx="9582785" cy="4507230"/>
          </a:xfrm>
          <a:prstGeom prst="roundRect">
            <a:avLst>
              <a:gd name="adj" fmla="val 16667"/>
            </a:avLst>
          </a:prstGeom>
          <a:solidFill>
            <a:srgbClr val="F2F2F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8305800" y="4991100"/>
            <a:ext cx="9093835" cy="348551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>
            <a:lvl1pPr marL="590550" indent="-304800"/>
            <a:lvl2pPr marL="1047750" indent="-304800"/>
            <a:lvl3pPr marL="1504950" indent="-304800"/>
            <a:lvl4pPr marL="1962150" indent="-304800"/>
            <a:lvl5pPr marL="2419350" indent="-304800"/>
            <a:lvl6pPr marL="2876550" indent="-304800"/>
            <a:lvl7pPr marL="3333750" indent="-304800"/>
            <a:lvl8pPr marL="3790950" indent="-304800"/>
            <a:lvl9pPr marL="4248150" indent="-304800"/>
          </a:lstStyle>
          <a:p>
            <a:pPr algn="l" indent="-285750" marL="285750" defTabSz="914400">
              <a:lnSpc>
                <a:spcPct val="150000"/>
              </a:lnSpc>
              <a:buClr>
                <a:srgbClr val="000000"/>
              </a:buClr>
              <a:buSzPct val="80000"/>
              <a:buFont typeface="Wingdings"/>
              <a:buChar char="Ø"/>
              <a:defRPr/>
            </a:pPr>
            <a:r>
              <a:rPr lang="en-US" b="false" i="false" strike="noStrike" u="none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</a:t>
            </a:r>
            <a:r>
              <a:rPr lang="en-US" b="fals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、</a:t>
            </a:r>
            <a:r>
              <a:rPr lang="en-US" b="false" i="false" strike="noStrike" u="none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Db </a:t>
            </a:r>
            <a:r>
              <a:rPr lang="en-US" b="fals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分别表示</a:t>
            </a:r>
            <a:r>
              <a:rPr lang="en-US" b="false" i="false" strike="noStrike" u="none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α</a:t>
            </a:r>
            <a:r>
              <a:rPr lang="en-US" b="fals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、</a:t>
            </a:r>
            <a:r>
              <a:rPr lang="en-US" b="false" i="false" strike="noStrike" u="none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β </a:t>
            </a:r>
            <a:r>
              <a:rPr lang="en-US" b="fals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自旋电子的密度矩阵。</a:t>
            </a:r>
            <a:endParaRPr lang="en-US" sz="1100"/>
          </a:p>
          <a:p>
            <a:pPr algn="l" indent="-285750" marL="285750" defTabSz="914400">
              <a:lnSpc>
                <a:spcPct val="150000"/>
              </a:lnSpc>
              <a:buClr>
                <a:srgbClr val="000000"/>
              </a:buClr>
              <a:buSzPct val="80000"/>
              <a:buFont typeface="Wingdings"/>
              <a:buChar char="Ø"/>
            </a:pPr>
            <a:r>
              <a:rPr lang="en-US" b="fals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两个矩阵的大小均为</a:t>
            </a:r>
            <a:r>
              <a:rPr lang="en-US" b="false" i="false" strike="noStrike" u="none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531 </a:t>
            </a:r>
            <a:r>
              <a:rPr lang="en-US" b="fals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×</a:t>
            </a:r>
            <a:r>
              <a:rPr lang="en-US" b="false" i="false" strike="noStrike" u="none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531</a:t>
            </a:r>
            <a:r>
              <a:rPr lang="en-US" b="fals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，行、列对应基函数（矩阵第</a:t>
            </a:r>
            <a:r>
              <a:rPr lang="en-US" b="false" i="false" strike="noStrike" u="none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μ </a:t>
            </a:r>
            <a:r>
              <a:rPr lang="en-US" b="fals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行、第</a:t>
            </a:r>
            <a:r>
              <a:rPr lang="en-US" b="false" i="false" strike="noStrike" u="none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ν </a:t>
            </a:r>
            <a:r>
              <a:rPr lang="en-US" b="fals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列的数值，控制第</a:t>
            </a:r>
            <a:r>
              <a:rPr lang="en-US" b="false" i="false" strike="noStrike" u="none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μ </a:t>
            </a:r>
            <a:r>
              <a:rPr lang="en-US" b="fals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个和第</a:t>
            </a:r>
            <a:r>
              <a:rPr lang="en-US" b="false" i="false" strike="noStrike" u="none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ν </a:t>
            </a:r>
            <a:r>
              <a:rPr lang="en-US" b="fals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个基函数的乘积对电子密度的贡献）</a:t>
            </a:r>
          </a:p>
          <a:p>
            <a:pPr algn="l" indent="-285750" marL="285750" defTabSz="914400">
              <a:lnSpc>
                <a:spcPct val="150000"/>
              </a:lnSpc>
              <a:buClr>
                <a:srgbClr val="000000"/>
              </a:buClr>
              <a:buSzPct val="80000"/>
              <a:buFont typeface="Wingdings"/>
              <a:buChar char="Ø"/>
            </a:pPr>
            <a:r>
              <a:rPr lang="en-US" b="fals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当前样本为闭壳层受限计算，</a:t>
            </a:r>
            <a:r>
              <a:rPr lang="en-US" b="false" i="false" strike="noStrike" u="none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 </a:t>
            </a:r>
            <a:r>
              <a:rPr lang="en-US" b="fals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与</a:t>
            </a:r>
            <a:r>
              <a:rPr lang="en-US" b="false" i="false" strike="noStrike" u="none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Db </a:t>
            </a:r>
            <a:r>
              <a:rPr lang="en-US" b="fals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在数值容差内相同；总密度矩阵为</a:t>
            </a:r>
            <a:r>
              <a:rPr lang="en-US" b="false" i="false" strike="noStrike" u="none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</a:t>
            </a:r>
            <a:r>
              <a:rPr lang="en-US" b="fals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＋</a:t>
            </a:r>
            <a:r>
              <a:rPr lang="en-US" b="false" i="false" strike="noStrike" u="none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Db</a:t>
            </a:r>
            <a:r>
              <a:rPr lang="en-US" b="fals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。</a:t>
            </a:r>
          </a:p>
          <a:p>
            <a:pPr algn="l" indent="-285750" marL="285750" defTabSz="914400">
              <a:lnSpc>
                <a:spcPct val="150000"/>
              </a:lnSpc>
              <a:buClr>
                <a:srgbClr val="000000"/>
              </a:buClr>
              <a:buSzPct val="80000"/>
              <a:buFont typeface="Wingdings"/>
              <a:buChar char="Ø"/>
            </a:pPr>
            <a:r>
              <a:rPr lang="en-US" b="fals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结合基函数，可计算空间位置的电子密度；图中仅展示矩阵左上角</a:t>
            </a:r>
            <a:r>
              <a:rPr lang="en-US" b="false" i="false" strike="noStrike" u="none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5 </a:t>
            </a:r>
            <a:r>
              <a:rPr lang="en-US" b="fals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×</a:t>
            </a:r>
            <a:r>
              <a:rPr lang="en-US" b="false" i="false" strike="noStrike" u="none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5</a:t>
            </a:r>
            <a:r>
              <a:rPr lang="en-US" b="fals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。</a:t>
            </a:r>
          </a:p>
        </p:txBody>
      </p:sp>
      <p:sp>
        <p:nvSpPr>
          <p:cNvPr name="Freeform 12" id="12"/>
          <p:cNvSpPr/>
          <p:nvPr/>
        </p:nvSpPr>
        <p:spPr>
          <a:xfrm rot="0" flipH="false" flipV="false">
            <a:off x="-1235075" y="-19050"/>
            <a:ext cx="3366135" cy="10407650"/>
          </a:xfrm>
          <a:custGeom>
            <a:avLst/>
            <a:gdLst/>
            <a:ahLst/>
            <a:cxnLst/>
            <a:rect r="r" b="b" t="t" l="l"/>
            <a:pathLst>
              <a:path h="10407650" w="3366135">
                <a:moveTo>
                  <a:pt x="0" y="0"/>
                </a:moveTo>
                <a:lnTo>
                  <a:pt x="3366135" y="0"/>
                </a:lnTo>
                <a:lnTo>
                  <a:pt x="3366135" y="10407650"/>
                </a:lnTo>
                <a:lnTo>
                  <a:pt x="0" y="10407650"/>
                </a:lnTo>
                <a:close/>
              </a:path>
            </a:pathLst>
          </a:custGeom>
          <a:solidFill>
            <a:srgbClr val="6083BA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-1235075" y="-201997"/>
            <a:ext cx="3366135" cy="10590597"/>
          </a:xfrm>
          <a:prstGeom prst="rect">
            <a:avLst/>
          </a:prstGeom>
          <a:noFill/>
          <a:ln w="19050" cmpd="sng" cap="flat">
            <a:noFill/>
            <a:prstDash val="solid"/>
            <a:round/>
          </a:ln>
        </p:spPr>
        <p:txBody>
          <a:bodyPr anchor="ctr" rtlCol="false" anchorCtr="false" vert="horz" wrap="square" lIns="51395" rIns="51395" tIns="51395" bIns="51395"/>
          <a:lstStyle/>
          <a:p>
            <a:pPr algn="ctr">
              <a:defRPr/>
            </a:pPr>
            <a:endParaRPr/>
          </a:p>
        </p:txBody>
      </p:sp>
      <p:cxnSp>
        <p:nvCxnSpPr>
          <p:cNvPr name="Connector 14" id="14"/>
          <p:cNvCxnSpPr/>
          <p:nvPr/>
        </p:nvCxnSpPr>
        <p:spPr>
          <a:xfrm rot="0" flipH="false" flipV="true">
            <a:off x="-423546" y="4145910"/>
            <a:ext cx="2826385" cy="7620"/>
          </a:xfrm>
          <a:prstGeom prst="line">
            <a:avLst/>
          </a:prstGeom>
          <a:noFill/>
          <a:ln w="25400" cap="flat">
            <a:solidFill>
              <a:srgbClr val="FFFFFF">
                <a:alpha val="100000"/>
              </a:srgbClr>
            </a:solidFill>
            <a:prstDash val="solid"/>
            <a:headEnd type="none" w="sm" len="sm"/>
            <a:tailEnd type="none" w="sm" len="sm"/>
          </a:ln>
        </p:spPr>
      </p:cxnSp>
      <p:cxnSp>
        <p:nvCxnSpPr>
          <p:cNvPr name="Connector 15" id="15"/>
          <p:cNvCxnSpPr/>
          <p:nvPr/>
        </p:nvCxnSpPr>
        <p:spPr>
          <a:xfrm rot="0" flipH="false" flipV="false">
            <a:off x="-795647" y="6096999"/>
            <a:ext cx="3375631" cy="0"/>
          </a:xfrm>
          <a:prstGeom prst="line">
            <a:avLst/>
          </a:prstGeom>
          <a:noFill/>
          <a:ln w="25400" cap="flat">
            <a:solidFill>
              <a:srgbClr val="FFFFFF">
                <a:alpha val="100000"/>
              </a:srgbClr>
            </a:solidFill>
            <a:prstDash val="solid"/>
            <a:headEnd type="none" w="sm" len="sm"/>
            <a:tailEnd type="none" w="sm" len="sm"/>
          </a:ln>
        </p:spPr>
      </p:cxnSp>
      <p:cxnSp>
        <p:nvCxnSpPr>
          <p:cNvPr name="Connector 16" id="16"/>
          <p:cNvCxnSpPr/>
          <p:nvPr/>
        </p:nvCxnSpPr>
        <p:spPr>
          <a:xfrm rot="0" flipH="false" flipV="false">
            <a:off x="-385416" y="8165809"/>
            <a:ext cx="3375631" cy="0"/>
          </a:xfrm>
          <a:prstGeom prst="line">
            <a:avLst/>
          </a:prstGeom>
          <a:noFill/>
          <a:ln w="25400" cap="flat">
            <a:solidFill>
              <a:srgbClr val="FFFFFF">
                <a:alpha val="100000"/>
              </a:srgbClr>
            </a:solidFill>
            <a:prstDash val="solid"/>
            <a:headEnd type="none" w="sm" len="sm"/>
            <a:tailEnd type="none" w="sm" len="sm"/>
          </a:ln>
        </p:spPr>
      </p:cxnSp>
      <p:sp>
        <p:nvSpPr>
          <p:cNvPr name="Freeform 17" id="17"/>
          <p:cNvSpPr/>
          <p:nvPr/>
        </p:nvSpPr>
        <p:spPr>
          <a:xfrm rot="-5400000" flipH="false" flipV="false">
            <a:off x="384915" y="3365622"/>
            <a:ext cx="1124549" cy="3493287"/>
          </a:xfrm>
          <a:custGeom>
            <a:avLst/>
            <a:gdLst/>
            <a:ahLst/>
            <a:cxnLst/>
            <a:rect r="r" b="b" t="t" l="l"/>
            <a:pathLst>
              <a:path h="3493287" w="1124549">
                <a:moveTo>
                  <a:pt x="1124549" y="0"/>
                </a:moveTo>
                <a:lnTo>
                  <a:pt x="1124549" y="3094207"/>
                </a:lnTo>
                <a:lnTo>
                  <a:pt x="562274" y="3493288"/>
                </a:lnTo>
                <a:lnTo>
                  <a:pt x="0" y="3094207"/>
                </a:lnTo>
                <a:lnTo>
                  <a:pt x="0" y="0"/>
                </a:lnTo>
                <a:lnTo>
                  <a:pt x="1124549" y="0"/>
                </a:lnTo>
                <a:close/>
              </a:path>
            </a:pathLst>
          </a:custGeom>
          <a:solidFill>
            <a:srgbClr val="6083BA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 txBox="true"/>
          <p:nvPr/>
        </p:nvSpPr>
        <p:spPr>
          <a:xfrm rot="-5400000" flipH="false" flipV="false">
            <a:off x="77875" y="1450156"/>
            <a:ext cx="1124550" cy="3237371"/>
          </a:xfrm>
          <a:prstGeom prst="rect">
            <a:avLst/>
          </a:prstGeom>
          <a:noFill/>
          <a:ln w="19050" cmpd="sng" cap="flat">
            <a:noFill/>
            <a:prstDash val="solid"/>
            <a:round/>
          </a:ln>
        </p:spPr>
        <p:txBody>
          <a:bodyPr anchor="ctr" rtlCol="false" anchorCtr="false" vert="horz" wrap="square" lIns="51395" rIns="51395" tIns="51395" bIns="51395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 txBox="true"/>
          <p:nvPr/>
        </p:nvSpPr>
        <p:spPr>
          <a:xfrm rot="0" flipH="false" flipV="false">
            <a:off x="-171401" y="2800904"/>
            <a:ext cx="2302612" cy="6013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914400">
              <a:lnSpc>
                <a:spcPts val="4690"/>
              </a:lnSpc>
              <a:defRPr/>
            </a:pPr>
            <a:r>
              <a:rPr lang="en-US" b="true" i="false" strike="noStrike" u="none" sz="2400" spc="732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基础概念</a:t>
            </a:r>
            <a:endParaRPr lang="en-US" sz="1100"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-19685" y="4955534"/>
            <a:ext cx="2633981" cy="39369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914400">
              <a:lnSpc>
                <a:spcPts val="3070"/>
              </a:lnSpc>
              <a:defRPr/>
            </a:pPr>
            <a:r>
              <a:rPr lang="en-US" b="true" i="false" strike="noStrike" u="none" sz="3600" spc="48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数据样例</a:t>
            </a:r>
            <a:endParaRPr lang="en-US" sz="1100"/>
          </a:p>
        </p:txBody>
      </p:sp>
      <p:sp>
        <p:nvSpPr>
          <p:cNvPr name="AutoShape 21" id="21"/>
          <p:cNvSpPr txBox="true"/>
          <p:nvPr/>
        </p:nvSpPr>
        <p:spPr>
          <a:xfrm rot="0" flipH="false" flipV="false">
            <a:off x="47225" y="6961039"/>
            <a:ext cx="1943204" cy="39369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914400">
              <a:lnSpc>
                <a:spcPts val="3070"/>
              </a:lnSpc>
              <a:defRPr/>
            </a:pPr>
            <a:r>
              <a:rPr lang="en-US" b="true" i="false" strike="noStrike" u="none" sz="2400" spc="48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分子表示</a:t>
            </a:r>
            <a:endParaRPr lang="en-US" sz="1100"/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56751" y="8999856"/>
            <a:ext cx="1943204" cy="39369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914400">
              <a:lnSpc>
                <a:spcPts val="3070"/>
              </a:lnSpc>
              <a:defRPr/>
            </a:pPr>
            <a:r>
              <a:rPr lang="en-US" b="true" i="false" strike="noStrike" u="none" sz="2400" spc="48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计算方法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2614930" y="5249545"/>
            <a:ext cx="15214600" cy="4455160"/>
          </a:xfrm>
          <a:prstGeom prst="roundRect">
            <a:avLst>
              <a:gd name="adj" fmla="val 16666"/>
            </a:avLst>
          </a:prstGeom>
          <a:solidFill>
            <a:srgbClr val="F2F2F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451130" y="244118"/>
            <a:ext cx="5825845" cy="8413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102870" rIns="102870" tIns="51435" bIns="51435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48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实验总体流程图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0" flipH="false" flipV="true">
            <a:off x="3110230" y="1009650"/>
            <a:ext cx="14720570" cy="19050"/>
          </a:xfrm>
          <a:prstGeom prst="line">
            <a:avLst/>
          </a:prstGeom>
          <a:noFill/>
          <a:ln w="38100" cap="rnd">
            <a:solidFill>
              <a:srgbClr val="013E80">
                <a:alpha val="100000"/>
              </a:srgbClr>
            </a:solidFill>
            <a:prstDash val="solid"/>
            <a:headEnd type="none" w="sm" len="sm"/>
            <a:tailEnd type="none" w="sm" len="sm"/>
          </a:ln>
        </p:spPr>
      </p:cxn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2182495" y="190500"/>
            <a:ext cx="978535" cy="978535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6" id="6"/>
          <p:cNvSpPr txBox="true"/>
          <p:nvPr/>
        </p:nvSpPr>
        <p:spPr>
          <a:xfrm rot="0" flipH="false" flipV="false">
            <a:off x="3213735" y="266700"/>
            <a:ext cx="12207875" cy="73850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914400">
              <a:lnSpc>
                <a:spcPts val="5760"/>
              </a:lnSpc>
              <a:defRPr/>
            </a:pPr>
            <a:r>
              <a:rPr lang="en-US" b="true" i="false" strike="noStrike" u="none" sz="4800">
                <a:solidFill>
                  <a:srgbClr val="2F5597"/>
                </a:solidFill>
                <a:latin typeface="微软雅黑"/>
                <a:ea typeface="微软雅黑"/>
                <a:cs typeface="微软雅黑"/>
                <a:sym typeface="微软雅黑"/>
              </a:rPr>
              <a:t>QM9-VASP：原始 CHGCAR 样本解读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3048000" y="4610100"/>
            <a:ext cx="15074900" cy="3485515"/>
          </a:xfrm>
          <a:prstGeom prst="rect">
            <a:avLst/>
          </a:prstGeom>
          <a:noFill/>
          <a:ln w="1905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>
            <a:lvl1pPr marL="590550" indent="-304800"/>
            <a:lvl2pPr marL="1047750" indent="-304800"/>
            <a:lvl3pPr marL="1504950" indent="-304800"/>
            <a:lvl4pPr marL="1962150" indent="-304800"/>
            <a:lvl5pPr marL="2419350" indent="-304800"/>
            <a:lvl6pPr marL="2876550" indent="-304800"/>
            <a:lvl7pPr marL="3333750" indent="-304800"/>
            <a:lvl8pPr marL="3790950" indent="-304800"/>
            <a:lvl9pPr marL="4248150" indent="-304800"/>
          </a:lstStyle>
          <a:p>
            <a:pPr algn="l" marL="0" indent="0" defTabSz="914400">
              <a:lnSpc>
                <a:spcPct val="150000"/>
              </a:lnSpc>
              <a:defRPr/>
            </a:pPr>
            <a:r>
              <a:rPr lang="en-US" b="tru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样本说明：甲烷 </a:t>
            </a:r>
            <a:r>
              <a:rPr lang="en-US" b="true" i="false" strike="noStrike" u="none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CH₄</a:t>
            </a:r>
            <a:r>
              <a:rPr lang="en-US" b="tru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｜</a:t>
            </a:r>
            <a:r>
              <a:rPr lang="en-US" b="true" i="false" strike="noStrike" u="none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000001.CHGCAR</a:t>
            </a:r>
            <a:r>
              <a:rPr lang="en-US" b="tru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｜</a:t>
            </a:r>
            <a:r>
              <a:rPr lang="en-US" b="true" i="false" strike="noStrike" u="none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US" b="tru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 个原子</a:t>
            </a:r>
            <a:r>
              <a:rPr lang="en-US" b="false" i="false" strike="noStrike" u="none" sz="24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285750" marL="285750" defTabSz="914400">
              <a:lnSpc>
                <a:spcPct val="150000"/>
              </a:lnSpc>
              <a:buClr>
                <a:srgbClr val="000000"/>
              </a:buClr>
              <a:buSzPct val="80000"/>
              <a:buFont typeface="Wingdings"/>
              <a:buChar char="Ø"/>
            </a:pP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第</a:t>
            </a:r>
            <a:r>
              <a:rPr lang="en-US" b="false" i="false" strike="noStrike" u="none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行：文件的注释标题。</a:t>
            </a:r>
            <a:r>
              <a:rPr lang="en-US" b="false" i="false" strike="noStrike" u="none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unknown system </a:t>
            </a: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表示未填写具体体系名称，不影响数据读取</a:t>
            </a:r>
            <a:r>
              <a:rPr lang="en-US" b="false" i="false" strike="noStrike" u="none" sz="24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85750" marL="285750" defTabSz="914400">
              <a:lnSpc>
                <a:spcPct val="150000"/>
              </a:lnSpc>
              <a:buClr>
                <a:srgbClr val="000000"/>
              </a:buClr>
              <a:buSzPct val="80000"/>
              <a:buFont typeface="Wingdings"/>
              <a:buChar char="Ø"/>
            </a:pP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第</a:t>
            </a:r>
            <a:r>
              <a:rPr lang="en-US" b="false" i="false" strike="noStrike" u="none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</a:t>
            </a: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行：晶胞缩放因子为</a:t>
            </a:r>
            <a:r>
              <a:rPr lang="en-US" b="false" i="false" strike="noStrike" u="none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</a:t>
            </a: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，下面的晶胞尺寸保持不变（实际晶胞矢量</a:t>
            </a:r>
            <a:r>
              <a:rPr lang="en-US" b="false" i="false" strike="noStrike" u="none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文件中写的晶胞矢量</a:t>
            </a:r>
            <a:r>
              <a:rPr lang="en-US" b="false" i="false" strike="noStrike" u="none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×</a:t>
            </a:r>
            <a:r>
              <a:rPr lang="en-US" b="false" i="false" strike="noStrike" u="none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缩放因子）</a:t>
            </a:r>
            <a:r>
              <a:rPr lang="en-US" b="false" i="false" strike="noStrike" u="none" sz="24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85750" marL="285750" defTabSz="914400">
              <a:lnSpc>
                <a:spcPct val="150000"/>
              </a:lnSpc>
              <a:buClr>
                <a:srgbClr val="000000"/>
              </a:buClr>
              <a:buSzPct val="80000"/>
              <a:buFont typeface="Wingdings"/>
              <a:buChar char="Ø"/>
            </a:pP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第</a:t>
            </a:r>
            <a:r>
              <a:rPr lang="en-US" b="false" i="false" strike="noStrike" u="none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～</a:t>
            </a:r>
            <a:r>
              <a:rPr lang="en-US" b="false" i="false" strike="noStrike" u="none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行：三个晶胞基矢，定义计算盒子的大小和方向，单位为</a:t>
            </a:r>
            <a:r>
              <a:rPr lang="en-US" b="false" i="false" strike="noStrike" u="none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Å</a:t>
            </a:r>
            <a:r>
              <a:rPr lang="en-US" b="false" i="false" strike="noStrike" u="none" sz="24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85750" marL="285750" defTabSz="914400">
              <a:lnSpc>
                <a:spcPct val="150000"/>
              </a:lnSpc>
              <a:buClr>
                <a:srgbClr val="000000"/>
              </a:buClr>
              <a:buSzPct val="80000"/>
              <a:buFont typeface="Wingdings"/>
              <a:buChar char="Ø"/>
            </a:pP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第</a:t>
            </a:r>
            <a:r>
              <a:rPr lang="en-US" b="false" i="false" strike="noStrike" u="none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～</a:t>
            </a:r>
            <a:r>
              <a:rPr lang="en-US" b="false" i="false" strike="noStrike" u="none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行：元素及对应数量：</a:t>
            </a:r>
            <a:r>
              <a:rPr lang="en-US" b="false" i="false" strike="noStrike" u="none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个碳、</a:t>
            </a:r>
            <a:r>
              <a:rPr lang="en-US" b="false" i="false" strike="noStrike" u="none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个氢，即甲烷</a:t>
            </a:r>
            <a:r>
              <a:rPr lang="en-US" b="false" i="false" strike="noStrike" u="none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CH₄</a:t>
            </a:r>
            <a:r>
              <a:rPr lang="en-US" b="false" i="false" strike="noStrike" u="none" sz="24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85750" marL="285750" defTabSz="914400">
              <a:lnSpc>
                <a:spcPct val="150000"/>
              </a:lnSpc>
              <a:buClr>
                <a:srgbClr val="000000"/>
              </a:buClr>
              <a:buSzPct val="80000"/>
              <a:buFont typeface="Wingdings"/>
              <a:buChar char="Ø"/>
            </a:pP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第</a:t>
            </a:r>
            <a:r>
              <a:rPr lang="en-US" b="false" i="false" strike="noStrike" u="none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～</a:t>
            </a:r>
            <a:r>
              <a:rPr lang="en-US" b="false" i="false" strike="noStrike" u="none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</a:t>
            </a: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行：</a:t>
            </a:r>
            <a:r>
              <a:rPr lang="en-US" b="false" i="false" strike="noStrike" u="none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 </a:t>
            </a: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表示分数坐标；后面五行依次记录碳和四个氢的位置</a:t>
            </a:r>
            <a:r>
              <a:rPr lang="en-US" b="false" i="false" strike="noStrike" u="none" sz="24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85750" marL="285750" defTabSz="914400">
              <a:lnSpc>
                <a:spcPct val="150000"/>
              </a:lnSpc>
              <a:buClr>
                <a:srgbClr val="000000"/>
              </a:buClr>
              <a:buSzPct val="80000"/>
              <a:buFont typeface="Wingdings"/>
              <a:buChar char="Ø"/>
            </a:pP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第</a:t>
            </a:r>
            <a:r>
              <a:rPr lang="en-US" b="false" i="false" strike="noStrike" u="none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行：三个方向各有</a:t>
            </a:r>
            <a:r>
              <a:rPr lang="en-US" b="false" i="false" strike="noStrike" u="none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56 </a:t>
            </a: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个网格点，总计</a:t>
            </a:r>
            <a:r>
              <a:rPr lang="en-US" b="false" i="false" strike="noStrike" u="none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175,616 </a:t>
            </a: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个网格点</a:t>
            </a:r>
            <a:r>
              <a:rPr lang="en-US" b="false" i="false" strike="noStrike" u="none" sz="24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85750" marL="285750" defTabSz="914400">
              <a:lnSpc>
                <a:spcPct val="150000"/>
              </a:lnSpc>
              <a:buClr>
                <a:srgbClr val="000000"/>
              </a:buClr>
              <a:buSzPct val="80000"/>
              <a:buFont typeface="Wingdings"/>
              <a:buChar char="Ø"/>
            </a:pP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第</a:t>
            </a:r>
            <a:r>
              <a:rPr lang="en-US" b="false" i="false" strike="noStrike" u="none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</a:t>
            </a: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～</a:t>
            </a:r>
            <a:r>
              <a:rPr lang="en-US" b="false" i="false" strike="noStrike" u="none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35136</a:t>
            </a: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行：保存密度网格数据；数值除以晶胞体积后得到电子数密度，单位为</a:t>
            </a:r>
            <a:r>
              <a:rPr lang="en-US" b="false" i="false" strike="noStrike" u="none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Å⁻³</a:t>
            </a:r>
            <a:r>
              <a:rPr lang="en-US" b="false" i="false" strike="noStrike" u="none" sz="24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85750" marL="285750" defTabSz="914400">
              <a:lnSpc>
                <a:spcPct val="150000"/>
              </a:lnSpc>
              <a:buClr>
                <a:srgbClr val="000000"/>
              </a:buClr>
              <a:buSzPct val="80000"/>
              <a:buFont typeface="Wingdings"/>
              <a:buChar char="Ø"/>
            </a:pP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第</a:t>
            </a:r>
            <a:r>
              <a:rPr lang="en-US" b="false" i="false" strike="noStrike" u="none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35136</a:t>
            </a: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行起：</a:t>
            </a:r>
            <a:r>
              <a:rPr lang="en-US" b="false" i="false" strike="noStrike" u="none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augmentation occupancies</a:t>
            </a: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保存</a:t>
            </a:r>
            <a:r>
              <a:rPr lang="en-US" b="false" i="false" strike="noStrike" u="none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PAW </a:t>
            </a: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方法的原子局部补充信息，用于恢复电子结构计算等</a:t>
            </a:r>
            <a:r>
              <a:rPr lang="en-US" b="false" i="false" strike="noStrike" u="none" sz="24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defTabSz="914400">
              <a:lnSpc>
                <a:spcPct val="150000"/>
              </a:lnSpc>
            </a:pP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2971800" y="1144905"/>
            <a:ext cx="7518400" cy="355346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rcRect l="0" r="0" t="0" b="30115"/>
          <a:stretch>
            <a:fillRect/>
          </a:stretch>
        </p:blipFill>
        <p:spPr>
          <a:xfrm rot="0" flipH="false" flipV="false">
            <a:off x="10591800" y="1181100"/>
            <a:ext cx="7352030" cy="3517265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Freeform 10" id="10"/>
          <p:cNvSpPr/>
          <p:nvPr/>
        </p:nvSpPr>
        <p:spPr>
          <a:xfrm rot="0" flipH="false" flipV="false">
            <a:off x="-1235075" y="-19050"/>
            <a:ext cx="3366135" cy="10407650"/>
          </a:xfrm>
          <a:custGeom>
            <a:avLst/>
            <a:gdLst/>
            <a:ahLst/>
            <a:cxnLst/>
            <a:rect r="r" b="b" t="t" l="l"/>
            <a:pathLst>
              <a:path h="10407650" w="3366135">
                <a:moveTo>
                  <a:pt x="0" y="0"/>
                </a:moveTo>
                <a:lnTo>
                  <a:pt x="3366135" y="0"/>
                </a:lnTo>
                <a:lnTo>
                  <a:pt x="3366135" y="10407650"/>
                </a:lnTo>
                <a:lnTo>
                  <a:pt x="0" y="10407650"/>
                </a:lnTo>
                <a:close/>
              </a:path>
            </a:pathLst>
          </a:custGeom>
          <a:solidFill>
            <a:srgbClr val="6083BA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-1235075" y="-201997"/>
            <a:ext cx="3366135" cy="10590597"/>
          </a:xfrm>
          <a:prstGeom prst="rect">
            <a:avLst/>
          </a:prstGeom>
          <a:noFill/>
          <a:ln w="19050" cmpd="sng" cap="flat">
            <a:noFill/>
            <a:prstDash val="solid"/>
            <a:round/>
          </a:ln>
        </p:spPr>
        <p:txBody>
          <a:bodyPr anchor="ctr" rtlCol="false" anchorCtr="false" vert="horz" wrap="square" lIns="51395" rIns="51395" tIns="51395" bIns="51395"/>
          <a:lstStyle/>
          <a:p>
            <a:pPr algn="ctr">
              <a:defRPr/>
            </a:pPr>
            <a:endParaRPr/>
          </a:p>
        </p:txBody>
      </p:sp>
      <p:cxnSp>
        <p:nvCxnSpPr>
          <p:cNvPr name="Connector 12" id="12"/>
          <p:cNvCxnSpPr/>
          <p:nvPr/>
        </p:nvCxnSpPr>
        <p:spPr>
          <a:xfrm rot="0" flipH="false" flipV="true">
            <a:off x="-423546" y="4145910"/>
            <a:ext cx="2826385" cy="7620"/>
          </a:xfrm>
          <a:prstGeom prst="line">
            <a:avLst/>
          </a:prstGeom>
          <a:noFill/>
          <a:ln w="25400" cap="flat">
            <a:solidFill>
              <a:srgbClr val="FFFFFF">
                <a:alpha val="100000"/>
              </a:srgbClr>
            </a:solidFill>
            <a:prstDash val="solid"/>
            <a:headEnd type="none" w="sm" len="sm"/>
            <a:tailEnd type="none" w="sm" len="sm"/>
          </a:ln>
        </p:spPr>
      </p:cxnSp>
      <p:cxnSp>
        <p:nvCxnSpPr>
          <p:cNvPr name="Connector 13" id="13"/>
          <p:cNvCxnSpPr/>
          <p:nvPr/>
        </p:nvCxnSpPr>
        <p:spPr>
          <a:xfrm rot="0" flipH="false" flipV="false">
            <a:off x="-795647" y="6096999"/>
            <a:ext cx="3375631" cy="0"/>
          </a:xfrm>
          <a:prstGeom prst="line">
            <a:avLst/>
          </a:prstGeom>
          <a:noFill/>
          <a:ln w="25400" cap="flat">
            <a:solidFill>
              <a:srgbClr val="FFFFFF">
                <a:alpha val="100000"/>
              </a:srgbClr>
            </a:solidFill>
            <a:prstDash val="solid"/>
            <a:headEnd type="none" w="sm" len="sm"/>
            <a:tailEnd type="none" w="sm" len="sm"/>
          </a:ln>
        </p:spPr>
      </p:cxnSp>
      <p:cxnSp>
        <p:nvCxnSpPr>
          <p:cNvPr name="Connector 14" id="14"/>
          <p:cNvCxnSpPr/>
          <p:nvPr/>
        </p:nvCxnSpPr>
        <p:spPr>
          <a:xfrm rot="0" flipH="false" flipV="false">
            <a:off x="-385416" y="8165809"/>
            <a:ext cx="3375631" cy="0"/>
          </a:xfrm>
          <a:prstGeom prst="line">
            <a:avLst/>
          </a:prstGeom>
          <a:noFill/>
          <a:ln w="25400" cap="flat">
            <a:solidFill>
              <a:srgbClr val="FFFFFF">
                <a:alpha val="100000"/>
              </a:srgbClr>
            </a:solidFill>
            <a:prstDash val="solid"/>
            <a:headEnd type="none" w="sm" len="sm"/>
            <a:tailEnd type="none" w="sm" len="sm"/>
          </a:ln>
        </p:spPr>
      </p:cxnSp>
      <p:sp>
        <p:nvSpPr>
          <p:cNvPr name="Freeform 15" id="15"/>
          <p:cNvSpPr/>
          <p:nvPr/>
        </p:nvSpPr>
        <p:spPr>
          <a:xfrm rot="-5400000" flipH="false" flipV="false">
            <a:off x="384915" y="3365622"/>
            <a:ext cx="1124549" cy="3493287"/>
          </a:xfrm>
          <a:custGeom>
            <a:avLst/>
            <a:gdLst/>
            <a:ahLst/>
            <a:cxnLst/>
            <a:rect r="r" b="b" t="t" l="l"/>
            <a:pathLst>
              <a:path h="3493287" w="1124549">
                <a:moveTo>
                  <a:pt x="1124549" y="0"/>
                </a:moveTo>
                <a:lnTo>
                  <a:pt x="1124549" y="3094207"/>
                </a:lnTo>
                <a:lnTo>
                  <a:pt x="562274" y="3493288"/>
                </a:lnTo>
                <a:lnTo>
                  <a:pt x="0" y="3094207"/>
                </a:lnTo>
                <a:lnTo>
                  <a:pt x="0" y="0"/>
                </a:lnTo>
                <a:lnTo>
                  <a:pt x="1124549" y="0"/>
                </a:lnTo>
                <a:close/>
              </a:path>
            </a:pathLst>
          </a:custGeom>
          <a:solidFill>
            <a:srgbClr val="6083BA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 txBox="true"/>
          <p:nvPr/>
        </p:nvSpPr>
        <p:spPr>
          <a:xfrm rot="-5400000" flipH="false" flipV="false">
            <a:off x="77875" y="1450156"/>
            <a:ext cx="1124550" cy="3237371"/>
          </a:xfrm>
          <a:prstGeom prst="rect">
            <a:avLst/>
          </a:prstGeom>
          <a:noFill/>
          <a:ln w="19050" cmpd="sng" cap="flat">
            <a:noFill/>
            <a:prstDash val="solid"/>
            <a:round/>
          </a:ln>
        </p:spPr>
        <p:txBody>
          <a:bodyPr anchor="ctr" rtlCol="false" anchorCtr="false" vert="horz" wrap="square" lIns="51395" rIns="51395" tIns="51395" bIns="51395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-171401" y="2800904"/>
            <a:ext cx="2302612" cy="6013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914400">
              <a:lnSpc>
                <a:spcPts val="4690"/>
              </a:lnSpc>
              <a:defRPr/>
            </a:pPr>
            <a:r>
              <a:rPr lang="en-US" b="true" i="false" strike="noStrike" u="none" sz="2400" spc="732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基础概念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-19685" y="4955534"/>
            <a:ext cx="2633981" cy="39369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914400">
              <a:lnSpc>
                <a:spcPts val="3070"/>
              </a:lnSpc>
              <a:defRPr/>
            </a:pPr>
            <a:r>
              <a:rPr lang="en-US" b="true" i="false" strike="noStrike" u="none" sz="3600" spc="48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数据样例</a:t>
            </a:r>
            <a:endParaRPr lang="en-US" sz="1100"/>
          </a:p>
        </p:txBody>
      </p:sp>
      <p:sp>
        <p:nvSpPr>
          <p:cNvPr name="AutoShape 19" id="19"/>
          <p:cNvSpPr txBox="true"/>
          <p:nvPr/>
        </p:nvSpPr>
        <p:spPr>
          <a:xfrm rot="0" flipH="false" flipV="false">
            <a:off x="47225" y="6961039"/>
            <a:ext cx="1943204" cy="39369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914400">
              <a:lnSpc>
                <a:spcPts val="3070"/>
              </a:lnSpc>
              <a:defRPr/>
            </a:pPr>
            <a:r>
              <a:rPr lang="en-US" b="true" i="false" strike="noStrike" u="none" sz="2400" spc="48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分子表示</a:t>
            </a:r>
            <a:endParaRPr lang="en-US" sz="1100"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56751" y="8999856"/>
            <a:ext cx="1943204" cy="39369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914400">
              <a:lnSpc>
                <a:spcPts val="3070"/>
              </a:lnSpc>
              <a:defRPr/>
            </a:pPr>
            <a:r>
              <a:rPr lang="en-US" b="true" i="false" strike="noStrike" u="none" sz="2400" spc="48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计算方法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3258800" y="1080770"/>
            <a:ext cx="2097405" cy="202438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451485" y="243840"/>
            <a:ext cx="6071235" cy="8413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102870" rIns="102870" tIns="51435" bIns="51435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48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如何将分子表示为图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0" flipH="false" flipV="true">
            <a:off x="-423559" y="4145915"/>
            <a:ext cx="2826318" cy="7620"/>
          </a:xfrm>
          <a:prstGeom prst="line">
            <a:avLst/>
          </a:prstGeom>
          <a:noFill/>
          <a:ln w="25400" cap="flat">
            <a:solidFill>
              <a:srgbClr val="FFFFFF">
                <a:alpha val="100000"/>
              </a:srgbClr>
            </a:solidFill>
            <a:prstDash val="solid"/>
            <a:headEnd type="none" w="sm" len="sm"/>
            <a:tailEnd type="none" w="sm" len="sm"/>
          </a:ln>
        </p:spPr>
      </p:cxnSp>
      <p:cxnSp>
        <p:nvCxnSpPr>
          <p:cNvPr name="Connector 5" id="5"/>
          <p:cNvCxnSpPr/>
          <p:nvPr/>
        </p:nvCxnSpPr>
        <p:spPr>
          <a:xfrm rot="0" flipH="false" flipV="false">
            <a:off x="-795651" y="6097007"/>
            <a:ext cx="3375550" cy="0"/>
          </a:xfrm>
          <a:prstGeom prst="line">
            <a:avLst/>
          </a:prstGeom>
          <a:noFill/>
          <a:ln w="25400" cap="flat">
            <a:solidFill>
              <a:srgbClr val="FFFFFF">
                <a:alpha val="100000"/>
              </a:srgbClr>
            </a:solidFill>
            <a:prstDash val="solid"/>
            <a:headEnd type="none" w="sm" len="sm"/>
            <a:tailEnd type="none" w="sm" len="sm"/>
          </a:ln>
        </p:spPr>
      </p:cxnSp>
      <p:cxnSp>
        <p:nvCxnSpPr>
          <p:cNvPr name="Connector 6" id="6"/>
          <p:cNvCxnSpPr/>
          <p:nvPr/>
        </p:nvCxnSpPr>
        <p:spPr>
          <a:xfrm rot="0" flipH="false" flipV="false">
            <a:off x="-385430" y="8165820"/>
            <a:ext cx="3375550" cy="0"/>
          </a:xfrm>
          <a:prstGeom prst="line">
            <a:avLst/>
          </a:prstGeom>
          <a:noFill/>
          <a:ln w="25400" cap="flat">
            <a:solidFill>
              <a:srgbClr val="FFFFFF">
                <a:alpha val="100000"/>
              </a:srgbClr>
            </a:solidFill>
            <a:prstDash val="solid"/>
            <a:headEnd type="none" w="sm" len="sm"/>
            <a:tailEnd type="none" w="sm" len="sm"/>
          </a:ln>
        </p:spPr>
      </p:cxnSp>
      <p:sp>
        <p:nvSpPr>
          <p:cNvPr name="AutoShape 7" id="7"/>
          <p:cNvSpPr txBox="true"/>
          <p:nvPr/>
        </p:nvSpPr>
        <p:spPr>
          <a:xfrm rot="-5400000" flipH="false" flipV="false">
            <a:off x="77878" y="1450080"/>
            <a:ext cx="1124468" cy="3237534"/>
          </a:xfrm>
          <a:prstGeom prst="rect">
            <a:avLst/>
          </a:prstGeom>
          <a:noFill/>
          <a:ln w="19050" cmpd="sng" cap="flat">
            <a:noFill/>
            <a:prstDash val="solid"/>
            <a:round/>
          </a:ln>
        </p:spPr>
        <p:txBody>
          <a:bodyPr anchor="ctr" rtlCol="false" anchorCtr="false" vert="horz" wrap="square" lIns="51395" rIns="51395" tIns="51395" bIns="51395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-171421" y="2800908"/>
            <a:ext cx="2302557" cy="6013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914400">
              <a:lnSpc>
                <a:spcPts val="4690"/>
              </a:lnSpc>
              <a:defRPr/>
            </a:pPr>
            <a:r>
              <a:rPr lang="en-US" b="true" i="false" strike="noStrike" u="none" sz="2400" spc="732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研究任务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-304815" y="4955540"/>
            <a:ext cx="2633918" cy="393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914400">
              <a:lnSpc>
                <a:spcPts val="3070"/>
              </a:lnSpc>
              <a:defRPr/>
            </a:pPr>
            <a:r>
              <a:rPr lang="en-US" b="true" i="false" strike="noStrike" u="none" sz="2400" spc="48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环境准备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-180994" y="6960870"/>
            <a:ext cx="2761549" cy="393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914400">
              <a:lnSpc>
                <a:spcPts val="3070"/>
              </a:lnSpc>
              <a:defRPr/>
            </a:pPr>
            <a:r>
              <a:rPr lang="en-US" b="true" i="false" strike="noStrike" u="none" sz="3600" spc="48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原理与流程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56726" y="8999867"/>
            <a:ext cx="1943158" cy="3936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914400">
              <a:lnSpc>
                <a:spcPts val="3070"/>
              </a:lnSpc>
              <a:defRPr/>
            </a:pPr>
            <a:r>
              <a:rPr lang="en-US" b="true" i="false" strike="noStrike" u="none" sz="2400" spc="48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结果与分析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0" flipH="false" flipV="true">
            <a:off x="3110136" y="1009650"/>
            <a:ext cx="14720664" cy="19050"/>
          </a:xfrm>
          <a:prstGeom prst="line">
            <a:avLst/>
          </a:prstGeom>
          <a:noFill/>
          <a:ln w="38100" cap="rnd">
            <a:solidFill>
              <a:srgbClr val="013E80">
                <a:alpha val="100000"/>
              </a:srgbClr>
            </a:solidFill>
            <a:prstDash val="solid"/>
            <a:headEnd type="none" w="sm" len="sm"/>
            <a:tailEnd type="none" w="sm" len="sm"/>
          </a:ln>
        </p:spPr>
      </p:cxnSp>
      <p:pic>
        <p:nvPicPr>
          <p:cNvPr name="Picture 13" id="13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2182395" y="190500"/>
            <a:ext cx="978541" cy="978535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4" id="14"/>
          <p:cNvSpPr txBox="true"/>
          <p:nvPr/>
        </p:nvSpPr>
        <p:spPr>
          <a:xfrm rot="0" flipH="false" flipV="false">
            <a:off x="3213642" y="266700"/>
            <a:ext cx="15417263" cy="73850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914400">
              <a:lnSpc>
                <a:spcPts val="5760"/>
              </a:lnSpc>
              <a:defRPr/>
            </a:pPr>
            <a:r>
              <a:rPr lang="en-US" b="true" i="false" strike="noStrike" u="none" sz="4800">
                <a:solidFill>
                  <a:srgbClr val="2F5597"/>
                </a:solidFill>
                <a:latin typeface="微软雅黑"/>
                <a:ea typeface="微软雅黑"/>
                <a:cs typeface="微软雅黑"/>
                <a:sym typeface="微软雅黑"/>
              </a:rPr>
              <a:t>用 SMILES 表示分子：以阿司匹林为例</a:t>
            </a:r>
            <a:endParaRPr lang="en-US" sz="1100"/>
          </a:p>
        </p:txBody>
      </p:sp>
      <p:sp>
        <p:nvSpPr>
          <p:cNvPr name="Freeform 15" id="15"/>
          <p:cNvSpPr/>
          <p:nvPr/>
        </p:nvSpPr>
        <p:spPr>
          <a:xfrm rot="0" flipH="false" flipV="false">
            <a:off x="-1235075" y="-19050"/>
            <a:ext cx="3366135" cy="10407650"/>
          </a:xfrm>
          <a:custGeom>
            <a:avLst/>
            <a:gdLst/>
            <a:ahLst/>
            <a:cxnLst/>
            <a:rect r="r" b="b" t="t" l="l"/>
            <a:pathLst>
              <a:path h="10407650" w="3366135">
                <a:moveTo>
                  <a:pt x="0" y="0"/>
                </a:moveTo>
                <a:lnTo>
                  <a:pt x="3366135" y="0"/>
                </a:lnTo>
                <a:lnTo>
                  <a:pt x="3366135" y="10407650"/>
                </a:lnTo>
                <a:lnTo>
                  <a:pt x="0" y="10407650"/>
                </a:lnTo>
                <a:close/>
              </a:path>
            </a:pathLst>
          </a:custGeom>
          <a:solidFill>
            <a:srgbClr val="6083BA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-1235075" y="-201997"/>
            <a:ext cx="3366135" cy="10590597"/>
          </a:xfrm>
          <a:prstGeom prst="rect">
            <a:avLst/>
          </a:prstGeom>
          <a:noFill/>
          <a:ln w="19050" cmpd="sng" cap="flat">
            <a:noFill/>
            <a:prstDash val="solid"/>
            <a:round/>
          </a:ln>
        </p:spPr>
        <p:txBody>
          <a:bodyPr anchor="ctr" rtlCol="false" anchorCtr="false" vert="horz" wrap="square" lIns="51395" rIns="51395" tIns="51395" bIns="51395"/>
          <a:lstStyle/>
          <a:p>
            <a:pPr algn="ctr">
              <a:defRPr/>
            </a:pPr>
            <a:endParaRPr/>
          </a:p>
        </p:txBody>
      </p:sp>
      <p:cxnSp>
        <p:nvCxnSpPr>
          <p:cNvPr name="Connector 17" id="17"/>
          <p:cNvCxnSpPr/>
          <p:nvPr/>
        </p:nvCxnSpPr>
        <p:spPr>
          <a:xfrm rot="0" flipH="false" flipV="true">
            <a:off x="-423546" y="4145910"/>
            <a:ext cx="2826385" cy="7620"/>
          </a:xfrm>
          <a:prstGeom prst="line">
            <a:avLst/>
          </a:prstGeom>
          <a:noFill/>
          <a:ln w="25400" cap="flat">
            <a:solidFill>
              <a:srgbClr val="FFFFFF">
                <a:alpha val="100000"/>
              </a:srgbClr>
            </a:solidFill>
            <a:prstDash val="solid"/>
            <a:headEnd type="none" w="sm" len="sm"/>
            <a:tailEnd type="none" w="sm" len="sm"/>
          </a:ln>
        </p:spPr>
      </p:cxnSp>
      <p:cxnSp>
        <p:nvCxnSpPr>
          <p:cNvPr name="Connector 18" id="18"/>
          <p:cNvCxnSpPr/>
          <p:nvPr/>
        </p:nvCxnSpPr>
        <p:spPr>
          <a:xfrm rot="0" flipH="false" flipV="false">
            <a:off x="-795647" y="6096999"/>
            <a:ext cx="3375631" cy="0"/>
          </a:xfrm>
          <a:prstGeom prst="line">
            <a:avLst/>
          </a:prstGeom>
          <a:noFill/>
          <a:ln w="25400" cap="flat">
            <a:solidFill>
              <a:srgbClr val="FFFFFF">
                <a:alpha val="100000"/>
              </a:srgbClr>
            </a:solidFill>
            <a:prstDash val="solid"/>
            <a:headEnd type="none" w="sm" len="sm"/>
            <a:tailEnd type="none" w="sm" len="sm"/>
          </a:ln>
        </p:spPr>
      </p:cxnSp>
      <p:cxnSp>
        <p:nvCxnSpPr>
          <p:cNvPr name="Connector 19" id="19"/>
          <p:cNvCxnSpPr/>
          <p:nvPr/>
        </p:nvCxnSpPr>
        <p:spPr>
          <a:xfrm rot="0" flipH="false" flipV="false">
            <a:off x="-385416" y="8165809"/>
            <a:ext cx="3375631" cy="0"/>
          </a:xfrm>
          <a:prstGeom prst="line">
            <a:avLst/>
          </a:prstGeom>
          <a:noFill/>
          <a:ln w="25400" cap="flat">
            <a:solidFill>
              <a:srgbClr val="FFFFFF">
                <a:alpha val="100000"/>
              </a:srgbClr>
            </a:solidFill>
            <a:prstDash val="solid"/>
            <a:headEnd type="none" w="sm" len="sm"/>
            <a:tailEnd type="none" w="sm" len="sm"/>
          </a:ln>
        </p:spPr>
      </p:cxnSp>
      <p:sp>
        <p:nvSpPr>
          <p:cNvPr name="Freeform 20" id="20"/>
          <p:cNvSpPr/>
          <p:nvPr/>
        </p:nvSpPr>
        <p:spPr>
          <a:xfrm rot="-5400000" flipH="false" flipV="false">
            <a:off x="388726" y="5428099"/>
            <a:ext cx="1124549" cy="3493287"/>
          </a:xfrm>
          <a:custGeom>
            <a:avLst/>
            <a:gdLst/>
            <a:ahLst/>
            <a:cxnLst/>
            <a:rect r="r" b="b" t="t" l="l"/>
            <a:pathLst>
              <a:path h="3493287" w="1124549">
                <a:moveTo>
                  <a:pt x="1124549" y="0"/>
                </a:moveTo>
                <a:lnTo>
                  <a:pt x="1124549" y="3094206"/>
                </a:lnTo>
                <a:lnTo>
                  <a:pt x="562275" y="3493287"/>
                </a:lnTo>
                <a:lnTo>
                  <a:pt x="0" y="3094206"/>
                </a:lnTo>
                <a:lnTo>
                  <a:pt x="0" y="0"/>
                </a:lnTo>
                <a:lnTo>
                  <a:pt x="1124549" y="0"/>
                </a:lnTo>
                <a:close/>
              </a:path>
            </a:pathLst>
          </a:custGeom>
          <a:solidFill>
            <a:srgbClr val="6083BA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 txBox="true"/>
          <p:nvPr/>
        </p:nvSpPr>
        <p:spPr>
          <a:xfrm rot="-5400000" flipH="false" flipV="false">
            <a:off x="77876" y="1450157"/>
            <a:ext cx="1124550" cy="3237371"/>
          </a:xfrm>
          <a:prstGeom prst="rect">
            <a:avLst/>
          </a:prstGeom>
          <a:noFill/>
          <a:ln w="19050" cmpd="sng" cap="flat">
            <a:noFill/>
            <a:prstDash val="solid"/>
            <a:round/>
          </a:ln>
        </p:spPr>
        <p:txBody>
          <a:bodyPr anchor="ctr" rtlCol="false" anchorCtr="false" vert="horz" wrap="square" lIns="51395" rIns="51395" tIns="51395" bIns="51395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-171401" y="2800904"/>
            <a:ext cx="2302612" cy="6013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914400">
              <a:lnSpc>
                <a:spcPts val="4690"/>
              </a:lnSpc>
              <a:defRPr/>
            </a:pPr>
            <a:r>
              <a:rPr lang="en-US" b="true" i="false" strike="noStrike" u="none" sz="2400" spc="732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基础概念</a:t>
            </a:r>
            <a:endParaRPr lang="en-US" sz="1100"/>
          </a:p>
        </p:txBody>
      </p:sp>
      <p:sp>
        <p:nvSpPr>
          <p:cNvPr name="AutoShape 23" id="23"/>
          <p:cNvSpPr txBox="true"/>
          <p:nvPr/>
        </p:nvSpPr>
        <p:spPr>
          <a:xfrm rot="0" flipH="false" flipV="false">
            <a:off x="-304799" y="4955534"/>
            <a:ext cx="2633981" cy="39369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914400">
              <a:lnSpc>
                <a:spcPts val="3070"/>
              </a:lnSpc>
              <a:defRPr/>
            </a:pPr>
            <a:r>
              <a:rPr lang="en-US" b="true" i="false" strike="noStrike" u="none" sz="2400" spc="48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数据样例</a:t>
            </a:r>
            <a:endParaRPr lang="en-US" sz="1100"/>
          </a:p>
        </p:txBody>
      </p:sp>
      <p:sp>
        <p:nvSpPr>
          <p:cNvPr name="AutoShape 24" id="24"/>
          <p:cNvSpPr txBox="true"/>
          <p:nvPr/>
        </p:nvSpPr>
        <p:spPr>
          <a:xfrm rot="0" flipH="false" flipV="false">
            <a:off x="-95250" y="6960861"/>
            <a:ext cx="2761615" cy="39369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914400">
              <a:lnSpc>
                <a:spcPts val="3070"/>
              </a:lnSpc>
              <a:defRPr/>
            </a:pPr>
            <a:r>
              <a:rPr lang="en-US" b="true" i="false" strike="noStrike" u="none" sz="3600" spc="48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分子表示</a:t>
            </a:r>
            <a:endParaRPr lang="en-US" sz="1100"/>
          </a:p>
        </p:txBody>
      </p:sp>
      <p:sp>
        <p:nvSpPr>
          <p:cNvPr name="AutoShape 25" id="25"/>
          <p:cNvSpPr txBox="true"/>
          <p:nvPr/>
        </p:nvSpPr>
        <p:spPr>
          <a:xfrm rot="0" flipH="false" flipV="false">
            <a:off x="56751" y="8999856"/>
            <a:ext cx="1943204" cy="39369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914400">
              <a:lnSpc>
                <a:spcPts val="3070"/>
              </a:lnSpc>
              <a:defRPr/>
            </a:pPr>
            <a:r>
              <a:rPr lang="en-US" b="true" i="false" strike="noStrike" u="none" sz="2400" spc="48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计算方法</a:t>
            </a:r>
            <a:endParaRPr lang="en-US" sz="1100"/>
          </a:p>
        </p:txBody>
      </p:sp>
      <p:graphicFrame>
        <p:nvGraphicFramePr>
          <p:cNvPr name="Table 26" id="26"/>
          <p:cNvGraphicFramePr>
            <a:graphicFrameLocks noGrp="true"/>
          </p:cNvGraphicFramePr>
          <p:nvPr/>
        </p:nvGraphicFramePr>
        <p:xfrm>
          <a:off x="2990215" y="3385185"/>
          <a:ext cx="14730095" cy="608076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4321175"/>
                <a:gridCol w="5890895"/>
                <a:gridCol w="4518025"/>
              </a:tblGrid>
              <a:tr h="502920"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270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类别</a:t>
                      </a:r>
                      <a:endParaRPr lang="en-US" sz="1100"/>
                    </a:p>
                  </a:txBody>
                  <a:tcPr anchor="ctr" marL="0" marR="0" marT="0" marB="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270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规则（七条）</a:t>
                      </a:r>
                      <a:endParaRPr lang="en-US" sz="1100"/>
                    </a:p>
                  </a:txBody>
                  <a:tcPr anchor="t" marL="91440" marR="91440" marT="33020" marB="330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270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例子</a:t>
                      </a:r>
                      <a:endParaRPr lang="en-US" sz="1100"/>
                    </a:p>
                  </a:txBody>
                  <a:tcPr anchor="t" marL="91440" marR="91440" marT="33020" marB="330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>
                        <a:alpha val="100000"/>
                      </a:srgbClr>
                    </a:solidFill>
                  </a:tcPr>
                </a:tc>
              </a:tr>
              <a:tr h="914400"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27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原子与原子属性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27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用元素符号；电荷、同位素等放在方括号中</a:t>
                      </a:r>
                      <a:endParaRPr lang="en-US" sz="1100"/>
                    </a:p>
                  </a:txBody>
                  <a:tcPr anchor="t" marL="91440" marR="91440" marT="33020" marB="330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27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C、Cl、[Na+]、[13CH4]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>
                        <a:alpha val="100000"/>
                      </a:srgbClr>
                    </a:solidFill>
                  </a:tcPr>
                </a:tc>
              </a:tr>
              <a:tr h="502920"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27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化学键</a:t>
                      </a:r>
                      <a:endParaRPr lang="en-US" sz="1100"/>
                    </a:p>
                  </a:txBody>
                  <a:tcPr anchor="t" marL="91440" marR="91440" marT="33020" marB="330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27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单键 </a:t>
                      </a:r>
                      <a:r>
                        <a:rPr lang="en-US" b="false" i="false" strike="noStrike" u="none" sz="2700">
                          <a:solidFill>
                            <a:srgbClr val="FF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-</a:t>
                      </a:r>
                      <a:r>
                        <a:rPr lang="en-US" b="false" i="false" strike="noStrike" u="none" sz="27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、双键</a:t>
                      </a:r>
                      <a:r>
                        <a:rPr lang="en-US" b="false" i="false" strike="noStrike" u="none" sz="2700">
                          <a:solidFill>
                            <a:srgbClr val="FF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 </a:t>
                      </a:r>
                      <a:r>
                        <a:rPr lang="en-US" b="true" i="false" strike="noStrike" u="none" sz="2700">
                          <a:solidFill>
                            <a:srgbClr val="FF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=</a:t>
                      </a:r>
                      <a:r>
                        <a:rPr lang="en-US" b="false" i="false" strike="noStrike" u="none" sz="27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、三键 </a:t>
                      </a:r>
                      <a:r>
                        <a:rPr lang="en-US" b="true" i="false" strike="noStrike" u="none" sz="2700">
                          <a:solidFill>
                            <a:srgbClr val="FF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#</a:t>
                      </a:r>
                      <a:r>
                        <a:rPr lang="en-US" b="false" i="false" strike="noStrike" u="none" sz="27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、芳香键 </a:t>
                      </a:r>
                      <a:r>
                        <a:rPr lang="en-US" b="false" i="false" strike="noStrike" u="none" sz="2700">
                          <a:solidFill>
                            <a:srgbClr val="FF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:</a:t>
                      </a:r>
                      <a:endParaRPr lang="en-US" sz="1100"/>
                    </a:p>
                  </a:txBody>
                  <a:tcPr anchor="t" marL="91440" marR="91440" marT="33020" marB="330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27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CC、C=O、C#N</a:t>
                      </a:r>
                      <a:endParaRPr lang="en-US" sz="1100"/>
                    </a:p>
                  </a:txBody>
                  <a:tcPr anchor="t" marL="91440" marR="91440" marT="33020" marB="330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>
                        <a:alpha val="100000"/>
                      </a:srgbClr>
                    </a:solidFill>
                  </a:tcPr>
                </a:tc>
              </a:tr>
              <a:tr h="914400"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27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氢的省略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27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常见有机原子的氢数可由价态及连接关系推断</a:t>
                      </a:r>
                      <a:endParaRPr lang="en-US" sz="1100"/>
                    </a:p>
                  </a:txBody>
                  <a:tcPr anchor="t" marL="91440" marR="91440" marT="33020" marB="330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27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CCO 表示 CH₃CH₂OH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>
                        <a:alpha val="100000"/>
                      </a:srgbClr>
                    </a:solidFill>
                  </a:tcPr>
                </a:tc>
              </a:tr>
              <a:tr h="914400"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27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分支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27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用 </a:t>
                      </a:r>
                      <a:r>
                        <a:rPr lang="en-US" b="false" i="false" strike="noStrike" u="none" sz="2700">
                          <a:solidFill>
                            <a:srgbClr val="FF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() </a:t>
                      </a:r>
                      <a:r>
                        <a:rPr lang="en-US" b="false" i="false" strike="noStrike" u="none" sz="27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表示，从左侧当前原子分出；括号结束后返回分支起点</a:t>
                      </a:r>
                      <a:endParaRPr lang="en-US" sz="1100"/>
                    </a:p>
                  </a:txBody>
                  <a:tcPr anchor="t" marL="91440" marR="91440" marT="33020" marB="330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27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CC(=O)O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>
                        <a:alpha val="100000"/>
                      </a:srgbClr>
                    </a:solidFill>
                  </a:tcPr>
                </a:tc>
              </a:tr>
              <a:tr h="914400"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27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环闭合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27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相同数字出现两次，表示相应两个原子之间还要连接一条键</a:t>
                      </a:r>
                      <a:endParaRPr lang="en-US" sz="1100"/>
                    </a:p>
                  </a:txBody>
                  <a:tcPr anchor="t" marL="91440" marR="91440" marT="33020" marB="330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27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C1CCCCC1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>
                        <a:alpha val="100000"/>
                      </a:srgbClr>
                    </a:solidFill>
                  </a:tcPr>
                </a:tc>
              </a:tr>
              <a:tr h="502920"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27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芳香性</a:t>
                      </a:r>
                      <a:endParaRPr lang="en-US" sz="1100"/>
                    </a:p>
                  </a:txBody>
                  <a:tcPr anchor="t" marL="91440" marR="91440" marT="33020" marB="330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27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芳香原子通常用小写，例如 c、n</a:t>
                      </a:r>
                      <a:endParaRPr lang="en-US" sz="1100"/>
                    </a:p>
                  </a:txBody>
                  <a:tcPr anchor="t" marL="91440" marR="91440" marT="33020" marB="330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27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c1ccccc1</a:t>
                      </a:r>
                      <a:endParaRPr lang="en-US" sz="1100"/>
                    </a:p>
                  </a:txBody>
                  <a:tcPr anchor="t" marL="91440" marR="91440" marT="33020" marB="330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>
                        <a:alpha val="100000"/>
                      </a:srgbClr>
                    </a:solidFill>
                  </a:tcPr>
                </a:tc>
              </a:tr>
              <a:tr h="914400"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27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不连接组分与立体信息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2700">
                          <a:solidFill>
                            <a:srgbClr val="FF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.</a:t>
                      </a:r>
                      <a:r>
                        <a:rPr lang="en-US" b="false" i="false" strike="noStrike" u="none" sz="27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 表示不直接成键；</a:t>
                      </a:r>
                      <a:r>
                        <a:rPr lang="en-US" b="false" i="false" strike="noStrike" u="none" sz="2700">
                          <a:solidFill>
                            <a:srgbClr val="FF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@</a:t>
                      </a:r>
                      <a:r>
                        <a:rPr lang="en-US" b="false" i="false" strike="noStrike" u="none" sz="27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、</a:t>
                      </a:r>
                      <a:r>
                        <a:rPr lang="en-US" b="false" i="false" strike="noStrike" u="none" sz="2700">
                          <a:solidFill>
                            <a:srgbClr val="FF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@@</a:t>
                      </a:r>
                      <a:r>
                        <a:rPr lang="en-US" b="false" i="false" strike="noStrike" u="none" sz="27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、</a:t>
                      </a:r>
                      <a:r>
                        <a:rPr lang="en-US" b="false" i="false" strike="noStrike" u="none" sz="2700">
                          <a:solidFill>
                            <a:srgbClr val="FF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/</a:t>
                      </a:r>
                      <a:r>
                        <a:rPr lang="en-US" b="false" i="false" strike="noStrike" u="none" sz="27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、</a:t>
                      </a:r>
                      <a:r>
                        <a:rPr lang="en-US" b="false" i="false" strike="noStrike" u="none" sz="2700">
                          <a:solidFill>
                            <a:srgbClr val="FF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\ </a:t>
                      </a:r>
                      <a:r>
                        <a:rPr lang="en-US" b="false" i="false" strike="noStrike" u="none" sz="27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表示特定立体信息</a:t>
                      </a:r>
                      <a:endParaRPr lang="en-US" sz="1100"/>
                    </a:p>
                  </a:txBody>
                  <a:tcPr anchor="t" marL="91440" marR="91440" marT="33020" marB="330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27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[Na+].[Cl-]；F/C=C/F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name="AutoShape 27" id="27"/>
          <p:cNvSpPr/>
          <p:nvPr/>
        </p:nvSpPr>
        <p:spPr>
          <a:xfrm rot="0" flipH="false" flipV="false">
            <a:off x="4724400" y="1485900"/>
            <a:ext cx="7066280" cy="1516380"/>
          </a:xfrm>
          <a:prstGeom prst="roundRect">
            <a:avLst>
              <a:gd name="adj" fmla="val 16667"/>
            </a:avLst>
          </a:prstGeom>
          <a:solidFill>
            <a:srgbClr val="F2F2F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 txBox="true"/>
          <p:nvPr/>
        </p:nvSpPr>
        <p:spPr>
          <a:xfrm rot="0" flipH="false" flipV="false">
            <a:off x="4191000" y="1562100"/>
            <a:ext cx="8042275" cy="1346200"/>
          </a:xfrm>
          <a:prstGeom prst="rect">
            <a:avLst/>
          </a:prstGeom>
          <a:noFill/>
          <a:ln w="1905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457200" defTabSz="914400">
              <a:lnSpc>
                <a:spcPct val="158333"/>
              </a:lnSpc>
              <a:defRPr/>
            </a:pP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阿司匹林：分子式为 </a:t>
            </a:r>
            <a:r>
              <a:rPr lang="en-US" b="false" i="false" strike="noStrike" u="none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C₉H₈O₄</a:t>
            </a: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。它的一种</a:t>
            </a: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	</a:t>
            </a:r>
            <a:r>
              <a:rPr lang="en-US" b="false" i="false" strike="noStrike" u="none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SMILES</a:t>
            </a: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 写法是：</a:t>
            </a:r>
            <a:r>
              <a:rPr lang="en-US" b="true" i="false" strike="noStrike" u="none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CC(=O)Oc1ccccc1C(=O)O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3276600" y="1635760"/>
            <a:ext cx="6646545" cy="4738370"/>
          </a:xfrm>
          <a:prstGeom prst="roundRect">
            <a:avLst>
              <a:gd name="adj" fmla="val 16667"/>
            </a:avLst>
          </a:prstGeom>
          <a:solidFill>
            <a:srgbClr val="F2F2F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368618" y="1360995"/>
            <a:ext cx="6096000" cy="553085"/>
          </a:xfrm>
          <a:prstGeom prst="rect">
            <a:avLst/>
          </a:prstGeom>
          <a:noFill/>
          <a:ln w="1905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>
              <a:defRPr/>
            </a:pPr>
            <a:endParaRPr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13608368" y="6814058"/>
            <a:ext cx="6096000" cy="506730"/>
          </a:xfrm>
          <a:prstGeom prst="rect">
            <a:avLst/>
          </a:prstGeom>
          <a:noFill/>
          <a:ln w="1905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>
              <a:defRPr/>
            </a:pPr>
            <a:endParaRPr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1294448" y="13582650"/>
            <a:ext cx="6096000" cy="506730"/>
          </a:xfrm>
          <a:prstGeom prst="rect">
            <a:avLst/>
          </a:prstGeom>
          <a:noFill/>
          <a:ln w="1905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>
              <a:defRPr/>
            </a:pPr>
            <a:endParaRPr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-1235075" y="-201997"/>
            <a:ext cx="3366135" cy="10590597"/>
          </a:xfrm>
          <a:prstGeom prst="rect">
            <a:avLst/>
          </a:prstGeom>
          <a:noFill/>
          <a:ln w="19050" cmpd="sng" cap="flat">
            <a:noFill/>
            <a:prstDash val="solid"/>
            <a:round/>
          </a:ln>
        </p:spPr>
        <p:txBody>
          <a:bodyPr anchor="ctr" rtlCol="false" anchorCtr="false" vert="horz" wrap="square" lIns="51395" rIns="51395" tIns="51395" bIns="51395"/>
          <a:lstStyle/>
          <a:p>
            <a:pPr algn="ctr">
              <a:defRPr/>
            </a:pPr>
            <a:endParaRPr/>
          </a:p>
        </p:txBody>
      </p:sp>
      <p:cxnSp>
        <p:nvCxnSpPr>
          <p:cNvPr name="Connector 7" id="7"/>
          <p:cNvCxnSpPr/>
          <p:nvPr/>
        </p:nvCxnSpPr>
        <p:spPr>
          <a:xfrm rot="0" flipH="false" flipV="true">
            <a:off x="3110230" y="1009650"/>
            <a:ext cx="14720570" cy="19050"/>
          </a:xfrm>
          <a:prstGeom prst="line">
            <a:avLst/>
          </a:prstGeom>
          <a:noFill/>
          <a:ln w="38100" cap="rnd">
            <a:solidFill>
              <a:srgbClr val="013E80">
                <a:alpha val="100000"/>
              </a:srgbClr>
            </a:solidFill>
            <a:prstDash val="solid"/>
            <a:headEnd type="none" w="sm" len="sm"/>
            <a:tailEnd type="none" w="sm" len="sm"/>
          </a:ln>
        </p:spPr>
      </p:cxnSp>
      <p:pic>
        <p:nvPicPr>
          <p:cNvPr name="Picture 8" id="8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2182495" y="190500"/>
            <a:ext cx="978535" cy="978535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9" id="9"/>
          <p:cNvSpPr txBox="true"/>
          <p:nvPr/>
        </p:nvSpPr>
        <p:spPr>
          <a:xfrm rot="0" flipH="false" flipV="false">
            <a:off x="3213735" y="266700"/>
            <a:ext cx="12207875" cy="73850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914400">
              <a:lnSpc>
                <a:spcPts val="5760"/>
              </a:lnSpc>
              <a:defRPr/>
            </a:pPr>
            <a:r>
              <a:rPr lang="en-US" b="true" i="false" strike="noStrike" u="none" sz="4800">
                <a:solidFill>
                  <a:srgbClr val="2F5597"/>
                </a:solidFill>
                <a:latin typeface="微软雅黑"/>
                <a:ea typeface="微软雅黑"/>
                <a:cs typeface="微软雅黑"/>
                <a:sym typeface="微软雅黑"/>
              </a:rPr>
              <a:t>从 SMILES 到分子图：恢复原子与连接关系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4038600" y="6515100"/>
            <a:ext cx="12842875" cy="3187065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1" id="11"/>
          <p:cNvSpPr/>
          <p:nvPr/>
        </p:nvSpPr>
        <p:spPr>
          <a:xfrm rot="0" flipH="false" flipV="false">
            <a:off x="10287635" y="1635760"/>
            <a:ext cx="7186295" cy="4730750"/>
          </a:xfrm>
          <a:prstGeom prst="roundRect">
            <a:avLst>
              <a:gd name="adj" fmla="val 16667"/>
            </a:avLst>
          </a:prstGeom>
          <a:solidFill>
            <a:srgbClr val="F2F2F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2698115" y="952500"/>
            <a:ext cx="11198860" cy="5455285"/>
          </a:xfrm>
          <a:prstGeom prst="rect">
            <a:avLst/>
          </a:prstGeom>
          <a:noFill/>
          <a:ln w="1905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457200" defTabSz="914400">
              <a:lnSpc>
                <a:spcPct val="158333"/>
              </a:lnSpc>
              <a:defRPr/>
            </a:pP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以：</a:t>
            </a:r>
            <a:r>
              <a:rPr lang="en-US" b="true" i="false" strike="noStrike" u="none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CC(=O)Oc1ccccc1C(=O)O</a:t>
            </a: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为例，按原子出现顺序，从</a:t>
            </a:r>
            <a:r>
              <a:rPr lang="en-US" b="false" i="false" strike="noStrike" u="none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0 </a:t>
            </a: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开始编号。</a:t>
            </a:r>
            <a:r>
              <a:rPr lang="en-US" b="fals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457200" defTabSz="914400">
              <a:lnSpc>
                <a:spcPct val="158333"/>
              </a:lnSpc>
            </a:pPr>
            <a:r>
              <a:rPr lang="en-US" b="fals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457200" defTabSz="914400">
              <a:lnSpc>
                <a:spcPct val="158333"/>
              </a:lnSpc>
            </a:pPr>
            <a:r>
              <a:rPr lang="en-US" b="fals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457200" defTabSz="914400">
              <a:lnSpc>
                <a:spcPct val="158333"/>
              </a:lnSpc>
            </a:pPr>
            <a:r>
              <a:rPr lang="en-US" b="fals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457200" defTabSz="914400">
              <a:lnSpc>
                <a:spcPct val="158333"/>
              </a:lnSpc>
            </a:pPr>
            <a:r>
              <a:rPr lang="en-US" b="fals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457200" defTabSz="914400">
              <a:lnSpc>
                <a:spcPct val="158333"/>
              </a:lnSpc>
            </a:pPr>
            <a:r>
              <a:rPr lang="en-US" b="fals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457200" defTabSz="914400">
              <a:lnSpc>
                <a:spcPct val="158333"/>
              </a:lnSpc>
            </a:pPr>
            <a:r>
              <a:rPr lang="en-US" b="fals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457200" defTabSz="914400">
              <a:lnSpc>
                <a:spcPct val="158333"/>
              </a:lnSpc>
            </a:pP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括号结束后回到原子</a:t>
            </a:r>
            <a:r>
              <a:rPr lang="en-US" b="false" i="false" strike="noStrike" u="none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</a:t>
            </a: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，所以后面的氧</a:t>
            </a:r>
            <a:r>
              <a:rPr lang="en-US" b="fals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457200" defTabSz="914400">
              <a:lnSpc>
                <a:spcPct val="158333"/>
              </a:lnSpc>
            </a:pP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连接在羰基碳上，不是连接在分支中的氧上</a:t>
            </a:r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10222865" y="1485900"/>
            <a:ext cx="4722495" cy="681990"/>
          </a:xfrm>
          <a:prstGeom prst="rect">
            <a:avLst/>
          </a:prstGeom>
          <a:noFill/>
          <a:ln w="1905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457200" defTabSz="914400">
              <a:lnSpc>
                <a:spcPct val="158333"/>
              </a:lnSpc>
              <a:defRPr/>
            </a:pP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继续读取苯环：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3753485" y="1565275"/>
            <a:ext cx="5848350" cy="3414395"/>
          </a:xfrm>
          <a:prstGeom prst="rect">
            <a:avLst/>
          </a:prstGeom>
          <a:noFill/>
          <a:ln w="1905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>
            <a:lvl1pPr marL="590550" indent="-304800"/>
            <a:lvl2pPr marL="1047750" indent="-304800"/>
            <a:lvl3pPr marL="1504950" indent="-304800"/>
            <a:lvl4pPr marL="1962150" indent="-304800"/>
            <a:lvl5pPr marL="2419350" indent="-304800"/>
            <a:lvl6pPr marL="2876550" indent="-304800"/>
            <a:lvl7pPr marL="3333750" indent="-304800"/>
            <a:lvl8pPr marL="3790950" indent="-304800"/>
            <a:lvl9pPr marL="4248150" indent="-304800"/>
          </a:lstStyle>
          <a:p>
            <a:pPr algn="l" indent="-285750" marL="285750" defTabSz="914400">
              <a:lnSpc>
                <a:spcPct val="150000"/>
              </a:lnSpc>
              <a:buClr>
                <a:srgbClr val="000000"/>
              </a:buClr>
              <a:buSzPct val="80000"/>
              <a:buFont typeface="Wingdings"/>
              <a:buChar char="Ø"/>
              <a:defRPr/>
            </a:pP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读</a:t>
            </a:r>
            <a:r>
              <a:rPr lang="en-US" b="false" i="false" strike="noStrike" u="none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→ </a:t>
            </a: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创建原子</a:t>
            </a:r>
            <a:r>
              <a:rPr lang="en-US" b="false" i="false" strike="noStrike" u="none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0</a:t>
            </a:r>
            <a:r>
              <a:rPr lang="en-US" b="false" i="false" strike="noStrike" u="none" sz="24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285750" marL="285750" defTabSz="914400">
              <a:lnSpc>
                <a:spcPct val="150000"/>
              </a:lnSpc>
              <a:buClr>
                <a:srgbClr val="000000"/>
              </a:buClr>
              <a:buSzPct val="80000"/>
              <a:buFont typeface="Wingdings"/>
              <a:buChar char="Ø"/>
            </a:pP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读</a:t>
            </a:r>
            <a:r>
              <a:rPr lang="en-US" b="false" i="false" strike="noStrike" u="none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 → </a:t>
            </a: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创建原子</a:t>
            </a:r>
            <a:r>
              <a:rPr lang="en-US" b="false" i="false" strike="noStrike" u="none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</a:t>
            </a: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，连接</a:t>
            </a:r>
            <a:r>
              <a:rPr lang="en-US" b="false" i="false" strike="noStrike" u="none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0—1</a:t>
            </a:r>
            <a:r>
              <a:rPr lang="en-US" b="false" i="false" strike="noStrike" u="none" sz="24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85750" marL="285750" defTabSz="914400">
              <a:lnSpc>
                <a:spcPct val="150000"/>
              </a:lnSpc>
              <a:buClr>
                <a:srgbClr val="000000"/>
              </a:buClr>
              <a:buSzPct val="80000"/>
              <a:buFont typeface="Wingdings"/>
              <a:buChar char="Ø"/>
            </a:pP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读</a:t>
            </a:r>
            <a:r>
              <a:rPr lang="en-US" b="false" i="false" strike="noStrike" u="none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 → </a:t>
            </a: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记住当前原子</a:t>
            </a:r>
            <a:r>
              <a:rPr lang="en-US" b="false" i="false" strike="noStrike" u="none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</a:t>
            </a: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，开始分支</a:t>
            </a:r>
            <a:r>
              <a:rPr lang="en-US" b="false" i="false" strike="noStrike" u="none" sz="24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85750" marL="285750" defTabSz="914400">
              <a:lnSpc>
                <a:spcPct val="150000"/>
              </a:lnSpc>
              <a:buClr>
                <a:srgbClr val="000000"/>
              </a:buClr>
              <a:buSzPct val="80000"/>
              <a:buFont typeface="Wingdings"/>
              <a:buChar char="Ø"/>
            </a:pP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读</a:t>
            </a:r>
            <a:r>
              <a:rPr lang="en-US" b="false" i="false" strike="noStrike" u="none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=O → </a:t>
            </a: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创建原子</a:t>
            </a:r>
            <a:r>
              <a:rPr lang="en-US" b="false" i="false" strike="noStrike" u="none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</a:t>
            </a: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，连接</a:t>
            </a:r>
            <a:r>
              <a:rPr lang="en-US" b="false" i="false" strike="noStrike" u="none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1=2</a:t>
            </a:r>
            <a:r>
              <a:rPr lang="en-US" b="false" i="false" strike="noStrike" u="none" sz="24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85750" marL="285750" defTabSz="914400">
              <a:lnSpc>
                <a:spcPct val="150000"/>
              </a:lnSpc>
              <a:buClr>
                <a:srgbClr val="000000"/>
              </a:buClr>
              <a:buSzPct val="80000"/>
              <a:buFont typeface="Wingdings"/>
              <a:buChar char="Ø"/>
            </a:pP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读</a:t>
            </a:r>
            <a:r>
              <a:rPr lang="en-US" b="false" i="false" strike="noStrike" u="none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) → </a:t>
            </a: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返回原子</a:t>
            </a:r>
            <a:r>
              <a:rPr lang="en-US" b="false" i="false" strike="noStrike" u="none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</a:t>
            </a:r>
            <a:r>
              <a:rPr lang="en-US" b="false" i="false" strike="noStrike" u="none" sz="24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85750" marL="285750" defTabSz="914400">
              <a:lnSpc>
                <a:spcPct val="150000"/>
              </a:lnSpc>
              <a:buClr>
                <a:srgbClr val="000000"/>
              </a:buClr>
              <a:buSzPct val="80000"/>
              <a:buFont typeface="Wingdings"/>
              <a:buChar char="Ø"/>
            </a:pP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读</a:t>
            </a:r>
            <a:r>
              <a:rPr lang="en-US" b="false" i="false" strike="noStrike" u="none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 → </a:t>
            </a: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创建原子</a:t>
            </a:r>
            <a:r>
              <a:rPr lang="en-US" b="false" i="false" strike="noStrike" u="none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</a:t>
            </a: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，连接</a:t>
            </a:r>
            <a:r>
              <a:rPr lang="en-US" b="false" i="false" strike="noStrike" u="none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1—3</a:t>
            </a:r>
            <a:r>
              <a:rPr lang="en-US" b="false" i="false" strike="noStrike" u="none" sz="24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defTabSz="914400">
              <a:lnSpc>
                <a:spcPct val="150000"/>
              </a:lnSpc>
            </a:pPr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10495915" y="2019300"/>
            <a:ext cx="6978015" cy="3485515"/>
          </a:xfrm>
          <a:prstGeom prst="rect">
            <a:avLst/>
          </a:prstGeom>
          <a:noFill/>
          <a:ln w="1905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>
            <a:lvl1pPr marL="590550" indent="-304800"/>
            <a:lvl2pPr marL="1047750" indent="-304800"/>
            <a:lvl3pPr marL="1504950" indent="-304800"/>
            <a:lvl4pPr marL="1962150" indent="-304800"/>
            <a:lvl5pPr marL="2419350" indent="-304800"/>
            <a:lvl6pPr marL="2876550" indent="-304800"/>
            <a:lvl7pPr marL="3333750" indent="-304800"/>
            <a:lvl8pPr marL="3790950" indent="-304800"/>
            <a:lvl9pPr marL="4248150" indent="-304800"/>
          </a:lstStyle>
          <a:p>
            <a:pPr algn="l" indent="-285750" marL="285750" defTabSz="914400">
              <a:lnSpc>
                <a:spcPct val="150000"/>
              </a:lnSpc>
              <a:buClr>
                <a:srgbClr val="000000"/>
              </a:buClr>
              <a:buSzPct val="80000"/>
              <a:buFont typeface="Wingdings"/>
              <a:buChar char="Ø"/>
              <a:defRPr/>
            </a:pP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读c1</a:t>
            </a:r>
            <a:r>
              <a:rPr lang="en-US" b="false" i="false" strike="noStrike" u="none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→ 创建原子 4，记录闭环标记 1</a:t>
            </a:r>
            <a:r>
              <a:rPr lang="en-US" b="false" i="false" strike="noStrike" u="none" sz="24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285750" marL="285750" defTabSz="914400">
              <a:lnSpc>
                <a:spcPct val="150000"/>
              </a:lnSpc>
              <a:buClr>
                <a:srgbClr val="000000"/>
              </a:buClr>
              <a:buSzPct val="80000"/>
              <a:buFont typeface="Wingdings"/>
              <a:buChar char="Ø"/>
            </a:pP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继续读 ccccc → 依次创建原子 5、6、7、8、9</a:t>
            </a:r>
            <a:r>
              <a:rPr lang="en-US" b="false" i="false" strike="noStrike" u="none" sz="24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85750" marL="285750" defTabSz="914400">
              <a:lnSpc>
                <a:spcPct val="150000"/>
              </a:lnSpc>
              <a:buClr>
                <a:srgbClr val="000000"/>
              </a:buClr>
              <a:buSzPct val="80000"/>
              <a:buFont typeface="Wingdings"/>
              <a:buChar char="Ø"/>
            </a:pP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再读 1 → 增加原子 9 与原子 4 之间的键</a:t>
            </a:r>
            <a:r>
              <a:rPr lang="en-US" b="false" i="false" strike="noStrike" u="none" sz="24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85750" marL="285750" defTabSz="914400">
              <a:lnSpc>
                <a:spcPct val="150000"/>
              </a:lnSpc>
              <a:buClr>
                <a:srgbClr val="000000"/>
              </a:buClr>
              <a:buSzPct val="80000"/>
              <a:buFont typeface="Wingdings"/>
              <a:buChar char="Ø"/>
            </a:pP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最后从原子 9 继续接羧基：</a:t>
            </a:r>
            <a:r>
              <a:rPr lang="en-US" b="false" i="false" strike="noStrike" u="none" sz="24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85750" marL="285750" defTabSz="914400">
              <a:lnSpc>
                <a:spcPct val="150000"/>
              </a:lnSpc>
              <a:buClr>
                <a:srgbClr val="000000"/>
              </a:buClr>
              <a:buSzPct val="80000"/>
              <a:buFont typeface="Wingdings"/>
              <a:buChar char="Ø"/>
            </a:pP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9—10</a:t>
            </a:r>
            <a:r>
              <a:rPr lang="en-US" b="false" i="false" strike="noStrike" u="none" sz="24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85750" marL="285750" defTabSz="914400">
              <a:lnSpc>
                <a:spcPct val="150000"/>
              </a:lnSpc>
              <a:buClr>
                <a:srgbClr val="000000"/>
              </a:buClr>
              <a:buSzPct val="80000"/>
              <a:buFont typeface="Wingdings"/>
              <a:buChar char="Ø"/>
            </a:pP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10=11</a:t>
            </a:r>
            <a:r>
              <a:rPr lang="en-US" b="false" i="false" strike="noStrike" u="none" sz="24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85750" marL="285750" defTabSz="914400">
              <a:lnSpc>
                <a:spcPct val="150000"/>
              </a:lnSpc>
              <a:buClr>
                <a:srgbClr val="000000"/>
              </a:buClr>
              <a:buSzPct val="80000"/>
              <a:buFont typeface="Wingdings"/>
              <a:buChar char="Ø"/>
            </a:pP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10—12</a:t>
            </a:r>
          </a:p>
        </p:txBody>
      </p:sp>
      <p:sp>
        <p:nvSpPr>
          <p:cNvPr name="Freeform 16" id="16"/>
          <p:cNvSpPr/>
          <p:nvPr/>
        </p:nvSpPr>
        <p:spPr>
          <a:xfrm rot="0" flipH="false" flipV="false">
            <a:off x="-1235075" y="-19050"/>
            <a:ext cx="3366135" cy="10407650"/>
          </a:xfrm>
          <a:custGeom>
            <a:avLst/>
            <a:gdLst/>
            <a:ahLst/>
            <a:cxnLst/>
            <a:rect r="r" b="b" t="t" l="l"/>
            <a:pathLst>
              <a:path h="10407650" w="3366135">
                <a:moveTo>
                  <a:pt x="0" y="0"/>
                </a:moveTo>
                <a:lnTo>
                  <a:pt x="3366135" y="0"/>
                </a:lnTo>
                <a:lnTo>
                  <a:pt x="3366135" y="10407650"/>
                </a:lnTo>
                <a:lnTo>
                  <a:pt x="0" y="10407650"/>
                </a:lnTo>
                <a:close/>
              </a:path>
            </a:pathLst>
          </a:custGeom>
          <a:solidFill>
            <a:srgbClr val="6083BA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-1235075" y="-201997"/>
            <a:ext cx="3366135" cy="10590597"/>
          </a:xfrm>
          <a:prstGeom prst="rect">
            <a:avLst/>
          </a:prstGeom>
          <a:noFill/>
          <a:ln w="19050" cmpd="sng" cap="flat">
            <a:noFill/>
            <a:prstDash val="solid"/>
            <a:round/>
          </a:ln>
        </p:spPr>
        <p:txBody>
          <a:bodyPr anchor="ctr" rtlCol="false" anchorCtr="false" vert="horz" wrap="square" lIns="51395" rIns="51395" tIns="51395" bIns="51395"/>
          <a:lstStyle/>
          <a:p>
            <a:pPr algn="ctr">
              <a:defRPr/>
            </a:pPr>
            <a:endParaRPr/>
          </a:p>
        </p:txBody>
      </p:sp>
      <p:cxnSp>
        <p:nvCxnSpPr>
          <p:cNvPr name="Connector 18" id="18"/>
          <p:cNvCxnSpPr/>
          <p:nvPr/>
        </p:nvCxnSpPr>
        <p:spPr>
          <a:xfrm rot="0" flipH="false" flipV="true">
            <a:off x="-423546" y="4145910"/>
            <a:ext cx="2826385" cy="7620"/>
          </a:xfrm>
          <a:prstGeom prst="line">
            <a:avLst/>
          </a:prstGeom>
          <a:noFill/>
          <a:ln w="25400" cap="flat">
            <a:solidFill>
              <a:srgbClr val="FFFFFF">
                <a:alpha val="100000"/>
              </a:srgbClr>
            </a:solidFill>
            <a:prstDash val="solid"/>
            <a:headEnd type="none" w="sm" len="sm"/>
            <a:tailEnd type="none" w="sm" len="sm"/>
          </a:ln>
        </p:spPr>
      </p:cxnSp>
      <p:cxnSp>
        <p:nvCxnSpPr>
          <p:cNvPr name="Connector 19" id="19"/>
          <p:cNvCxnSpPr/>
          <p:nvPr/>
        </p:nvCxnSpPr>
        <p:spPr>
          <a:xfrm rot="0" flipH="false" flipV="false">
            <a:off x="-795647" y="6096999"/>
            <a:ext cx="3375631" cy="0"/>
          </a:xfrm>
          <a:prstGeom prst="line">
            <a:avLst/>
          </a:prstGeom>
          <a:noFill/>
          <a:ln w="25400" cap="flat">
            <a:solidFill>
              <a:srgbClr val="FFFFFF">
                <a:alpha val="100000"/>
              </a:srgbClr>
            </a:solidFill>
            <a:prstDash val="solid"/>
            <a:headEnd type="none" w="sm" len="sm"/>
            <a:tailEnd type="none" w="sm" len="sm"/>
          </a:ln>
        </p:spPr>
      </p:cxnSp>
      <p:cxnSp>
        <p:nvCxnSpPr>
          <p:cNvPr name="Connector 20" id="20"/>
          <p:cNvCxnSpPr/>
          <p:nvPr/>
        </p:nvCxnSpPr>
        <p:spPr>
          <a:xfrm rot="0" flipH="false" flipV="false">
            <a:off x="-385416" y="8165809"/>
            <a:ext cx="3375631" cy="0"/>
          </a:xfrm>
          <a:prstGeom prst="line">
            <a:avLst/>
          </a:prstGeom>
          <a:noFill/>
          <a:ln w="25400" cap="flat">
            <a:solidFill>
              <a:srgbClr val="FFFFFF">
                <a:alpha val="100000"/>
              </a:srgbClr>
            </a:solidFill>
            <a:prstDash val="solid"/>
            <a:headEnd type="none" w="sm" len="sm"/>
            <a:tailEnd type="none" w="sm" len="sm"/>
          </a:ln>
        </p:spPr>
      </p:cxnSp>
      <p:sp>
        <p:nvSpPr>
          <p:cNvPr name="Freeform 21" id="21"/>
          <p:cNvSpPr/>
          <p:nvPr/>
        </p:nvSpPr>
        <p:spPr>
          <a:xfrm rot="-5400000" flipH="false" flipV="false">
            <a:off x="388726" y="5428099"/>
            <a:ext cx="1124549" cy="3493287"/>
          </a:xfrm>
          <a:custGeom>
            <a:avLst/>
            <a:gdLst/>
            <a:ahLst/>
            <a:cxnLst/>
            <a:rect r="r" b="b" t="t" l="l"/>
            <a:pathLst>
              <a:path h="3493287" w="1124549">
                <a:moveTo>
                  <a:pt x="1124549" y="0"/>
                </a:moveTo>
                <a:lnTo>
                  <a:pt x="1124549" y="3094206"/>
                </a:lnTo>
                <a:lnTo>
                  <a:pt x="562275" y="3493287"/>
                </a:lnTo>
                <a:lnTo>
                  <a:pt x="0" y="3094206"/>
                </a:lnTo>
                <a:lnTo>
                  <a:pt x="0" y="0"/>
                </a:lnTo>
                <a:lnTo>
                  <a:pt x="1124549" y="0"/>
                </a:lnTo>
                <a:close/>
              </a:path>
            </a:pathLst>
          </a:custGeom>
          <a:solidFill>
            <a:srgbClr val="6083BA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 txBox="true"/>
          <p:nvPr/>
        </p:nvSpPr>
        <p:spPr>
          <a:xfrm rot="-5400000" flipH="false" flipV="false">
            <a:off x="77876" y="1450157"/>
            <a:ext cx="1124550" cy="3237371"/>
          </a:xfrm>
          <a:prstGeom prst="rect">
            <a:avLst/>
          </a:prstGeom>
          <a:noFill/>
          <a:ln w="19050" cmpd="sng" cap="flat">
            <a:noFill/>
            <a:prstDash val="solid"/>
            <a:round/>
          </a:ln>
        </p:spPr>
        <p:txBody>
          <a:bodyPr anchor="ctr" rtlCol="false" anchorCtr="false" vert="horz" wrap="square" lIns="51395" rIns="51395" tIns="51395" bIns="51395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 txBox="true"/>
          <p:nvPr/>
        </p:nvSpPr>
        <p:spPr>
          <a:xfrm rot="0" flipH="false" flipV="false">
            <a:off x="-171401" y="2800904"/>
            <a:ext cx="2302612" cy="6013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914400">
              <a:lnSpc>
                <a:spcPts val="4690"/>
              </a:lnSpc>
              <a:defRPr/>
            </a:pPr>
            <a:r>
              <a:rPr lang="en-US" b="true" i="false" strike="noStrike" u="none" sz="2400" spc="732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基础概念</a:t>
            </a:r>
            <a:endParaRPr lang="en-US" sz="1100"/>
          </a:p>
        </p:txBody>
      </p:sp>
      <p:sp>
        <p:nvSpPr>
          <p:cNvPr name="AutoShape 24" id="24"/>
          <p:cNvSpPr txBox="true"/>
          <p:nvPr/>
        </p:nvSpPr>
        <p:spPr>
          <a:xfrm rot="0" flipH="false" flipV="false">
            <a:off x="-304799" y="4955534"/>
            <a:ext cx="2633981" cy="39369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914400">
              <a:lnSpc>
                <a:spcPts val="3070"/>
              </a:lnSpc>
              <a:defRPr/>
            </a:pPr>
            <a:r>
              <a:rPr lang="en-US" b="true" i="false" strike="noStrike" u="none" sz="2400" spc="48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数据样例</a:t>
            </a:r>
            <a:endParaRPr lang="en-US" sz="1100"/>
          </a:p>
        </p:txBody>
      </p:sp>
      <p:sp>
        <p:nvSpPr>
          <p:cNvPr name="AutoShape 25" id="25"/>
          <p:cNvSpPr txBox="true"/>
          <p:nvPr/>
        </p:nvSpPr>
        <p:spPr>
          <a:xfrm rot="0" flipH="false" flipV="false">
            <a:off x="-95250" y="6960861"/>
            <a:ext cx="2761615" cy="39369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914400">
              <a:lnSpc>
                <a:spcPts val="3070"/>
              </a:lnSpc>
              <a:defRPr/>
            </a:pPr>
            <a:r>
              <a:rPr lang="en-US" b="true" i="false" strike="noStrike" u="none" sz="3600" spc="48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分子表示</a:t>
            </a:r>
            <a:endParaRPr lang="en-US" sz="1100"/>
          </a:p>
        </p:txBody>
      </p:sp>
      <p:sp>
        <p:nvSpPr>
          <p:cNvPr name="AutoShape 26" id="26"/>
          <p:cNvSpPr txBox="true"/>
          <p:nvPr/>
        </p:nvSpPr>
        <p:spPr>
          <a:xfrm rot="0" flipH="false" flipV="false">
            <a:off x="56751" y="8999856"/>
            <a:ext cx="1943204" cy="39369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914400">
              <a:lnSpc>
                <a:spcPts val="3070"/>
              </a:lnSpc>
              <a:defRPr/>
            </a:pPr>
            <a:r>
              <a:rPr lang="en-US" b="true" i="false" strike="noStrike" u="none" sz="2400" spc="48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计算方法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5110" r="48222" t="79713" b="4286"/>
          <a:stretch>
            <a:fillRect/>
          </a:stretch>
        </p:blipFill>
        <p:spPr>
          <a:xfrm rot="0" flipH="false" flipV="false">
            <a:off x="13728065" y="4076700"/>
            <a:ext cx="3091815" cy="61849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3556" r="51624" t="0" b="33831"/>
          <a:stretch>
            <a:fillRect/>
          </a:stretch>
        </p:blipFill>
        <p:spPr>
          <a:xfrm rot="0" flipH="false" flipV="false">
            <a:off x="13411200" y="876300"/>
            <a:ext cx="3806190" cy="327787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4" id="4"/>
          <p:cNvSpPr/>
          <p:nvPr/>
        </p:nvSpPr>
        <p:spPr>
          <a:xfrm rot="0" flipH="false" flipV="false">
            <a:off x="451485" y="243840"/>
            <a:ext cx="10757535" cy="8413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102870" rIns="102870" tIns="51435" bIns="51435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48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GIN 如何完成分子属性预测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3048000" y="1181100"/>
            <a:ext cx="11432540" cy="742886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marL="0" indent="457200" defTabSz="914400">
              <a:lnSpc>
                <a:spcPct val="158333"/>
              </a:lnSpc>
              <a:defRPr/>
            </a:pPr>
            <a:r>
              <a:rPr lang="en-US" b="true" i="false" strike="noStrike" u="none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r>
              <a:rPr lang="en-US" b="true" i="false" strike="noStrike" u="none" sz="2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原子</a:t>
            </a:r>
            <a:r>
              <a:rPr lang="en-US" b="true" i="false" strike="noStrike" u="none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</a:t>
            </a:r>
            <a:r>
              <a:rPr lang="en-US" b="true" i="false" strike="noStrike" u="none" sz="2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节点特征</a:t>
            </a:r>
            <a:endParaRPr lang="en-US" sz="1100"/>
          </a:p>
          <a:p>
            <a:pPr algn="l" marL="0" indent="457200" defTabSz="914400">
              <a:lnSpc>
                <a:spcPct val="150000"/>
              </a:lnSpc>
            </a:pPr>
            <a:r>
              <a:rPr lang="en-US" b="false" i="false" strike="noStrike" u="none" sz="2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元素用原子序数表示：</a:t>
            </a:r>
            <a:r>
              <a:rPr lang="en-US" b="false" i="false" strike="noStrike" u="none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US" b="false" i="false" strike="noStrike" u="none" sz="2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＝</a:t>
            </a:r>
            <a:r>
              <a:rPr lang="en-US" b="false" i="false" strike="noStrike" u="none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US" b="false" i="false" strike="noStrike" u="none" sz="2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、</a:t>
            </a:r>
            <a:r>
              <a:rPr lang="en-US" b="false" i="false" strike="noStrike" u="none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-US" b="false" i="false" strike="noStrike" u="none" sz="2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＝</a:t>
            </a:r>
            <a:r>
              <a:rPr lang="en-US" b="false" i="false" strike="noStrike" u="none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lang="en-US" b="false" i="false" strike="noStrike" u="none" sz="2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、</a:t>
            </a:r>
            <a:r>
              <a:rPr lang="en-US" b="false" i="false" strike="noStrike" u="none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b="false" i="false" strike="noStrike" u="none" sz="2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＝</a:t>
            </a:r>
            <a:r>
              <a:rPr lang="en-US" b="false" i="false" strike="noStrike" u="none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b="false" i="false" strike="noStrike" u="none" sz="2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。</a:t>
            </a:r>
          </a:p>
          <a:p>
            <a:pPr algn="l" marL="0" indent="457200" defTabSz="914400">
              <a:lnSpc>
                <a:spcPct val="150000"/>
              </a:lnSpc>
            </a:pPr>
            <a:r>
              <a:rPr lang="en-US" b="false" i="false" strike="noStrike" u="none" sz="2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可加入形式电荷、氢数、芳香性等特征。</a:t>
            </a:r>
          </a:p>
          <a:p>
            <a:pPr algn="l" marL="0" indent="457200" defTabSz="914400">
              <a:lnSpc>
                <a:spcPct val="150000"/>
              </a:lnSpc>
            </a:pPr>
            <a:r>
              <a:rPr lang="en-US" b="false" i="false" strike="noStrike" u="none" sz="2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节点特征矩阵</a:t>
            </a:r>
            <a:r>
              <a:rPr lang="en-US" b="false" i="false" strike="noStrike" u="none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X</a:t>
            </a:r>
            <a:r>
              <a:rPr lang="en-US" b="false" i="false" strike="noStrike" u="none" sz="2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：</a:t>
            </a:r>
            <a:r>
              <a:rPr lang="en-US" b="false" i="false" strike="noStrike" u="none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US" b="false" i="false" strike="noStrike" u="none" sz="2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×</a:t>
            </a:r>
            <a:r>
              <a:rPr lang="en-US" b="false" i="false" strike="noStrike" u="none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</a:t>
            </a:r>
            <a:r>
              <a:rPr lang="en-US" b="false" i="false" strike="noStrike" u="none" sz="2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，</a:t>
            </a:r>
            <a:r>
              <a:rPr lang="en-US" b="false" i="false" strike="noStrike" u="none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US" b="false" i="false" strike="noStrike" u="none" sz="2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为节点数，</a:t>
            </a:r>
            <a:r>
              <a:rPr lang="en-US" b="false" i="false" strike="noStrike" u="none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 </a:t>
            </a:r>
            <a:r>
              <a:rPr lang="en-US" b="false" i="false" strike="noStrike" u="none" sz="2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为每个节点的特征数。</a:t>
            </a:r>
          </a:p>
          <a:p>
            <a:pPr algn="l" marL="0" indent="457200" defTabSz="914400">
              <a:lnSpc>
                <a:spcPct val="150000"/>
              </a:lnSpc>
            </a:pPr>
            <a:r>
              <a:rPr lang="en-US" b="false" i="false" strike="noStrike" u="none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sz="2600"/>
          </a:p>
          <a:p>
            <a:pPr algn="l" marL="0" indent="457200" defTabSz="914400">
              <a:lnSpc>
                <a:spcPct val="158333"/>
              </a:lnSpc>
            </a:pPr>
            <a:r>
              <a:rPr lang="en-US" b="true" i="false" strike="noStrike" u="none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</a:t>
            </a:r>
            <a:r>
              <a:rPr lang="en-US" b="true" i="false" strike="noStrike" u="none" sz="2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化学键</a:t>
            </a:r>
            <a:r>
              <a:rPr lang="en-US" b="true" i="false" strike="noStrike" u="none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</a:t>
            </a:r>
            <a:r>
              <a:rPr lang="en-US" b="true" i="false" strike="noStrike" u="none" sz="2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边及边特征</a:t>
            </a:r>
          </a:p>
          <a:p>
            <a:pPr algn="l" marL="0" indent="457200" defTabSz="914400">
              <a:lnSpc>
                <a:spcPct val="158333"/>
              </a:lnSpc>
            </a:pPr>
            <a:r>
              <a:rPr lang="en-US" b="false" i="false" strike="noStrike" u="none" sz="2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记录相连的两个原子编号。</a:t>
            </a:r>
          </a:p>
          <a:p>
            <a:pPr algn="l" marL="0" indent="457200" defTabSz="914400">
              <a:lnSpc>
                <a:spcPct val="158333"/>
              </a:lnSpc>
            </a:pPr>
            <a:r>
              <a:rPr lang="en-US" b="false" i="false" strike="noStrike" u="none" sz="2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记录键类型：单键、双键、三键、芳香键。</a:t>
            </a:r>
          </a:p>
          <a:p>
            <a:pPr algn="l" marL="0" indent="457200" defTabSz="914400">
              <a:lnSpc>
                <a:spcPct val="158333"/>
              </a:lnSpc>
            </a:pPr>
            <a:r>
              <a:rPr lang="en-US" b="false" i="false" strike="noStrike" u="none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sz="2600"/>
          </a:p>
          <a:p>
            <a:pPr algn="l" marL="0" indent="457200" defTabSz="914400">
              <a:lnSpc>
                <a:spcPct val="158333"/>
              </a:lnSpc>
            </a:pPr>
            <a:r>
              <a:rPr lang="en-US" b="true" i="false" strike="noStrike" u="none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</a:t>
            </a:r>
            <a:r>
              <a:rPr lang="en-US" b="true" i="false" strike="noStrike" u="none" sz="2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邻接关系</a:t>
            </a:r>
            <a:r>
              <a:rPr lang="en-US" b="true" i="false" strike="noStrike" u="none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</a:t>
            </a:r>
            <a:r>
              <a:rPr lang="en-US" b="true" i="false" strike="noStrike" u="none" sz="2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邻接表或邻接矩阵</a:t>
            </a:r>
          </a:p>
          <a:p>
            <a:pPr algn="l" marL="0" indent="457200" defTabSz="914400">
              <a:lnSpc>
                <a:spcPct val="158333"/>
              </a:lnSpc>
            </a:pPr>
            <a:r>
              <a:rPr lang="en-US" b="false" i="false" strike="noStrike" u="none" sz="2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邻接表：记录每个原子的邻居。</a:t>
            </a:r>
          </a:p>
          <a:p>
            <a:pPr algn="l" marL="0" indent="457200" defTabSz="914400">
              <a:lnSpc>
                <a:spcPct val="158333"/>
              </a:lnSpc>
            </a:pPr>
            <a:r>
              <a:rPr lang="en-US" b="false" i="false" strike="noStrike" u="none" sz="2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邻接矩阵</a:t>
            </a:r>
            <a:r>
              <a:rPr lang="en-US" b="false" i="false" strike="noStrike" u="none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</a:t>
            </a:r>
            <a:r>
              <a:rPr lang="en-US" b="false" i="false" strike="noStrike" u="none" sz="2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：有键记为</a:t>
            </a:r>
            <a:r>
              <a:rPr lang="en-US" b="false" i="false" strike="noStrike" u="none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</a:t>
            </a:r>
            <a:r>
              <a:rPr lang="en-US" b="false" i="false" strike="noStrike" u="none" sz="2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，无键记为</a:t>
            </a:r>
            <a:r>
              <a:rPr lang="en-US" b="false" i="false" strike="noStrike" u="none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0</a:t>
            </a:r>
            <a:r>
              <a:rPr lang="en-US" b="false" i="false" strike="noStrike" u="none" sz="2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。</a:t>
            </a:r>
          </a:p>
          <a:p>
            <a:pPr algn="l" marL="0" indent="457200" defTabSz="914400">
              <a:lnSpc>
                <a:spcPct val="158333"/>
              </a:lnSpc>
            </a:pPr>
            <a:r>
              <a:rPr lang="en-US" b="false" i="false" strike="noStrike" u="none" sz="2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普通二值邻接矩阵不区分键类型，键类型需另外记录。</a:t>
            </a:r>
          </a:p>
        </p:txBody>
      </p:sp>
      <p:cxnSp>
        <p:nvCxnSpPr>
          <p:cNvPr name="Connector 6" id="6"/>
          <p:cNvCxnSpPr/>
          <p:nvPr/>
        </p:nvCxnSpPr>
        <p:spPr>
          <a:xfrm rot="0" flipH="false" flipV="true">
            <a:off x="3110230" y="1009650"/>
            <a:ext cx="14720570" cy="19050"/>
          </a:xfrm>
          <a:prstGeom prst="line">
            <a:avLst/>
          </a:prstGeom>
          <a:noFill/>
          <a:ln w="38100" cap="rnd">
            <a:solidFill>
              <a:srgbClr val="013E80">
                <a:alpha val="100000"/>
              </a:srgbClr>
            </a:solidFill>
            <a:prstDash val="solid"/>
            <a:headEnd type="none" w="sm" len="sm"/>
            <a:tailEnd type="none" w="sm" len="sm"/>
          </a:ln>
        </p:spPr>
      </p:cxnSp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2182495" y="190500"/>
            <a:ext cx="978535" cy="978535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8" id="8"/>
          <p:cNvSpPr txBox="true"/>
          <p:nvPr/>
        </p:nvSpPr>
        <p:spPr>
          <a:xfrm rot="0" flipH="false" flipV="false">
            <a:off x="3213735" y="266700"/>
            <a:ext cx="12207875" cy="73850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914400">
              <a:lnSpc>
                <a:spcPts val="5760"/>
              </a:lnSpc>
              <a:defRPr/>
            </a:pPr>
            <a:r>
              <a:rPr lang="en-US" b="true" i="false" strike="noStrike" u="none" sz="4800">
                <a:solidFill>
                  <a:srgbClr val="2F5597"/>
                </a:solidFill>
                <a:latin typeface="微软雅黑"/>
                <a:ea typeface="微软雅黑"/>
                <a:cs typeface="微软雅黑"/>
                <a:sym typeface="微软雅黑"/>
              </a:rPr>
              <a:t>分子图在计算机中的表示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56330" r="9927" t="6250" b="22180"/>
          <a:stretch>
            <a:fillRect/>
          </a:stretch>
        </p:blipFill>
        <p:spPr>
          <a:xfrm rot="0" flipH="false" flipV="false">
            <a:off x="13563600" y="5448300"/>
            <a:ext cx="3290570" cy="362458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2"/>
          <a:srcRect l="49844" r="44113" t="29959" b="65897"/>
          <a:stretch>
            <a:fillRect/>
          </a:stretch>
        </p:blipFill>
        <p:spPr>
          <a:xfrm rot="5400000" flipH="false" flipV="false">
            <a:off x="14865350" y="4947920"/>
            <a:ext cx="618490" cy="24765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Freeform 11" id="11"/>
          <p:cNvSpPr/>
          <p:nvPr/>
        </p:nvSpPr>
        <p:spPr>
          <a:xfrm rot="0" flipH="false" flipV="false">
            <a:off x="-1235075" y="-19050"/>
            <a:ext cx="3366135" cy="10407650"/>
          </a:xfrm>
          <a:custGeom>
            <a:avLst/>
            <a:gdLst/>
            <a:ahLst/>
            <a:cxnLst/>
            <a:rect r="r" b="b" t="t" l="l"/>
            <a:pathLst>
              <a:path h="10407650" w="3366135">
                <a:moveTo>
                  <a:pt x="0" y="0"/>
                </a:moveTo>
                <a:lnTo>
                  <a:pt x="3366135" y="0"/>
                </a:lnTo>
                <a:lnTo>
                  <a:pt x="3366135" y="10407650"/>
                </a:lnTo>
                <a:lnTo>
                  <a:pt x="0" y="10407650"/>
                </a:lnTo>
                <a:close/>
              </a:path>
            </a:pathLst>
          </a:custGeom>
          <a:solidFill>
            <a:srgbClr val="6083BA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-1235075" y="-201997"/>
            <a:ext cx="3366135" cy="10590597"/>
          </a:xfrm>
          <a:prstGeom prst="rect">
            <a:avLst/>
          </a:prstGeom>
          <a:noFill/>
          <a:ln w="19050" cmpd="sng" cap="flat">
            <a:noFill/>
            <a:prstDash val="solid"/>
            <a:round/>
          </a:ln>
        </p:spPr>
        <p:txBody>
          <a:bodyPr anchor="ctr" rtlCol="false" anchorCtr="false" vert="horz" wrap="square" lIns="51395" rIns="51395" tIns="51395" bIns="51395"/>
          <a:lstStyle/>
          <a:p>
            <a:pPr algn="ctr">
              <a:defRPr/>
            </a:pPr>
            <a:endParaRPr/>
          </a:p>
        </p:txBody>
      </p:sp>
      <p:cxnSp>
        <p:nvCxnSpPr>
          <p:cNvPr name="Connector 13" id="13"/>
          <p:cNvCxnSpPr/>
          <p:nvPr/>
        </p:nvCxnSpPr>
        <p:spPr>
          <a:xfrm rot="0" flipH="false" flipV="true">
            <a:off x="-423546" y="4145910"/>
            <a:ext cx="2826385" cy="7620"/>
          </a:xfrm>
          <a:prstGeom prst="line">
            <a:avLst/>
          </a:prstGeom>
          <a:noFill/>
          <a:ln w="25400" cap="flat">
            <a:solidFill>
              <a:srgbClr val="FFFFFF">
                <a:alpha val="100000"/>
              </a:srgbClr>
            </a:solidFill>
            <a:prstDash val="solid"/>
            <a:headEnd type="none" w="sm" len="sm"/>
            <a:tailEnd type="none" w="sm" len="sm"/>
          </a:ln>
        </p:spPr>
      </p:cxnSp>
      <p:cxnSp>
        <p:nvCxnSpPr>
          <p:cNvPr name="Connector 14" id="14"/>
          <p:cNvCxnSpPr/>
          <p:nvPr/>
        </p:nvCxnSpPr>
        <p:spPr>
          <a:xfrm rot="0" flipH="false" flipV="false">
            <a:off x="-795647" y="6096999"/>
            <a:ext cx="3375631" cy="0"/>
          </a:xfrm>
          <a:prstGeom prst="line">
            <a:avLst/>
          </a:prstGeom>
          <a:noFill/>
          <a:ln w="25400" cap="flat">
            <a:solidFill>
              <a:srgbClr val="FFFFFF">
                <a:alpha val="100000"/>
              </a:srgbClr>
            </a:solidFill>
            <a:prstDash val="solid"/>
            <a:headEnd type="none" w="sm" len="sm"/>
            <a:tailEnd type="none" w="sm" len="sm"/>
          </a:ln>
        </p:spPr>
      </p:cxnSp>
      <p:cxnSp>
        <p:nvCxnSpPr>
          <p:cNvPr name="Connector 15" id="15"/>
          <p:cNvCxnSpPr/>
          <p:nvPr/>
        </p:nvCxnSpPr>
        <p:spPr>
          <a:xfrm rot="0" flipH="false" flipV="false">
            <a:off x="-385416" y="8165809"/>
            <a:ext cx="3375631" cy="0"/>
          </a:xfrm>
          <a:prstGeom prst="line">
            <a:avLst/>
          </a:prstGeom>
          <a:noFill/>
          <a:ln w="25400" cap="flat">
            <a:solidFill>
              <a:srgbClr val="FFFFFF">
                <a:alpha val="100000"/>
              </a:srgbClr>
            </a:solidFill>
            <a:prstDash val="solid"/>
            <a:headEnd type="none" w="sm" len="sm"/>
            <a:tailEnd type="none" w="sm" len="sm"/>
          </a:ln>
        </p:spPr>
      </p:cxnSp>
      <p:sp>
        <p:nvSpPr>
          <p:cNvPr name="Freeform 16" id="16"/>
          <p:cNvSpPr/>
          <p:nvPr/>
        </p:nvSpPr>
        <p:spPr>
          <a:xfrm rot="-5400000" flipH="false" flipV="false">
            <a:off x="388726" y="5428099"/>
            <a:ext cx="1124549" cy="3493287"/>
          </a:xfrm>
          <a:custGeom>
            <a:avLst/>
            <a:gdLst/>
            <a:ahLst/>
            <a:cxnLst/>
            <a:rect r="r" b="b" t="t" l="l"/>
            <a:pathLst>
              <a:path h="3493287" w="1124549">
                <a:moveTo>
                  <a:pt x="1124549" y="0"/>
                </a:moveTo>
                <a:lnTo>
                  <a:pt x="1124549" y="3094206"/>
                </a:lnTo>
                <a:lnTo>
                  <a:pt x="562275" y="3493287"/>
                </a:lnTo>
                <a:lnTo>
                  <a:pt x="0" y="3094206"/>
                </a:lnTo>
                <a:lnTo>
                  <a:pt x="0" y="0"/>
                </a:lnTo>
                <a:lnTo>
                  <a:pt x="1124549" y="0"/>
                </a:lnTo>
                <a:close/>
              </a:path>
            </a:pathLst>
          </a:custGeom>
          <a:solidFill>
            <a:srgbClr val="6083BA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-5400000" flipH="false" flipV="false">
            <a:off x="77876" y="1450157"/>
            <a:ext cx="1124550" cy="3237371"/>
          </a:xfrm>
          <a:prstGeom prst="rect">
            <a:avLst/>
          </a:prstGeom>
          <a:noFill/>
          <a:ln w="19050" cmpd="sng" cap="flat">
            <a:noFill/>
            <a:prstDash val="solid"/>
            <a:round/>
          </a:ln>
        </p:spPr>
        <p:txBody>
          <a:bodyPr anchor="ctr" rtlCol="false" anchorCtr="false" vert="horz" wrap="square" lIns="51395" rIns="51395" tIns="51395" bIns="51395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-171401" y="2800904"/>
            <a:ext cx="2302612" cy="6013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914400">
              <a:lnSpc>
                <a:spcPts val="4690"/>
              </a:lnSpc>
              <a:defRPr/>
            </a:pPr>
            <a:r>
              <a:rPr lang="en-US" b="true" i="false" strike="noStrike" u="none" sz="2400" spc="732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基础概念</a:t>
            </a:r>
            <a:endParaRPr lang="en-US" sz="1100"/>
          </a:p>
        </p:txBody>
      </p:sp>
      <p:sp>
        <p:nvSpPr>
          <p:cNvPr name="AutoShape 19" id="19"/>
          <p:cNvSpPr txBox="true"/>
          <p:nvPr/>
        </p:nvSpPr>
        <p:spPr>
          <a:xfrm rot="0" flipH="false" flipV="false">
            <a:off x="-304799" y="4955534"/>
            <a:ext cx="2633981" cy="39369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914400">
              <a:lnSpc>
                <a:spcPts val="3070"/>
              </a:lnSpc>
              <a:defRPr/>
            </a:pPr>
            <a:r>
              <a:rPr lang="en-US" b="true" i="false" strike="noStrike" u="none" sz="2400" spc="48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数据样例</a:t>
            </a:r>
            <a:endParaRPr lang="en-US" sz="1100"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-95250" y="6960861"/>
            <a:ext cx="2761615" cy="39369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914400">
              <a:lnSpc>
                <a:spcPts val="3070"/>
              </a:lnSpc>
              <a:defRPr/>
            </a:pPr>
            <a:r>
              <a:rPr lang="en-US" b="true" i="false" strike="noStrike" u="none" sz="3600" spc="48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分子表示</a:t>
            </a:r>
            <a:endParaRPr lang="en-US" sz="1100"/>
          </a:p>
        </p:txBody>
      </p:sp>
      <p:sp>
        <p:nvSpPr>
          <p:cNvPr name="AutoShape 21" id="21"/>
          <p:cNvSpPr txBox="true"/>
          <p:nvPr/>
        </p:nvSpPr>
        <p:spPr>
          <a:xfrm rot="0" flipH="false" flipV="false">
            <a:off x="56751" y="8999856"/>
            <a:ext cx="1943204" cy="39369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914400">
              <a:lnSpc>
                <a:spcPts val="3070"/>
              </a:lnSpc>
              <a:defRPr/>
            </a:pPr>
            <a:r>
              <a:rPr lang="en-US" b="true" i="false" strike="noStrike" u="none" sz="2400" spc="48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计算方法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27990" r="61482" t="32128" b="52553"/>
          <a:stretch>
            <a:fillRect/>
          </a:stretch>
        </p:blipFill>
        <p:spPr>
          <a:xfrm rot="5400000" flipH="false" flipV="false">
            <a:off x="12506325" y="7258050"/>
            <a:ext cx="728345" cy="59563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27989" r="61483" t="32128" b="52552"/>
          <a:stretch>
            <a:fillRect/>
          </a:stretch>
        </p:blipFill>
        <p:spPr>
          <a:xfrm rot="5400000" flipH="false" flipV="false">
            <a:off x="12430125" y="5282565"/>
            <a:ext cx="728345" cy="59563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rcRect l="27989" r="61483" t="32128" b="52552"/>
          <a:stretch>
            <a:fillRect/>
          </a:stretch>
        </p:blipFill>
        <p:spPr>
          <a:xfrm rot="5400000" flipH="false" flipV="false">
            <a:off x="12353925" y="3654425"/>
            <a:ext cx="728345" cy="59563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rcRect l="27989" r="61483" t="32128" b="52552"/>
          <a:stretch>
            <a:fillRect/>
          </a:stretch>
        </p:blipFill>
        <p:spPr>
          <a:xfrm rot="5400000" flipH="false" flipV="false">
            <a:off x="12353925" y="2237740"/>
            <a:ext cx="728345" cy="59563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6" id="6"/>
          <p:cNvSpPr/>
          <p:nvPr/>
        </p:nvSpPr>
        <p:spPr>
          <a:xfrm rot="0" flipH="false" flipV="false">
            <a:off x="451485" y="243840"/>
            <a:ext cx="10311765" cy="8413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102870" rIns="102870" tIns="51435" bIns="51435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48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附录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0" flipH="false" flipV="true">
            <a:off x="3110230" y="1009650"/>
            <a:ext cx="14720570" cy="19050"/>
          </a:xfrm>
          <a:prstGeom prst="line">
            <a:avLst/>
          </a:prstGeom>
          <a:noFill/>
          <a:ln w="38100" cap="rnd">
            <a:solidFill>
              <a:srgbClr val="013E80">
                <a:alpha val="100000"/>
              </a:srgbClr>
            </a:solidFill>
            <a:prstDash val="solid"/>
            <a:headEnd type="none" w="sm" len="sm"/>
            <a:tailEnd type="none" w="sm" len="sm"/>
          </a:ln>
        </p:spPr>
      </p:cxnSp>
      <p:pic>
        <p:nvPicPr>
          <p:cNvPr name="Picture 8" id="8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2182495" y="190500"/>
            <a:ext cx="978535" cy="978535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9" id="9"/>
          <p:cNvSpPr txBox="true"/>
          <p:nvPr/>
        </p:nvSpPr>
        <p:spPr>
          <a:xfrm rot="0" flipH="false" flipV="false">
            <a:off x="3213735" y="266700"/>
            <a:ext cx="12207875" cy="73850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914400">
              <a:lnSpc>
                <a:spcPts val="5760"/>
              </a:lnSpc>
              <a:defRPr/>
            </a:pPr>
            <a:r>
              <a:rPr lang="en-US" b="true" i="false" strike="noStrike" u="none" sz="4800">
                <a:solidFill>
                  <a:srgbClr val="2F5597"/>
                </a:solidFill>
                <a:latin typeface="微软雅黑"/>
                <a:ea typeface="微软雅黑"/>
                <a:cs typeface="微软雅黑"/>
                <a:sym typeface="微软雅黑"/>
              </a:rPr>
              <a:t>从分子图生成三维构象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2"/>
          <a:srcRect l="27990" r="61483" t="32127" b="52553"/>
          <a:stretch>
            <a:fillRect/>
          </a:stretch>
        </p:blipFill>
        <p:spPr>
          <a:xfrm rot="5400000" flipH="false" flipV="false">
            <a:off x="5003165" y="4060825"/>
            <a:ext cx="1385570" cy="1133475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2"/>
          <a:srcRect l="1675" r="72166" t="13404" b="35529"/>
          <a:stretch>
            <a:fillRect/>
          </a:stretch>
        </p:blipFill>
        <p:spPr>
          <a:xfrm rot="0" flipH="false" flipV="false">
            <a:off x="4191000" y="1104900"/>
            <a:ext cx="3612515" cy="278003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2"/>
          <a:srcRect l="36826" r="36654" t="11702" b="8298"/>
          <a:stretch>
            <a:fillRect/>
          </a:stretch>
        </p:blipFill>
        <p:spPr>
          <a:xfrm rot="0" flipH="false" flipV="false">
            <a:off x="4128770" y="5017135"/>
            <a:ext cx="3674745" cy="4791075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3" id="13"/>
          <p:cNvSpPr txBox="true"/>
          <p:nvPr/>
        </p:nvSpPr>
        <p:spPr>
          <a:xfrm rot="0" flipH="false" flipV="false">
            <a:off x="10591800" y="1181015"/>
            <a:ext cx="6096000" cy="4603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①读取 </a:t>
            </a:r>
            <a:r>
              <a:rPr lang="en-US" b="true" i="false" strike="noStrike" u="none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SMILES</a:t>
            </a:r>
            <a:r>
              <a:rPr lang="en-US" b="tru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，建立分子图</a:t>
            </a:r>
            <a:endParaRPr lang="en-US" sz="1100"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4"/>
          <a:srcRect l="0" r="0" t="0" b="0"/>
          <a:stretch>
            <a:fillRect/>
          </a:stretch>
        </p:blipFill>
        <p:spPr>
          <a:xfrm rot="0" flipH="false" flipV="false">
            <a:off x="8991600" y="1638300"/>
            <a:ext cx="7901940" cy="52451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5"/>
          <a:srcRect l="0" r="0" t="0" b="0"/>
          <a:stretch>
            <a:fillRect/>
          </a:stretch>
        </p:blipFill>
        <p:spPr>
          <a:xfrm rot="0" flipH="false" flipV="false">
            <a:off x="10439400" y="3043555"/>
            <a:ext cx="4878705" cy="51435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6"/>
          <a:srcRect l="0" r="0" t="0" b="0"/>
          <a:stretch>
            <a:fillRect/>
          </a:stretch>
        </p:blipFill>
        <p:spPr>
          <a:xfrm rot="0" flipH="false" flipV="false">
            <a:off x="10044430" y="4422140"/>
            <a:ext cx="5602605" cy="794385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7"/>
          <a:srcRect l="0" r="0" t="0" b="0"/>
          <a:stretch>
            <a:fillRect/>
          </a:stretch>
        </p:blipFill>
        <p:spPr>
          <a:xfrm rot="0" flipH="false" flipV="false">
            <a:off x="10403205" y="6057900"/>
            <a:ext cx="5144135" cy="113411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8"/>
          <a:srcRect l="0" r="0" t="0" b="0"/>
          <a:stretch>
            <a:fillRect/>
          </a:stretch>
        </p:blipFill>
        <p:spPr>
          <a:xfrm rot="0" flipH="false" flipV="false">
            <a:off x="9822180" y="8039100"/>
            <a:ext cx="6313170" cy="1555115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9" id="19"/>
          <p:cNvSpPr txBox="true"/>
          <p:nvPr/>
        </p:nvSpPr>
        <p:spPr>
          <a:xfrm rot="0" flipH="false" flipV="false">
            <a:off x="6477000" y="7388140"/>
            <a:ext cx="6096000" cy="922020"/>
          </a:xfrm>
          <a:prstGeom prst="rect">
            <a:avLst/>
          </a:prstGeom>
          <a:noFill/>
          <a:ln w="1905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defTabSz="914400">
              <a:lnSpc>
                <a:spcPct val="100000"/>
              </a:lnSpc>
            </a:pPr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10668000" y="2552615"/>
            <a:ext cx="6096000" cy="4603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②添加显式氢：得到 21 个原子</a:t>
            </a:r>
            <a:endParaRPr lang="en-US" sz="1100"/>
          </a:p>
        </p:txBody>
      </p:sp>
      <p:sp>
        <p:nvSpPr>
          <p:cNvPr name="AutoShape 21" id="21"/>
          <p:cNvSpPr txBox="true"/>
          <p:nvPr/>
        </p:nvSpPr>
        <p:spPr>
          <a:xfrm rot="0" flipH="false" flipV="false">
            <a:off x="10820400" y="3997240"/>
            <a:ext cx="6096000" cy="4603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③ETKDG 生成初始三维坐标</a:t>
            </a:r>
            <a:endParaRPr lang="en-US" sz="1100"/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11658600" y="7603405"/>
            <a:ext cx="6096000" cy="4603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⑤ 保存三维结构</a:t>
            </a:r>
            <a:endParaRPr lang="en-US" sz="1100"/>
          </a:p>
        </p:txBody>
      </p:sp>
      <p:sp>
        <p:nvSpPr>
          <p:cNvPr name="AutoShape 23" id="23"/>
          <p:cNvSpPr txBox="true"/>
          <p:nvPr/>
        </p:nvSpPr>
        <p:spPr>
          <a:xfrm rot="0" flipH="false" flipV="false">
            <a:off x="10972800" y="5626650"/>
            <a:ext cx="6096000" cy="4603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④ MMFF 力场优化坐标</a:t>
            </a:r>
            <a:endParaRPr lang="en-US" sz="1100"/>
          </a:p>
        </p:txBody>
      </p:sp>
      <p:cxnSp>
        <p:nvCxnSpPr>
          <p:cNvPr name="Connector 24" id="24"/>
          <p:cNvCxnSpPr/>
          <p:nvPr/>
        </p:nvCxnSpPr>
        <p:spPr>
          <a:xfrm rot="0" flipH="false" flipV="false">
            <a:off x="8534400" y="1181100"/>
            <a:ext cx="0" cy="8534400"/>
          </a:xfrm>
          <a:prstGeom prst="line">
            <a:avLst/>
          </a:prstGeom>
          <a:noFill/>
          <a:ln w="12700" cmpd="sng" cap="flat">
            <a:solidFill>
              <a:srgbClr val="4F81BD">
                <a:alpha val="100000"/>
              </a:srgbClr>
            </a:solidFill>
            <a:prstDash val="dash"/>
            <a:headEnd type="none" w="med" len="med"/>
            <a:tailEnd type="none" w="med" len="med"/>
          </a:ln>
        </p:spPr>
      </p:cxnSp>
      <p:pic>
        <p:nvPicPr>
          <p:cNvPr name="Picture 25" id="25"/>
          <p:cNvPicPr>
            <a:picLocks noChangeAspect="true"/>
          </p:cNvPicPr>
          <p:nvPr/>
        </p:nvPicPr>
        <p:blipFill>
          <a:blip r:embed="rId2"/>
          <a:srcRect l="27990" r="65282" t="32128" b="52552"/>
          <a:stretch>
            <a:fillRect/>
          </a:stretch>
        </p:blipFill>
        <p:spPr>
          <a:xfrm rot="0" flipH="false" flipV="false">
            <a:off x="7543800" y="4431665"/>
            <a:ext cx="2440305" cy="151384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26" id="26"/>
          <p:cNvSpPr txBox="true"/>
          <p:nvPr/>
        </p:nvSpPr>
        <p:spPr>
          <a:xfrm rot="0" flipH="false" flipV="false">
            <a:off x="7620000" y="4457700"/>
            <a:ext cx="1501775" cy="460375"/>
          </a:xfrm>
          <a:prstGeom prst="rect">
            <a:avLst/>
          </a:prstGeom>
          <a:noFill/>
          <a:ln w="1905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2400">
                <a:solidFill>
                  <a:srgbClr val="FF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代码流程</a:t>
            </a:r>
            <a:endParaRPr lang="en-US" sz="1100"/>
          </a:p>
        </p:txBody>
      </p:sp>
      <p:sp>
        <p:nvSpPr>
          <p:cNvPr name="Freeform 27" id="27"/>
          <p:cNvSpPr/>
          <p:nvPr/>
        </p:nvSpPr>
        <p:spPr>
          <a:xfrm rot="0" flipH="false" flipV="false">
            <a:off x="-1235075" y="-19050"/>
            <a:ext cx="3366135" cy="10407650"/>
          </a:xfrm>
          <a:custGeom>
            <a:avLst/>
            <a:gdLst/>
            <a:ahLst/>
            <a:cxnLst/>
            <a:rect r="r" b="b" t="t" l="l"/>
            <a:pathLst>
              <a:path h="10407650" w="3366135">
                <a:moveTo>
                  <a:pt x="0" y="0"/>
                </a:moveTo>
                <a:lnTo>
                  <a:pt x="3366135" y="0"/>
                </a:lnTo>
                <a:lnTo>
                  <a:pt x="3366135" y="10407650"/>
                </a:lnTo>
                <a:lnTo>
                  <a:pt x="0" y="10407650"/>
                </a:lnTo>
                <a:close/>
              </a:path>
            </a:pathLst>
          </a:custGeom>
          <a:solidFill>
            <a:srgbClr val="6083BA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 txBox="true"/>
          <p:nvPr/>
        </p:nvSpPr>
        <p:spPr>
          <a:xfrm rot="0" flipH="false" flipV="false">
            <a:off x="-1235075" y="-201997"/>
            <a:ext cx="3366135" cy="10590597"/>
          </a:xfrm>
          <a:prstGeom prst="rect">
            <a:avLst/>
          </a:prstGeom>
          <a:noFill/>
          <a:ln w="19050" cmpd="sng" cap="flat">
            <a:noFill/>
            <a:prstDash val="solid"/>
            <a:round/>
          </a:ln>
        </p:spPr>
        <p:txBody>
          <a:bodyPr anchor="ctr" rtlCol="false" anchorCtr="false" vert="horz" wrap="square" lIns="51395" rIns="51395" tIns="51395" bIns="51395"/>
          <a:lstStyle/>
          <a:p>
            <a:pPr algn="ctr">
              <a:defRPr/>
            </a:pPr>
            <a:endParaRPr/>
          </a:p>
        </p:txBody>
      </p:sp>
      <p:cxnSp>
        <p:nvCxnSpPr>
          <p:cNvPr name="Connector 29" id="29"/>
          <p:cNvCxnSpPr/>
          <p:nvPr/>
        </p:nvCxnSpPr>
        <p:spPr>
          <a:xfrm rot="0" flipH="false" flipV="true">
            <a:off x="-423546" y="4145910"/>
            <a:ext cx="2826385" cy="7620"/>
          </a:xfrm>
          <a:prstGeom prst="line">
            <a:avLst/>
          </a:prstGeom>
          <a:noFill/>
          <a:ln w="25400" cap="flat">
            <a:solidFill>
              <a:srgbClr val="FFFFFF">
                <a:alpha val="100000"/>
              </a:srgbClr>
            </a:solidFill>
            <a:prstDash val="solid"/>
            <a:headEnd type="none" w="sm" len="sm"/>
            <a:tailEnd type="none" w="sm" len="sm"/>
          </a:ln>
        </p:spPr>
      </p:cxnSp>
      <p:cxnSp>
        <p:nvCxnSpPr>
          <p:cNvPr name="Connector 30" id="30"/>
          <p:cNvCxnSpPr/>
          <p:nvPr/>
        </p:nvCxnSpPr>
        <p:spPr>
          <a:xfrm rot="0" flipH="false" flipV="false">
            <a:off x="-795647" y="6096999"/>
            <a:ext cx="3375631" cy="0"/>
          </a:xfrm>
          <a:prstGeom prst="line">
            <a:avLst/>
          </a:prstGeom>
          <a:noFill/>
          <a:ln w="25400" cap="flat">
            <a:solidFill>
              <a:srgbClr val="FFFFFF">
                <a:alpha val="100000"/>
              </a:srgbClr>
            </a:solidFill>
            <a:prstDash val="solid"/>
            <a:headEnd type="none" w="sm" len="sm"/>
            <a:tailEnd type="none" w="sm" len="sm"/>
          </a:ln>
        </p:spPr>
      </p:cxnSp>
      <p:cxnSp>
        <p:nvCxnSpPr>
          <p:cNvPr name="Connector 31" id="31"/>
          <p:cNvCxnSpPr/>
          <p:nvPr/>
        </p:nvCxnSpPr>
        <p:spPr>
          <a:xfrm rot="0" flipH="false" flipV="false">
            <a:off x="-385416" y="8165809"/>
            <a:ext cx="3375631" cy="0"/>
          </a:xfrm>
          <a:prstGeom prst="line">
            <a:avLst/>
          </a:prstGeom>
          <a:noFill/>
          <a:ln w="25400" cap="flat">
            <a:solidFill>
              <a:srgbClr val="FFFFFF">
                <a:alpha val="100000"/>
              </a:srgbClr>
            </a:solidFill>
            <a:prstDash val="solid"/>
            <a:headEnd type="none" w="sm" len="sm"/>
            <a:tailEnd type="none" w="sm" len="sm"/>
          </a:ln>
        </p:spPr>
      </p:cxnSp>
      <p:sp>
        <p:nvSpPr>
          <p:cNvPr name="Freeform 32" id="32"/>
          <p:cNvSpPr/>
          <p:nvPr/>
        </p:nvSpPr>
        <p:spPr>
          <a:xfrm rot="-5400000" flipH="false" flipV="false">
            <a:off x="388726" y="5428099"/>
            <a:ext cx="1124549" cy="3493287"/>
          </a:xfrm>
          <a:custGeom>
            <a:avLst/>
            <a:gdLst/>
            <a:ahLst/>
            <a:cxnLst/>
            <a:rect r="r" b="b" t="t" l="l"/>
            <a:pathLst>
              <a:path h="3493287" w="1124549">
                <a:moveTo>
                  <a:pt x="1124549" y="0"/>
                </a:moveTo>
                <a:lnTo>
                  <a:pt x="1124549" y="3094206"/>
                </a:lnTo>
                <a:lnTo>
                  <a:pt x="562275" y="3493287"/>
                </a:lnTo>
                <a:lnTo>
                  <a:pt x="0" y="3094206"/>
                </a:lnTo>
                <a:lnTo>
                  <a:pt x="0" y="0"/>
                </a:lnTo>
                <a:lnTo>
                  <a:pt x="1124549" y="0"/>
                </a:lnTo>
                <a:close/>
              </a:path>
            </a:pathLst>
          </a:custGeom>
          <a:solidFill>
            <a:srgbClr val="6083BA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3" id="33"/>
          <p:cNvSpPr txBox="true"/>
          <p:nvPr/>
        </p:nvSpPr>
        <p:spPr>
          <a:xfrm rot="-5400000" flipH="false" flipV="false">
            <a:off x="77876" y="1450157"/>
            <a:ext cx="1124550" cy="3237371"/>
          </a:xfrm>
          <a:prstGeom prst="rect">
            <a:avLst/>
          </a:prstGeom>
          <a:noFill/>
          <a:ln w="19050" cmpd="sng" cap="flat">
            <a:noFill/>
            <a:prstDash val="solid"/>
            <a:round/>
          </a:ln>
        </p:spPr>
        <p:txBody>
          <a:bodyPr anchor="ctr" rtlCol="false" anchorCtr="false" vert="horz" wrap="square" lIns="51395" rIns="51395" tIns="51395" bIns="51395"/>
          <a:lstStyle/>
          <a:p>
            <a:pPr algn="ctr">
              <a:defRPr/>
            </a:pPr>
            <a:endParaRPr/>
          </a:p>
        </p:txBody>
      </p:sp>
      <p:sp>
        <p:nvSpPr>
          <p:cNvPr name="AutoShape 34" id="34"/>
          <p:cNvSpPr txBox="true"/>
          <p:nvPr/>
        </p:nvSpPr>
        <p:spPr>
          <a:xfrm rot="0" flipH="false" flipV="false">
            <a:off x="-171401" y="2800904"/>
            <a:ext cx="2302612" cy="6013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914400">
              <a:lnSpc>
                <a:spcPts val="4690"/>
              </a:lnSpc>
              <a:defRPr/>
            </a:pPr>
            <a:r>
              <a:rPr lang="en-US" b="true" i="false" strike="noStrike" u="none" sz="2400" spc="732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基础概念</a:t>
            </a:r>
            <a:endParaRPr lang="en-US" sz="1100"/>
          </a:p>
        </p:txBody>
      </p:sp>
      <p:sp>
        <p:nvSpPr>
          <p:cNvPr name="AutoShape 35" id="35"/>
          <p:cNvSpPr txBox="true"/>
          <p:nvPr/>
        </p:nvSpPr>
        <p:spPr>
          <a:xfrm rot="0" flipH="false" flipV="false">
            <a:off x="-304799" y="4955534"/>
            <a:ext cx="2633981" cy="39369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914400">
              <a:lnSpc>
                <a:spcPts val="3070"/>
              </a:lnSpc>
              <a:defRPr/>
            </a:pPr>
            <a:r>
              <a:rPr lang="en-US" b="true" i="false" strike="noStrike" u="none" sz="2400" spc="48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数据样例</a:t>
            </a:r>
            <a:endParaRPr lang="en-US" sz="1100"/>
          </a:p>
        </p:txBody>
      </p:sp>
      <p:sp>
        <p:nvSpPr>
          <p:cNvPr name="AutoShape 36" id="36"/>
          <p:cNvSpPr txBox="true"/>
          <p:nvPr/>
        </p:nvSpPr>
        <p:spPr>
          <a:xfrm rot="0" flipH="false" flipV="false">
            <a:off x="-95250" y="6960861"/>
            <a:ext cx="2761615" cy="39369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914400">
              <a:lnSpc>
                <a:spcPts val="3070"/>
              </a:lnSpc>
              <a:defRPr/>
            </a:pPr>
            <a:r>
              <a:rPr lang="en-US" b="true" i="false" strike="noStrike" u="none" sz="3600" spc="48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分子表示</a:t>
            </a:r>
            <a:endParaRPr lang="en-US" sz="1100"/>
          </a:p>
        </p:txBody>
      </p:sp>
      <p:sp>
        <p:nvSpPr>
          <p:cNvPr name="AutoShape 37" id="37"/>
          <p:cNvSpPr txBox="true"/>
          <p:nvPr/>
        </p:nvSpPr>
        <p:spPr>
          <a:xfrm rot="0" flipH="false" flipV="false">
            <a:off x="56751" y="8999856"/>
            <a:ext cx="1943204" cy="39369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914400">
              <a:lnSpc>
                <a:spcPts val="3070"/>
              </a:lnSpc>
              <a:defRPr/>
            </a:pPr>
            <a:r>
              <a:rPr lang="en-US" b="true" i="false" strike="noStrike" u="none" sz="2400" spc="48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计算方法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893435" y="8775065"/>
            <a:ext cx="9335135" cy="843280"/>
          </a:xfrm>
          <a:prstGeom prst="roundRect">
            <a:avLst>
              <a:gd name="adj" fmla="val 16666"/>
            </a:avLst>
          </a:prstGeom>
          <a:solidFill>
            <a:srgbClr val="F2F2F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451485" y="243840"/>
            <a:ext cx="10757535" cy="8413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102870" rIns="102870" tIns="51435" bIns="51435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48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代码实现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0" flipH="false" flipV="true">
            <a:off x="3110230" y="1009650"/>
            <a:ext cx="14720570" cy="19050"/>
          </a:xfrm>
          <a:prstGeom prst="line">
            <a:avLst/>
          </a:prstGeom>
          <a:noFill/>
          <a:ln w="38100" cap="rnd">
            <a:solidFill>
              <a:srgbClr val="013E80">
                <a:alpha val="100000"/>
              </a:srgbClr>
            </a:solidFill>
            <a:prstDash val="solid"/>
            <a:headEnd type="none" w="sm" len="sm"/>
            <a:tailEnd type="none" w="sm" len="sm"/>
          </a:ln>
        </p:spPr>
      </p:cxn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2182495" y="190500"/>
            <a:ext cx="978535" cy="978535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6" id="6"/>
          <p:cNvSpPr txBox="true"/>
          <p:nvPr/>
        </p:nvSpPr>
        <p:spPr>
          <a:xfrm rot="0" flipH="false" flipV="false">
            <a:off x="3213735" y="266700"/>
            <a:ext cx="14586585" cy="73850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914400">
              <a:lnSpc>
                <a:spcPts val="5760"/>
              </a:lnSpc>
              <a:defRPr/>
            </a:pPr>
            <a:r>
              <a:rPr lang="en-US" b="true" i="false" strike="noStrike" u="none" sz="4800">
                <a:solidFill>
                  <a:srgbClr val="2F5597"/>
                </a:solidFill>
                <a:latin typeface="微软雅黑"/>
                <a:ea typeface="微软雅黑"/>
                <a:cs typeface="微软雅黑"/>
                <a:sym typeface="微软雅黑"/>
              </a:rPr>
              <a:t>三维分子结构怎样保存？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rcRect l="0" r="0" t="0" b="49560"/>
          <a:stretch>
            <a:fillRect/>
          </a:stretch>
        </p:blipFill>
        <p:spPr>
          <a:xfrm rot="0" flipH="false" flipV="false">
            <a:off x="11101070" y="2800985"/>
            <a:ext cx="5329555" cy="183388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8" id="8"/>
          <p:cNvSpPr/>
          <p:nvPr/>
        </p:nvSpPr>
        <p:spPr>
          <a:xfrm rot="0" flipH="false" flipV="false">
            <a:off x="11703050" y="4145280"/>
            <a:ext cx="1110615" cy="243840"/>
          </a:xfrm>
          <a:prstGeom prst="flowChartAlternateProcess">
            <a:avLst/>
          </a:prstGeom>
          <a:noFill/>
          <a:ln w="25400" cmpd="sng" cap="flat">
            <a:solidFill>
              <a:srgbClr val="FF0000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rcRect l="0" r="0" t="0" b="46026"/>
          <a:stretch>
            <a:fillRect/>
          </a:stretch>
        </p:blipFill>
        <p:spPr>
          <a:xfrm rot="0" flipH="false" flipV="false">
            <a:off x="3107055" y="2800985"/>
            <a:ext cx="7018020" cy="18288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2276475" y="1033145"/>
            <a:ext cx="11003280" cy="8054975"/>
          </a:xfrm>
          <a:prstGeom prst="rect">
            <a:avLst/>
          </a:prstGeom>
          <a:noFill/>
          <a:ln w="1905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457200" defTabSz="914400">
              <a:lnSpc>
                <a:spcPct val="150000"/>
              </a:lnSpc>
              <a:defRPr/>
            </a:pPr>
            <a:r>
              <a:rPr lang="en-US" b="true" i="false" strike="noStrike" u="none" sz="30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阿司匹林｜</a:t>
            </a:r>
            <a:r>
              <a:rPr lang="en-US" b="true" i="false" strike="noStrike" u="none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aspirin_3d.sdf</a:t>
            </a:r>
            <a:r>
              <a:rPr lang="en-US" b="true" i="false" strike="noStrike" u="none" sz="30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｜</a:t>
            </a:r>
            <a:r>
              <a:rPr lang="en-US" b="true" i="false" strike="noStrike" u="none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21 </a:t>
            </a:r>
            <a:r>
              <a:rPr lang="en-US" b="true" i="false" strike="noStrike" u="none" sz="30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个原子、</a:t>
            </a:r>
            <a:r>
              <a:rPr lang="en-US" b="true" i="false" strike="noStrike" u="none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21 </a:t>
            </a:r>
            <a:r>
              <a:rPr lang="en-US" b="true" i="false" strike="noStrike" u="none" sz="30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条化学键</a:t>
            </a:r>
            <a:r>
              <a:rPr lang="en-US" b="fals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457200" defTabSz="914400">
              <a:lnSpc>
                <a:spcPct val="150000"/>
              </a:lnSpc>
            </a:pPr>
            <a:r>
              <a:rPr lang="en-US" b="true" i="false" strike="noStrike" u="none" sz="27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①</a:t>
            </a:r>
            <a:r>
              <a:rPr lang="en-US" b="true" i="false" strike="noStrike" u="none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true" i="false" strike="noStrike" u="none" sz="27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原子区</a:t>
            </a:r>
            <a:r>
              <a:rPr lang="en-US" b="false" i="false" strike="noStrike" u="none" sz="27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：节点</a:t>
            </a:r>
            <a:r>
              <a:rPr lang="en-US" b="false" i="false" strike="noStrike" u="none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</a:t>
            </a:r>
            <a:r>
              <a:rPr lang="en-US" b="fals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 defTabSz="914400">
              <a:lnSpc>
                <a:spcPct val="150000"/>
              </a:lnSpc>
            </a:pPr>
            <a:r>
              <a:rPr lang="en-US" b="fals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 defTabSz="914400">
              <a:lnSpc>
                <a:spcPct val="150000"/>
              </a:lnSpc>
            </a:pPr>
            <a:r>
              <a:rPr lang="en-US" b="fals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 defTabSz="914400">
              <a:lnSpc>
                <a:spcPct val="150000"/>
              </a:lnSpc>
            </a:pPr>
            <a:r>
              <a:rPr lang="en-US" b="fals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 defTabSz="914400">
              <a:lnSpc>
                <a:spcPct val="150000"/>
              </a:lnSpc>
            </a:pPr>
            <a:r>
              <a:rPr lang="en-US" b="fals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457200" defTabSz="914400">
              <a:lnSpc>
                <a:spcPct val="100000"/>
              </a:lnSpc>
            </a:pPr>
            <a:r>
              <a:rPr lang="en-US" b="false" i="false" strike="noStrike" u="none" sz="27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第一个</a:t>
            </a:r>
            <a:r>
              <a:rPr lang="en-US" b="false" i="false" strike="noStrike" u="none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21</a:t>
            </a:r>
            <a:r>
              <a:rPr lang="en-US" b="false" i="false" strike="noStrike" u="none" sz="27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：原子数</a:t>
            </a:r>
            <a:r>
              <a:rPr lang="en-US" b="fals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457200" defTabSz="914400">
              <a:lnSpc>
                <a:spcPct val="100000"/>
              </a:lnSpc>
            </a:pPr>
            <a:r>
              <a:rPr lang="en-US" b="false" i="false" strike="noStrike" u="none" sz="27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第二个</a:t>
            </a:r>
            <a:r>
              <a:rPr lang="en-US" b="false" i="false" strike="noStrike" u="none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21</a:t>
            </a:r>
            <a:r>
              <a:rPr lang="en-US" b="false" i="false" strike="noStrike" u="none" sz="27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：化学键数</a:t>
            </a:r>
            <a:r>
              <a:rPr lang="en-US" b="fals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-2.6543 -2.2010 -0.0705</a:t>
            </a:r>
            <a:r>
              <a:rPr lang="en-US" b="false" i="false" strike="noStrike" u="none" sz="27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：三维坐标，单位</a:t>
            </a:r>
            <a:r>
              <a:rPr lang="en-US" b="false" i="false" strike="noStrike" u="none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Å</a:t>
            </a:r>
            <a:r>
              <a:rPr lang="en-US" b="fals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b="false" i="false" strike="noStrike" u="none" sz="27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：元素</a:t>
            </a:r>
            <a:r>
              <a:rPr lang="en-US" b="fals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b="false" i="false" strike="noStrike" u="none" sz="27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：记录同位素、电荷、立体化学等属性；</a:t>
            </a:r>
            <a:r>
              <a:rPr lang="en-US" b="fals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27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本例多为</a:t>
            </a:r>
            <a:r>
              <a:rPr lang="en-US" b="false" i="false" strike="noStrike" u="none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0</a:t>
            </a:r>
            <a:r>
              <a:rPr lang="en-US" b="false" i="false" strike="noStrike" u="none" sz="27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，表示默认或未指定</a:t>
            </a:r>
            <a:r>
              <a:rPr lang="en-US" b="fals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 defTabSz="914400">
              <a:lnSpc>
                <a:spcPct val="150000"/>
              </a:lnSpc>
            </a:pPr>
            <a:r>
              <a:rPr lang="en-US" b="true" i="false" strike="noStrike" u="none" sz="27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每行对应一个原子表示为：坐标</a:t>
            </a:r>
            <a:r>
              <a:rPr lang="en-US" b="true" i="false" strike="noStrike" u="none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x</a:t>
            </a:r>
            <a:r>
              <a:rPr lang="en-US" b="true" i="false" strike="noStrike" u="none" sz="27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、</a:t>
            </a:r>
            <a:r>
              <a:rPr lang="en-US" b="true" i="false" strike="noStrike" u="none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b="true" i="false" strike="noStrike" u="none" sz="27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、</a:t>
            </a:r>
            <a:r>
              <a:rPr lang="en-US" b="true" i="false" strike="noStrike" u="none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-US" b="true" i="false" strike="noStrike" u="none" sz="27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＋元素</a:t>
            </a:r>
            <a:r>
              <a:rPr lang="en-US" b="false" i="false" strike="noStrike" u="none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b="fals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defTabSz="914400">
              <a:lnSpc>
                <a:spcPct val="150000"/>
              </a:lnSpc>
            </a:pPr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10829290" y="1714500"/>
            <a:ext cx="7148195" cy="6116320"/>
          </a:xfrm>
          <a:prstGeom prst="rect">
            <a:avLst/>
          </a:prstGeom>
          <a:noFill/>
          <a:ln w="1905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914400">
              <a:lnSpc>
                <a:spcPct val="150000"/>
              </a:lnSpc>
              <a:defRPr/>
            </a:pPr>
            <a:r>
              <a:rPr lang="en-US" b="true" i="false" strike="noStrike" u="none" sz="27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②</a:t>
            </a:r>
            <a:r>
              <a:rPr lang="en-US" b="true" i="false" strike="noStrike" u="none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i="false" strike="noStrike" u="none" sz="27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化学键区</a:t>
            </a:r>
            <a:r>
              <a:rPr lang="en-US" b="false" i="false" strike="noStrike" u="none" sz="27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：边</a:t>
            </a:r>
            <a:r>
              <a:rPr lang="en-US" b="false" i="false" strike="noStrike" u="none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</a:t>
            </a:r>
            <a:r>
              <a:rPr lang="en-US" b="false" i="false" strike="noStrike" u="none" sz="27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 defTabSz="914400">
              <a:lnSpc>
                <a:spcPct val="150000"/>
              </a:lnSpc>
            </a:pPr>
            <a:r>
              <a:rPr lang="en-US" b="false" i="false" strike="noStrike" u="none" sz="27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 defTabSz="914400">
              <a:lnSpc>
                <a:spcPct val="150000"/>
              </a:lnSpc>
            </a:pPr>
            <a:r>
              <a:rPr lang="en-US" b="false" i="false" strike="noStrike" u="none" sz="27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 defTabSz="914400">
              <a:lnSpc>
                <a:spcPct val="150000"/>
              </a:lnSpc>
            </a:pPr>
            <a:r>
              <a:rPr lang="en-US" b="false" i="false" strike="noStrike" u="none" sz="27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 defTabSz="914400">
              <a:lnSpc>
                <a:spcPct val="150000"/>
              </a:lnSpc>
            </a:pPr>
            <a:r>
              <a:rPr lang="en-US" b="false" i="false" strike="noStrike" u="none" sz="27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27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en-US" b="false" i="false" strike="noStrike" u="none" sz="27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与</a:t>
            </a:r>
            <a:r>
              <a:rPr lang="en-US" b="false" i="false" strike="noStrike" u="none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3</a:t>
            </a:r>
            <a:r>
              <a:rPr lang="en-US" b="false" i="false" strike="noStrike" u="none" sz="27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：相连的原子编号</a:t>
            </a:r>
            <a:r>
              <a:rPr lang="en-US" b="false" i="false" strike="noStrike" u="none" sz="27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b="false" i="false" strike="noStrike" u="none" sz="27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：双键；</a:t>
            </a:r>
            <a:r>
              <a:rPr lang="en-US" b="false" i="false" strike="noStrike" u="none" sz="27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false" i="false" strike="noStrike" u="none" sz="27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末尾</a:t>
            </a:r>
            <a:r>
              <a:rPr lang="en-US" b="false" i="false" strike="noStrike" u="none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0</a:t>
            </a:r>
            <a:r>
              <a:rPr lang="en-US" b="false" i="false" strike="noStrike" u="none" sz="27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：未指定键的立体标记</a:t>
            </a:r>
            <a:r>
              <a:rPr lang="en-US" b="false" i="false" strike="noStrike" u="none" sz="27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 defTabSz="914400">
              <a:lnSpc>
                <a:spcPct val="150000"/>
              </a:lnSpc>
            </a:pPr>
            <a:r>
              <a:rPr lang="en-US" b="true" i="false" strike="noStrike" u="none" sz="27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每行记录一条化学键表示为：原子</a:t>
            </a:r>
            <a:r>
              <a:rPr lang="en-US" b="true" i="false" strike="noStrike" u="none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</a:t>
            </a:r>
            <a:r>
              <a:rPr lang="en-US" b="true" i="false" strike="noStrike" u="none" sz="27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＋原子</a:t>
            </a:r>
            <a:r>
              <a:rPr lang="en-US" b="true" i="false" strike="noStrike" u="none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</a:t>
            </a:r>
            <a:r>
              <a:rPr lang="en-US" b="true" i="false" strike="noStrike" u="none" sz="27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＋键类型</a:t>
            </a:r>
          </a:p>
        </p:txBody>
      </p:sp>
      <p:cxnSp>
        <p:nvCxnSpPr>
          <p:cNvPr name="Connector 12" id="12"/>
          <p:cNvCxnSpPr/>
          <p:nvPr/>
        </p:nvCxnSpPr>
        <p:spPr>
          <a:xfrm rot="0" flipH="false" flipV="false">
            <a:off x="10505440" y="1932940"/>
            <a:ext cx="10160" cy="6715760"/>
          </a:xfrm>
          <a:prstGeom prst="line">
            <a:avLst/>
          </a:prstGeom>
          <a:noFill/>
          <a:ln w="12700" cmpd="sng" cap="flat">
            <a:solidFill>
              <a:srgbClr val="4F81BD">
                <a:alpha val="100000"/>
              </a:srgbClr>
            </a:solidFill>
            <a:prstDash val="dash"/>
            <a:headEnd type="none" w="med" len="med"/>
            <a:tailEnd type="none" w="med" len="med"/>
          </a:ln>
        </p:spPr>
      </p:cxnSp>
      <p:sp>
        <p:nvSpPr>
          <p:cNvPr name="AutoShape 13" id="13"/>
          <p:cNvSpPr txBox="true"/>
          <p:nvPr/>
        </p:nvSpPr>
        <p:spPr>
          <a:xfrm rot="0" flipH="false" flipV="false">
            <a:off x="5935345" y="8924925"/>
            <a:ext cx="9537700" cy="50673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lvl="6" indent="-342900" marL="1962900" defTabSz="914400">
              <a:lnSpc>
                <a:spcPct val="100000"/>
              </a:lnSpc>
              <a:buChar char=" "/>
              <a:defRPr/>
            </a:pPr>
            <a:r>
              <a:rPr lang="en-US" b="true" i="false" strike="noStrike" u="none" sz="27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这份</a:t>
            </a:r>
            <a:r>
              <a:rPr lang="en-US" b="true" i="false" strike="noStrike" u="none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SDF </a:t>
            </a:r>
            <a:r>
              <a:rPr lang="en-US" b="true" i="false" strike="noStrike" u="none" sz="27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同时保存：原子信息＋化学键连接关系＋三维坐标</a:t>
            </a:r>
            <a:endParaRPr lang="en-US" sz="1100"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5"/>
          <a:srcRect l="0" r="0" t="0" b="0"/>
          <a:stretch>
            <a:fillRect/>
          </a:stretch>
        </p:blipFill>
        <p:spPr>
          <a:xfrm rot="0" flipH="false" flipV="false">
            <a:off x="2743200" y="2675890"/>
            <a:ext cx="7419975" cy="205486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5" id="15"/>
          <p:cNvSpPr/>
          <p:nvPr/>
        </p:nvSpPr>
        <p:spPr>
          <a:xfrm rot="0" flipH="false" flipV="false">
            <a:off x="3505200" y="3662045"/>
            <a:ext cx="6585585" cy="307975"/>
          </a:xfrm>
          <a:prstGeom prst="flowChartAlternateProcess">
            <a:avLst/>
          </a:prstGeom>
          <a:noFill/>
          <a:ln w="25400" cmpd="sng" cap="flat">
            <a:solidFill>
              <a:srgbClr val="FF0000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6"/>
          <a:srcRect l="0" r="0" t="0" b="0"/>
          <a:stretch>
            <a:fillRect/>
          </a:stretch>
        </p:blipFill>
        <p:spPr>
          <a:xfrm rot="0" flipH="false" flipV="false">
            <a:off x="10929620" y="2800350"/>
            <a:ext cx="3218180" cy="1829435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7" id="17"/>
          <p:cNvSpPr/>
          <p:nvPr/>
        </p:nvSpPr>
        <p:spPr>
          <a:xfrm rot="0" flipH="false" flipV="false">
            <a:off x="10972800" y="3086100"/>
            <a:ext cx="2105025" cy="213995"/>
          </a:xfrm>
          <a:prstGeom prst="flowChartAlternateProcess">
            <a:avLst/>
          </a:prstGeom>
          <a:noFill/>
          <a:ln w="25400" cmpd="sng" cap="flat">
            <a:solidFill>
              <a:srgbClr val="FF0000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8" id="18"/>
          <p:cNvSpPr/>
          <p:nvPr/>
        </p:nvSpPr>
        <p:spPr>
          <a:xfrm rot="0" flipH="false" flipV="false">
            <a:off x="-1235075" y="-19050"/>
            <a:ext cx="3366135" cy="10407650"/>
          </a:xfrm>
          <a:custGeom>
            <a:avLst/>
            <a:gdLst/>
            <a:ahLst/>
            <a:cxnLst/>
            <a:rect r="r" b="b" t="t" l="l"/>
            <a:pathLst>
              <a:path h="10407650" w="3366135">
                <a:moveTo>
                  <a:pt x="0" y="0"/>
                </a:moveTo>
                <a:lnTo>
                  <a:pt x="3366135" y="0"/>
                </a:lnTo>
                <a:lnTo>
                  <a:pt x="3366135" y="10407650"/>
                </a:lnTo>
                <a:lnTo>
                  <a:pt x="0" y="10407650"/>
                </a:lnTo>
                <a:close/>
              </a:path>
            </a:pathLst>
          </a:custGeom>
          <a:solidFill>
            <a:srgbClr val="6083BA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 txBox="true"/>
          <p:nvPr/>
        </p:nvSpPr>
        <p:spPr>
          <a:xfrm rot="0" flipH="false" flipV="false">
            <a:off x="-1235075" y="-201997"/>
            <a:ext cx="3366135" cy="10590597"/>
          </a:xfrm>
          <a:prstGeom prst="rect">
            <a:avLst/>
          </a:prstGeom>
          <a:noFill/>
          <a:ln w="19050" cmpd="sng" cap="flat">
            <a:noFill/>
            <a:prstDash val="solid"/>
            <a:round/>
          </a:ln>
        </p:spPr>
        <p:txBody>
          <a:bodyPr anchor="ctr" rtlCol="false" anchorCtr="false" vert="horz" wrap="square" lIns="51395" rIns="51395" tIns="51395" bIns="51395"/>
          <a:lstStyle/>
          <a:p>
            <a:pPr algn="ctr">
              <a:defRPr/>
            </a:pPr>
            <a:endParaRPr/>
          </a:p>
        </p:txBody>
      </p:sp>
      <p:cxnSp>
        <p:nvCxnSpPr>
          <p:cNvPr name="Connector 20" id="20"/>
          <p:cNvCxnSpPr/>
          <p:nvPr/>
        </p:nvCxnSpPr>
        <p:spPr>
          <a:xfrm rot="0" flipH="false" flipV="true">
            <a:off x="-423546" y="4145910"/>
            <a:ext cx="2826385" cy="7620"/>
          </a:xfrm>
          <a:prstGeom prst="line">
            <a:avLst/>
          </a:prstGeom>
          <a:noFill/>
          <a:ln w="25400" cap="flat">
            <a:solidFill>
              <a:srgbClr val="FFFFFF">
                <a:alpha val="100000"/>
              </a:srgbClr>
            </a:solidFill>
            <a:prstDash val="solid"/>
            <a:headEnd type="none" w="sm" len="sm"/>
            <a:tailEnd type="none" w="sm" len="sm"/>
          </a:ln>
        </p:spPr>
      </p:cxnSp>
      <p:cxnSp>
        <p:nvCxnSpPr>
          <p:cNvPr name="Connector 21" id="21"/>
          <p:cNvCxnSpPr/>
          <p:nvPr/>
        </p:nvCxnSpPr>
        <p:spPr>
          <a:xfrm rot="0" flipH="false" flipV="false">
            <a:off x="-795647" y="6096999"/>
            <a:ext cx="3375631" cy="0"/>
          </a:xfrm>
          <a:prstGeom prst="line">
            <a:avLst/>
          </a:prstGeom>
          <a:noFill/>
          <a:ln w="25400" cap="flat">
            <a:solidFill>
              <a:srgbClr val="FFFFFF">
                <a:alpha val="100000"/>
              </a:srgbClr>
            </a:solidFill>
            <a:prstDash val="solid"/>
            <a:headEnd type="none" w="sm" len="sm"/>
            <a:tailEnd type="none" w="sm" len="sm"/>
          </a:ln>
        </p:spPr>
      </p:cxnSp>
      <p:cxnSp>
        <p:nvCxnSpPr>
          <p:cNvPr name="Connector 22" id="22"/>
          <p:cNvCxnSpPr/>
          <p:nvPr/>
        </p:nvCxnSpPr>
        <p:spPr>
          <a:xfrm rot="0" flipH="false" flipV="false">
            <a:off x="-385416" y="8165809"/>
            <a:ext cx="3375631" cy="0"/>
          </a:xfrm>
          <a:prstGeom prst="line">
            <a:avLst/>
          </a:prstGeom>
          <a:noFill/>
          <a:ln w="25400" cap="flat">
            <a:solidFill>
              <a:srgbClr val="FFFFFF">
                <a:alpha val="100000"/>
              </a:srgbClr>
            </a:solidFill>
            <a:prstDash val="solid"/>
            <a:headEnd type="none" w="sm" len="sm"/>
            <a:tailEnd type="none" w="sm" len="sm"/>
          </a:ln>
        </p:spPr>
      </p:cxnSp>
      <p:sp>
        <p:nvSpPr>
          <p:cNvPr name="Freeform 23" id="23"/>
          <p:cNvSpPr/>
          <p:nvPr/>
        </p:nvSpPr>
        <p:spPr>
          <a:xfrm rot="-5400000" flipH="false" flipV="false">
            <a:off x="388726" y="5428099"/>
            <a:ext cx="1124549" cy="3493287"/>
          </a:xfrm>
          <a:custGeom>
            <a:avLst/>
            <a:gdLst/>
            <a:ahLst/>
            <a:cxnLst/>
            <a:rect r="r" b="b" t="t" l="l"/>
            <a:pathLst>
              <a:path h="3493287" w="1124549">
                <a:moveTo>
                  <a:pt x="1124549" y="0"/>
                </a:moveTo>
                <a:lnTo>
                  <a:pt x="1124549" y="3094206"/>
                </a:lnTo>
                <a:lnTo>
                  <a:pt x="562275" y="3493287"/>
                </a:lnTo>
                <a:lnTo>
                  <a:pt x="0" y="3094206"/>
                </a:lnTo>
                <a:lnTo>
                  <a:pt x="0" y="0"/>
                </a:lnTo>
                <a:lnTo>
                  <a:pt x="1124549" y="0"/>
                </a:lnTo>
                <a:close/>
              </a:path>
            </a:pathLst>
          </a:custGeom>
          <a:solidFill>
            <a:srgbClr val="6083BA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 txBox="true"/>
          <p:nvPr/>
        </p:nvSpPr>
        <p:spPr>
          <a:xfrm rot="-5400000" flipH="false" flipV="false">
            <a:off x="77876" y="1450157"/>
            <a:ext cx="1124550" cy="3237371"/>
          </a:xfrm>
          <a:prstGeom prst="rect">
            <a:avLst/>
          </a:prstGeom>
          <a:noFill/>
          <a:ln w="19050" cmpd="sng" cap="flat">
            <a:noFill/>
            <a:prstDash val="solid"/>
            <a:round/>
          </a:ln>
        </p:spPr>
        <p:txBody>
          <a:bodyPr anchor="ctr" rtlCol="false" anchorCtr="false" vert="horz" wrap="square" lIns="51395" rIns="51395" tIns="51395" bIns="51395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 txBox="true"/>
          <p:nvPr/>
        </p:nvSpPr>
        <p:spPr>
          <a:xfrm rot="0" flipH="false" flipV="false">
            <a:off x="-171401" y="2800904"/>
            <a:ext cx="2302612" cy="6013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914400">
              <a:lnSpc>
                <a:spcPts val="4690"/>
              </a:lnSpc>
              <a:defRPr/>
            </a:pPr>
            <a:r>
              <a:rPr lang="en-US" b="true" i="false" strike="noStrike" u="none" sz="2400" spc="732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基础概念</a:t>
            </a:r>
            <a:endParaRPr lang="en-US" sz="1100"/>
          </a:p>
        </p:txBody>
      </p:sp>
      <p:sp>
        <p:nvSpPr>
          <p:cNvPr name="AutoShape 26" id="26"/>
          <p:cNvSpPr txBox="true"/>
          <p:nvPr/>
        </p:nvSpPr>
        <p:spPr>
          <a:xfrm rot="0" flipH="false" flipV="false">
            <a:off x="-304799" y="4955534"/>
            <a:ext cx="2633981" cy="39369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914400">
              <a:lnSpc>
                <a:spcPts val="3070"/>
              </a:lnSpc>
              <a:defRPr/>
            </a:pPr>
            <a:r>
              <a:rPr lang="en-US" b="true" i="false" strike="noStrike" u="none" sz="2400" spc="48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数据样例</a:t>
            </a:r>
            <a:endParaRPr lang="en-US" sz="1100"/>
          </a:p>
        </p:txBody>
      </p:sp>
      <p:sp>
        <p:nvSpPr>
          <p:cNvPr name="AutoShape 27" id="27"/>
          <p:cNvSpPr txBox="true"/>
          <p:nvPr/>
        </p:nvSpPr>
        <p:spPr>
          <a:xfrm rot="0" flipH="false" flipV="false">
            <a:off x="-95250" y="6960861"/>
            <a:ext cx="2761615" cy="39369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914400">
              <a:lnSpc>
                <a:spcPts val="3070"/>
              </a:lnSpc>
              <a:defRPr/>
            </a:pPr>
            <a:r>
              <a:rPr lang="en-US" b="true" i="false" strike="noStrike" u="none" sz="3600" spc="48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分子表示</a:t>
            </a:r>
            <a:endParaRPr lang="en-US" sz="1100"/>
          </a:p>
        </p:txBody>
      </p:sp>
      <p:sp>
        <p:nvSpPr>
          <p:cNvPr name="AutoShape 28" id="28"/>
          <p:cNvSpPr txBox="true"/>
          <p:nvPr/>
        </p:nvSpPr>
        <p:spPr>
          <a:xfrm rot="0" flipH="false" flipV="false">
            <a:off x="56751" y="8999856"/>
            <a:ext cx="1943204" cy="39369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914400">
              <a:lnSpc>
                <a:spcPts val="3070"/>
              </a:lnSpc>
              <a:defRPr/>
            </a:pPr>
            <a:r>
              <a:rPr lang="en-US" b="true" i="false" strike="noStrike" u="none" sz="2400" spc="48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计算方法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27989" r="61482" t="32128" b="52552"/>
          <a:stretch>
            <a:fillRect/>
          </a:stretch>
        </p:blipFill>
        <p:spPr>
          <a:xfrm rot="5400000" flipH="false" flipV="false">
            <a:off x="11058525" y="3761740"/>
            <a:ext cx="728345" cy="59563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27989" r="61483" t="32128" b="52552"/>
          <a:stretch>
            <a:fillRect/>
          </a:stretch>
        </p:blipFill>
        <p:spPr>
          <a:xfrm rot="5400000" flipH="false" flipV="false">
            <a:off x="11134725" y="6504940"/>
            <a:ext cx="728345" cy="59563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rcRect l="27990" r="61482" t="32128" b="52552"/>
          <a:stretch>
            <a:fillRect/>
          </a:stretch>
        </p:blipFill>
        <p:spPr>
          <a:xfrm rot="5400000" flipH="false" flipV="false">
            <a:off x="3979545" y="4364355"/>
            <a:ext cx="2470785" cy="1133475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cxnSp>
        <p:nvCxnSpPr>
          <p:cNvPr name="Connector 5" id="5"/>
          <p:cNvCxnSpPr/>
          <p:nvPr/>
        </p:nvCxnSpPr>
        <p:spPr>
          <a:xfrm rot="0" flipH="false" flipV="true">
            <a:off x="3110230" y="1009650"/>
            <a:ext cx="14720570" cy="19050"/>
          </a:xfrm>
          <a:prstGeom prst="line">
            <a:avLst/>
          </a:prstGeom>
          <a:noFill/>
          <a:ln w="38100" cap="rnd">
            <a:solidFill>
              <a:srgbClr val="013E80">
                <a:alpha val="100000"/>
              </a:srgbClr>
            </a:solidFill>
            <a:prstDash val="solid"/>
            <a:headEnd type="none" w="sm" len="sm"/>
            <a:tailEnd type="none" w="sm" len="sm"/>
          </a:ln>
        </p:spPr>
      </p:cxn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2182495" y="190500"/>
            <a:ext cx="978535" cy="978535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7" id="7"/>
          <p:cNvSpPr txBox="true"/>
          <p:nvPr/>
        </p:nvSpPr>
        <p:spPr>
          <a:xfrm rot="0" flipH="false" flipV="false">
            <a:off x="3213735" y="266700"/>
            <a:ext cx="12207875" cy="73850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914400">
              <a:lnSpc>
                <a:spcPts val="5760"/>
              </a:lnSpc>
              <a:defRPr/>
            </a:pPr>
            <a:r>
              <a:rPr lang="en-US" b="true" i="false" strike="noStrike" u="none" sz="4800">
                <a:solidFill>
                  <a:srgbClr val="2F5597"/>
                </a:solidFill>
                <a:latin typeface="微软雅黑"/>
                <a:ea typeface="微软雅黑"/>
                <a:cs typeface="微软雅黑"/>
                <a:sym typeface="微软雅黑"/>
              </a:rPr>
              <a:t>从三维构象到电子密度</a:t>
            </a:r>
            <a:endParaRPr lang="en-US" sz="1100"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2"/>
          <a:srcRect l="36826" r="36654" t="11702" b="41973"/>
          <a:stretch>
            <a:fillRect/>
          </a:stretch>
        </p:blipFill>
        <p:spPr>
          <a:xfrm rot="0" flipH="false" flipV="false">
            <a:off x="3429000" y="1078230"/>
            <a:ext cx="3615690" cy="2644775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71053" r="718" t="12553" b="9149"/>
          <a:stretch>
            <a:fillRect/>
          </a:stretch>
        </p:blipFill>
        <p:spPr>
          <a:xfrm rot="0" flipH="false" flipV="false">
            <a:off x="3262630" y="5284470"/>
            <a:ext cx="3928745" cy="454152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4366895" y="3695700"/>
            <a:ext cx="1414780" cy="1599565"/>
          </a:xfrm>
          <a:prstGeom prst="rect">
            <a:avLst/>
          </a:prstGeom>
          <a:noFill/>
          <a:ln w="1905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DFT</a:t>
            </a:r>
            <a:r>
              <a:rPr lang="en-US" b="true" i="false" strike="noStrike" u="none" sz="1400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400">
                <a:solidFill>
                  <a:srgbClr val="FF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电</a:t>
            </a:r>
            <a:r>
              <a:rPr lang="en-US" b="true" i="false" strike="noStrike" u="none" sz="1400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400">
                <a:solidFill>
                  <a:srgbClr val="FF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子</a:t>
            </a:r>
            <a:r>
              <a:rPr lang="en-US" b="true" i="false" strike="noStrike" u="none" sz="1400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400">
                <a:solidFill>
                  <a:srgbClr val="FF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结</a:t>
            </a:r>
            <a:r>
              <a:rPr lang="en-US" b="true" i="false" strike="noStrike" u="none" sz="1400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400">
                <a:solidFill>
                  <a:srgbClr val="FF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构</a:t>
            </a:r>
            <a:r>
              <a:rPr lang="en-US" b="true" i="false" strike="noStrike" u="none" sz="1400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400">
                <a:solidFill>
                  <a:srgbClr val="FF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计</a:t>
            </a:r>
            <a:r>
              <a:rPr lang="en-US" b="true" i="false" strike="noStrike" u="none" sz="1400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 defTabSz="914400">
              <a:lnSpc>
                <a:spcPct val="100000"/>
              </a:lnSpc>
            </a:pPr>
            <a:r>
              <a:rPr lang="en-US" b="true" i="false" strike="noStrike" u="none" sz="1400">
                <a:solidFill>
                  <a:srgbClr val="FF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算</a:t>
            </a:r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9677400" y="1333500"/>
            <a:ext cx="9631680" cy="8401685"/>
          </a:xfrm>
          <a:prstGeom prst="rect">
            <a:avLst/>
          </a:prstGeom>
          <a:noFill/>
          <a:ln w="1905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>
            <a:lvl1pPr marL="647700" indent="-304800"/>
            <a:lvl2pPr marL="1104900" indent="-304800"/>
            <a:lvl3pPr marL="1562100" indent="-304800"/>
            <a:lvl4pPr marL="2019300" indent="-304800"/>
            <a:lvl5pPr marL="2476500" indent="-304800"/>
            <a:lvl6pPr marL="2933700" indent="-304800"/>
            <a:lvl7pPr marL="3390900" indent="-304800"/>
            <a:lvl8pPr marL="3848100" indent="-304800"/>
            <a:lvl9pPr marL="4305300" indent="-304800"/>
          </a:lstStyle>
          <a:p>
            <a:pPr algn="l" marL="0" indent="0" defTabSz="914400">
              <a:lnSpc>
                <a:spcPct val="150000"/>
              </a:lnSpc>
              <a:defRPr/>
            </a:pPr>
            <a:r>
              <a:rPr lang="en-US" b="tru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① 输入：分子的几何结构与电子状态</a:t>
            </a: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/>
            </a:r>
            <a:endParaRPr lang="en-US" sz="1100"/>
          </a:p>
          <a:p>
            <a:pPr algn="l" indent="-342900" marL="342900" defTabSz="914400">
              <a:lnSpc>
                <a:spcPct val="150000"/>
              </a:lnSpc>
              <a:buClr>
                <a:srgbClr val="000000"/>
              </a:buClr>
              <a:buFont typeface="Wingdings"/>
              <a:buChar char="Ø"/>
            </a:pP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原子种类及三维坐标：每个原子的 x、y、z。</a:t>
            </a: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/>
            </a:r>
          </a:p>
          <a:p>
            <a:pPr algn="l" indent="-342900" marL="342900" defTabSz="914400">
              <a:lnSpc>
                <a:spcPct val="150000"/>
              </a:lnSpc>
              <a:buClr>
                <a:srgbClr val="000000"/>
              </a:buClr>
              <a:buFont typeface="Wingdings"/>
              <a:buChar char="Ø"/>
            </a:pP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总电荷：中性阿司匹林设为 0。</a:t>
            </a: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/>
            </a:r>
          </a:p>
          <a:p>
            <a:pPr algn="l" indent="-342900" marL="342900" defTabSz="914400">
              <a:lnSpc>
                <a:spcPct val="150000"/>
              </a:lnSpc>
              <a:buClr>
                <a:srgbClr val="000000"/>
              </a:buClr>
              <a:buFont typeface="Wingdings"/>
              <a:buChar char="Ø"/>
            </a:pP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自旋多重度：闭壳层单重态设为 1。</a:t>
            </a: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/>
            </a:r>
          </a:p>
          <a:p>
            <a:pPr algn="l" marL="0" indent="0" defTabSz="914400">
              <a:lnSpc>
                <a:spcPct val="150000"/>
              </a:lnSpc>
            </a:pP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/>
            </a:r>
          </a:p>
          <a:p>
            <a:pPr algn="l" marL="0" indent="0" defTabSz="914400">
              <a:lnSpc>
                <a:spcPct val="150000"/>
              </a:lnSpc>
            </a:pPr>
            <a:r>
              <a:rPr lang="en-US" b="tru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② 计算：使用 DFT 求解电子结构</a:t>
            </a: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/>
            </a:r>
          </a:p>
          <a:p>
            <a:pPr algn="l" indent="-342900" marL="342900" defTabSz="914400">
              <a:lnSpc>
                <a:spcPct val="150000"/>
              </a:lnSpc>
              <a:buClr>
                <a:srgbClr val="000000"/>
              </a:buClr>
              <a:buFont typeface="Wingdings"/>
              <a:buChar char="Ø"/>
            </a:pP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选择计算方法：交换关联泛函＋基组。</a:t>
            </a: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/>
            </a:r>
          </a:p>
          <a:p>
            <a:pPr algn="l" indent="-342900" marL="342900" defTabSz="914400">
              <a:lnSpc>
                <a:spcPct val="150000"/>
              </a:lnSpc>
              <a:buClr>
                <a:srgbClr val="000000"/>
              </a:buClr>
              <a:buFont typeface="Wingdings"/>
              <a:buChar char="Ø"/>
            </a:pP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使用量子化学软件进行自洽场计算。</a:t>
            </a: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/>
            </a:r>
          </a:p>
          <a:p>
            <a:pPr algn="l" indent="-342900" marL="342900" defTabSz="914400">
              <a:lnSpc>
                <a:spcPct val="150000"/>
              </a:lnSpc>
              <a:buClr>
                <a:srgbClr val="000000"/>
              </a:buClr>
              <a:buFont typeface="Wingdings"/>
              <a:buChar char="Ø"/>
            </a:pP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得到分子轨道、轨道占据情况及电子密度矩阵。</a:t>
            </a: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/>
            </a:r>
          </a:p>
          <a:p>
            <a:pPr algn="l" marL="0" indent="0" defTabSz="914400">
              <a:lnSpc>
                <a:spcPct val="150000"/>
              </a:lnSpc>
            </a:pP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/>
            </a:r>
          </a:p>
          <a:p>
            <a:pPr algn="l" marL="0" indent="0" defTabSz="914400">
              <a:lnSpc>
                <a:spcPct val="150000"/>
              </a:lnSpc>
            </a:pPr>
            <a:r>
              <a:rPr lang="en-US" b="tru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③ 输出：电子密度及其可视化</a:t>
            </a: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/>
            </a:r>
          </a:p>
          <a:p>
            <a:pPr algn="l" indent="-457200" marL="457200" defTabSz="914400">
              <a:lnSpc>
                <a:spcPct val="150000"/>
              </a:lnSpc>
              <a:buClr>
                <a:srgbClr val="000000"/>
              </a:buClr>
              <a:buFont typeface="Wingdings"/>
              <a:buChar char="Ø"/>
            </a:pP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根据密度矩阵和基函数，计算空间各点的电子密度 ρ(r)。</a:t>
            </a: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/>
            </a:r>
          </a:p>
          <a:p>
            <a:pPr algn="l" indent="-457200" marL="457200" defTabSz="914400">
              <a:lnSpc>
                <a:spcPct val="150000"/>
              </a:lnSpc>
              <a:buClr>
                <a:srgbClr val="000000"/>
              </a:buClr>
              <a:buFont typeface="Wingdings"/>
              <a:buChar char="Ø"/>
            </a:pP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将网格坐标及对应的电子密度保存为 CUBE 文件。</a:t>
            </a: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/>
            </a:r>
          </a:p>
          <a:p>
            <a:pPr algn="l" indent="-457200" marL="457200" defTabSz="914400">
              <a:lnSpc>
                <a:spcPct val="150000"/>
              </a:lnSpc>
              <a:buClr>
                <a:srgbClr val="000000"/>
              </a:buClr>
              <a:buFont typeface="Wingdings"/>
              <a:buChar char="Ø"/>
            </a:pP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用 VMD 加载 CUBE，显示电子密度等值面。</a:t>
            </a:r>
            <a:r>
              <a:rPr lang="en-US" b="false" i="false" strike="noStrike" u="none" sz="24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/>
            </a:r>
          </a:p>
          <a:p>
            <a:pPr algn="l" defTabSz="914400">
              <a:lnSpc>
                <a:spcPct val="150000"/>
              </a:lnSpc>
            </a:pPr>
          </a:p>
        </p:txBody>
      </p:sp>
      <p:cxnSp>
        <p:nvCxnSpPr>
          <p:cNvPr name="Connector 12" id="12"/>
          <p:cNvCxnSpPr/>
          <p:nvPr/>
        </p:nvCxnSpPr>
        <p:spPr>
          <a:xfrm rot="0" flipH="false" flipV="false">
            <a:off x="8035290" y="1315085"/>
            <a:ext cx="0" cy="8534400"/>
          </a:xfrm>
          <a:prstGeom prst="line">
            <a:avLst/>
          </a:prstGeom>
          <a:noFill/>
          <a:ln w="12700" cmpd="sng" cap="flat">
            <a:solidFill>
              <a:srgbClr val="4F81BD">
                <a:alpha val="100000"/>
              </a:srgbClr>
            </a:solidFill>
            <a:prstDash val="dash"/>
            <a:headEnd type="none" w="med" len="med"/>
            <a:tailEnd type="none" w="med" len="med"/>
          </a:ln>
        </p:spPr>
      </p:cxnSp>
      <p:pic>
        <p:nvPicPr>
          <p:cNvPr name="Picture 13" id="13"/>
          <p:cNvPicPr>
            <a:picLocks noChangeAspect="true"/>
          </p:cNvPicPr>
          <p:nvPr/>
        </p:nvPicPr>
        <p:blipFill>
          <a:blip r:embed="rId2"/>
          <a:srcRect l="27989" r="65282" t="32128" b="52552"/>
          <a:stretch>
            <a:fillRect/>
          </a:stretch>
        </p:blipFill>
        <p:spPr>
          <a:xfrm rot="0" flipH="false" flipV="false">
            <a:off x="7044690" y="4565650"/>
            <a:ext cx="2362835" cy="151384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4" id="14"/>
          <p:cNvSpPr txBox="true"/>
          <p:nvPr/>
        </p:nvSpPr>
        <p:spPr>
          <a:xfrm rot="0" flipH="false" flipV="false">
            <a:off x="7120890" y="4591685"/>
            <a:ext cx="1501775" cy="4603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2400">
                <a:solidFill>
                  <a:srgbClr val="FF0000"/>
                </a:solidFill>
                <a:latin typeface="微软雅黑"/>
                <a:ea typeface="微软雅黑"/>
                <a:cs typeface="微软雅黑"/>
                <a:sym typeface="微软雅黑"/>
              </a:rPr>
              <a:t>具体步骤</a:t>
            </a:r>
            <a:endParaRPr lang="en-US" sz="1100"/>
          </a:p>
        </p:txBody>
      </p:sp>
      <p:sp>
        <p:nvSpPr>
          <p:cNvPr name="Freeform 15" id="15"/>
          <p:cNvSpPr/>
          <p:nvPr/>
        </p:nvSpPr>
        <p:spPr>
          <a:xfrm rot="0" flipH="false" flipV="false">
            <a:off x="-1235075" y="-19050"/>
            <a:ext cx="3366135" cy="10407650"/>
          </a:xfrm>
          <a:custGeom>
            <a:avLst/>
            <a:gdLst/>
            <a:ahLst/>
            <a:cxnLst/>
            <a:rect r="r" b="b" t="t" l="l"/>
            <a:pathLst>
              <a:path h="10407650" w="3366135">
                <a:moveTo>
                  <a:pt x="0" y="0"/>
                </a:moveTo>
                <a:lnTo>
                  <a:pt x="3366135" y="0"/>
                </a:lnTo>
                <a:lnTo>
                  <a:pt x="3366135" y="10407650"/>
                </a:lnTo>
                <a:lnTo>
                  <a:pt x="0" y="10407650"/>
                </a:lnTo>
                <a:close/>
              </a:path>
            </a:pathLst>
          </a:custGeom>
          <a:solidFill>
            <a:srgbClr val="6083BA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-1235075" y="-201997"/>
            <a:ext cx="3366135" cy="10590597"/>
          </a:xfrm>
          <a:prstGeom prst="rect">
            <a:avLst/>
          </a:prstGeom>
          <a:noFill/>
          <a:ln w="19050" cmpd="sng" cap="flat">
            <a:noFill/>
            <a:prstDash val="solid"/>
            <a:round/>
          </a:ln>
        </p:spPr>
        <p:txBody>
          <a:bodyPr anchor="ctr" rtlCol="false" anchorCtr="false" vert="horz" wrap="square" lIns="51395" rIns="51395" tIns="51395" bIns="51395"/>
          <a:lstStyle/>
          <a:p>
            <a:pPr algn="ctr">
              <a:defRPr/>
            </a:pPr>
            <a:endParaRPr/>
          </a:p>
        </p:txBody>
      </p:sp>
      <p:cxnSp>
        <p:nvCxnSpPr>
          <p:cNvPr name="Connector 17" id="17"/>
          <p:cNvCxnSpPr/>
          <p:nvPr/>
        </p:nvCxnSpPr>
        <p:spPr>
          <a:xfrm rot="0" flipH="false" flipV="true">
            <a:off x="-423546" y="4145910"/>
            <a:ext cx="2826385" cy="7620"/>
          </a:xfrm>
          <a:prstGeom prst="line">
            <a:avLst/>
          </a:prstGeom>
          <a:noFill/>
          <a:ln w="25400" cap="flat">
            <a:solidFill>
              <a:srgbClr val="FFFFFF">
                <a:alpha val="100000"/>
              </a:srgbClr>
            </a:solidFill>
            <a:prstDash val="solid"/>
            <a:headEnd type="none" w="sm" len="sm"/>
            <a:tailEnd type="none" w="sm" len="sm"/>
          </a:ln>
        </p:spPr>
      </p:cxnSp>
      <p:cxnSp>
        <p:nvCxnSpPr>
          <p:cNvPr name="Connector 18" id="18"/>
          <p:cNvCxnSpPr/>
          <p:nvPr/>
        </p:nvCxnSpPr>
        <p:spPr>
          <a:xfrm rot="0" flipH="false" flipV="false">
            <a:off x="-795647" y="6096999"/>
            <a:ext cx="3375631" cy="0"/>
          </a:xfrm>
          <a:prstGeom prst="line">
            <a:avLst/>
          </a:prstGeom>
          <a:noFill/>
          <a:ln w="25400" cap="flat">
            <a:solidFill>
              <a:srgbClr val="FFFFFF">
                <a:alpha val="100000"/>
              </a:srgbClr>
            </a:solidFill>
            <a:prstDash val="solid"/>
            <a:headEnd type="none" w="sm" len="sm"/>
            <a:tailEnd type="none" w="sm" len="sm"/>
          </a:ln>
        </p:spPr>
      </p:cxnSp>
      <p:cxnSp>
        <p:nvCxnSpPr>
          <p:cNvPr name="Connector 19" id="19"/>
          <p:cNvCxnSpPr/>
          <p:nvPr/>
        </p:nvCxnSpPr>
        <p:spPr>
          <a:xfrm rot="0" flipH="false" flipV="false">
            <a:off x="-385416" y="8165809"/>
            <a:ext cx="3375631" cy="0"/>
          </a:xfrm>
          <a:prstGeom prst="line">
            <a:avLst/>
          </a:prstGeom>
          <a:noFill/>
          <a:ln w="25400" cap="flat">
            <a:solidFill>
              <a:srgbClr val="FFFFFF">
                <a:alpha val="100000"/>
              </a:srgbClr>
            </a:solidFill>
            <a:prstDash val="solid"/>
            <a:headEnd type="none" w="sm" len="sm"/>
            <a:tailEnd type="none" w="sm" len="sm"/>
          </a:ln>
        </p:spPr>
      </p:cxnSp>
      <p:sp>
        <p:nvSpPr>
          <p:cNvPr name="Freeform 20" id="20"/>
          <p:cNvSpPr/>
          <p:nvPr/>
        </p:nvSpPr>
        <p:spPr>
          <a:xfrm rot="-5400000" flipH="false" flipV="false">
            <a:off x="388726" y="5428099"/>
            <a:ext cx="1124549" cy="3493287"/>
          </a:xfrm>
          <a:custGeom>
            <a:avLst/>
            <a:gdLst/>
            <a:ahLst/>
            <a:cxnLst/>
            <a:rect r="r" b="b" t="t" l="l"/>
            <a:pathLst>
              <a:path h="3493287" w="1124549">
                <a:moveTo>
                  <a:pt x="1124549" y="0"/>
                </a:moveTo>
                <a:lnTo>
                  <a:pt x="1124549" y="3094206"/>
                </a:lnTo>
                <a:lnTo>
                  <a:pt x="562275" y="3493287"/>
                </a:lnTo>
                <a:lnTo>
                  <a:pt x="0" y="3094206"/>
                </a:lnTo>
                <a:lnTo>
                  <a:pt x="0" y="0"/>
                </a:lnTo>
                <a:lnTo>
                  <a:pt x="1124549" y="0"/>
                </a:lnTo>
                <a:close/>
              </a:path>
            </a:pathLst>
          </a:custGeom>
          <a:solidFill>
            <a:srgbClr val="6083BA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 txBox="true"/>
          <p:nvPr/>
        </p:nvSpPr>
        <p:spPr>
          <a:xfrm rot="-5400000" flipH="false" flipV="false">
            <a:off x="77876" y="1450157"/>
            <a:ext cx="1124550" cy="3237371"/>
          </a:xfrm>
          <a:prstGeom prst="rect">
            <a:avLst/>
          </a:prstGeom>
          <a:noFill/>
          <a:ln w="19050" cmpd="sng" cap="flat">
            <a:noFill/>
            <a:prstDash val="solid"/>
            <a:round/>
          </a:ln>
        </p:spPr>
        <p:txBody>
          <a:bodyPr anchor="ctr" rtlCol="false" anchorCtr="false" vert="horz" wrap="square" lIns="51395" rIns="51395" tIns="51395" bIns="51395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-171401" y="2800904"/>
            <a:ext cx="2302612" cy="6013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914400">
              <a:lnSpc>
                <a:spcPts val="4690"/>
              </a:lnSpc>
              <a:defRPr/>
            </a:pPr>
            <a:r>
              <a:rPr lang="en-US" b="true" i="false" strike="noStrike" u="none" sz="2400" spc="732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基础概念</a:t>
            </a:r>
            <a:endParaRPr lang="en-US" sz="1100"/>
          </a:p>
        </p:txBody>
      </p:sp>
      <p:sp>
        <p:nvSpPr>
          <p:cNvPr name="AutoShape 23" id="23"/>
          <p:cNvSpPr txBox="true"/>
          <p:nvPr/>
        </p:nvSpPr>
        <p:spPr>
          <a:xfrm rot="0" flipH="false" flipV="false">
            <a:off x="-304799" y="4955534"/>
            <a:ext cx="2633981" cy="39369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914400">
              <a:lnSpc>
                <a:spcPts val="3070"/>
              </a:lnSpc>
              <a:defRPr/>
            </a:pPr>
            <a:r>
              <a:rPr lang="en-US" b="true" i="false" strike="noStrike" u="none" sz="2400" spc="48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数据样例</a:t>
            </a:r>
            <a:endParaRPr lang="en-US" sz="1100"/>
          </a:p>
        </p:txBody>
      </p:sp>
      <p:sp>
        <p:nvSpPr>
          <p:cNvPr name="AutoShape 24" id="24"/>
          <p:cNvSpPr txBox="true"/>
          <p:nvPr/>
        </p:nvSpPr>
        <p:spPr>
          <a:xfrm rot="0" flipH="false" flipV="false">
            <a:off x="-95250" y="6960861"/>
            <a:ext cx="2761615" cy="39369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914400">
              <a:lnSpc>
                <a:spcPts val="3070"/>
              </a:lnSpc>
              <a:defRPr/>
            </a:pPr>
            <a:r>
              <a:rPr lang="en-US" b="true" i="false" strike="noStrike" u="none" sz="3600" spc="48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分子表示</a:t>
            </a:r>
            <a:endParaRPr lang="en-US" sz="1100"/>
          </a:p>
        </p:txBody>
      </p:sp>
      <p:sp>
        <p:nvSpPr>
          <p:cNvPr name="AutoShape 25" id="25"/>
          <p:cNvSpPr txBox="true"/>
          <p:nvPr/>
        </p:nvSpPr>
        <p:spPr>
          <a:xfrm rot="0" flipH="false" flipV="false">
            <a:off x="56751" y="8999856"/>
            <a:ext cx="1943204" cy="39369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914400">
              <a:lnSpc>
                <a:spcPts val="3070"/>
              </a:lnSpc>
              <a:defRPr/>
            </a:pPr>
            <a:r>
              <a:rPr lang="en-US" b="true" i="false" strike="noStrike" u="none" sz="2400" spc="48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计算方法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451485" y="243840"/>
            <a:ext cx="10311765" cy="8413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102870" rIns="102870" tIns="51435" bIns="51435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48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实验设置与训练结果</a:t>
            </a:r>
            <a:endParaRPr lang="en-US" sz="1100"/>
          </a:p>
        </p:txBody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2819400" y="1252220"/>
          <a:ext cx="15222220" cy="548386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073910"/>
                <a:gridCol w="4403725"/>
                <a:gridCol w="3225800"/>
                <a:gridCol w="5518785"/>
              </a:tblGrid>
              <a:tr h="520065"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270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软件</a:t>
                      </a:r>
                      <a:endParaRPr lang="en-US" sz="1100"/>
                    </a:p>
                  </a:txBody>
                  <a:tcPr anchor="ctr" marL="0" marR="0" marT="0" marB="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270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相关计算方法</a:t>
                      </a:r>
                      <a:endParaRPr lang="en-US" sz="1100"/>
                    </a:p>
                  </a:txBody>
                  <a:tcPr anchor="t" marL="137160" marR="137160" marT="41593" marB="41593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270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常见应用对象</a:t>
                      </a:r>
                      <a:endParaRPr lang="en-US" sz="1100"/>
                    </a:p>
                  </a:txBody>
                  <a:tcPr anchor="t" marL="137160" marR="137160" marT="41593" marB="41593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270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电子密度相关输出</a:t>
                      </a:r>
                      <a:endParaRPr lang="en-US" sz="1100"/>
                    </a:p>
                  </a:txBody>
                  <a:tcPr anchor="t" marL="137160" marR="137160" marT="41593" marB="41593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>
                        <a:alpha val="100000"/>
                      </a:srgbClr>
                    </a:solidFill>
                  </a:tcPr>
                </a:tc>
              </a:tr>
              <a:tr h="845820"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2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Psi4</a:t>
                      </a:r>
                      <a:endParaRPr lang="en-US" sz="1100"/>
                    </a:p>
                  </a:txBody>
                  <a:tcPr anchor="t" marL="137160" marR="137160" marT="68580" marB="6858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2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DFT</a:t>
                      </a:r>
                      <a:r>
                        <a:rPr lang="en-US" b="false" i="false" strike="noStrike" u="none" sz="28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、</a:t>
                      </a:r>
                      <a:r>
                        <a:rPr lang="en-US" b="false" i="false" strike="noStrike" u="none" sz="2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Hartree–Fock </a:t>
                      </a:r>
                      <a:r>
                        <a:rPr lang="en-US" b="false" i="false" strike="noStrike" u="none" sz="27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等</a:t>
                      </a:r>
                      <a:endParaRPr lang="en-US" sz="1100"/>
                    </a:p>
                  </a:txBody>
                  <a:tcPr anchor="t" marL="137160" marR="137160" marT="68580" marB="6858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27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小分子、药物分子</a:t>
                      </a:r>
                      <a:endParaRPr lang="en-US" sz="1100"/>
                    </a:p>
                  </a:txBody>
                  <a:tcPr anchor="t" marL="137160" marR="137160" marT="68580" marB="6858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27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密度矩阵；通过 </a:t>
                      </a:r>
                      <a:r>
                        <a:rPr lang="en-US" b="false" i="false" strike="noStrike" u="none" sz="2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cubeprop</a:t>
                      </a:r>
                      <a:r>
                        <a:rPr lang="en-US" b="false" i="false" strike="noStrike" u="none" sz="27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 导出电子密度 </a:t>
                      </a:r>
                      <a:r>
                        <a:rPr lang="en-US" b="false" i="false" strike="noStrike" u="none" sz="2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CUBE </a:t>
                      </a:r>
                      <a:r>
                        <a:rPr lang="en-US" b="false" i="false" strike="noStrike" u="none" sz="27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文件</a:t>
                      </a:r>
                      <a:endParaRPr lang="en-US" sz="1100"/>
                    </a:p>
                  </a:txBody>
                  <a:tcPr anchor="t" marL="137160" marR="137160" marT="0" marB="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>
                        <a:alpha val="100000"/>
                      </a:srgbClr>
                    </a:solidFill>
                  </a:tcPr>
                </a:tc>
              </a:tr>
              <a:tr h="910590"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2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lang="en-US" sz="2800"/>
                    </a:p>
                    <a:p>
                      <a:pPr algn="ctr" marL="0" indent="0" defTabSz="914400">
                        <a:lnSpc>
                          <a:spcPct val="100000"/>
                        </a:lnSpc>
                      </a:pPr>
                      <a:r>
                        <a:rPr lang="en-US" b="false" i="false" strike="noStrike" u="none" sz="2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PySCF</a:t>
                      </a:r>
                    </a:p>
                  </a:txBody>
                  <a:tcPr anchor="t" marL="137160" marR="137160" marT="15875" marB="15875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2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DFT</a:t>
                      </a:r>
                      <a:r>
                        <a:rPr lang="en-US" b="false" i="false" strike="noStrike" u="none" sz="28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、</a:t>
                      </a:r>
                      <a:r>
                        <a:rPr lang="en-US" b="false" i="false" strike="noStrike" u="none" sz="2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Hartree–Fock</a:t>
                      </a:r>
                      <a:r>
                        <a:rPr lang="en-US" b="false" i="false" strike="noStrike" u="none" sz="27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 等</a:t>
                      </a:r>
                      <a:endParaRPr lang="en-US" sz="1100"/>
                    </a:p>
                  </a:txBody>
                  <a:tcPr anchor="t" marL="137160" marR="137160" marT="68580" marB="6858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27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分子,也支持周期性体系；适合 </a:t>
                      </a:r>
                      <a:r>
                        <a:rPr lang="en-US" b="false" i="false" strike="noStrike" u="none" sz="2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Python</a:t>
                      </a:r>
                      <a:r>
                        <a:rPr lang="en-US" b="false" i="false" strike="noStrike" u="none" sz="27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 编程</a:t>
                      </a:r>
                      <a:endParaRPr lang="en-US" sz="1100"/>
                    </a:p>
                  </a:txBody>
                  <a:tcPr anchor="t" marL="137160" marR="137160" marT="0" marB="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27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密度矩阵；通过 </a:t>
                      </a:r>
                      <a:r>
                        <a:rPr lang="en-US" b="false" i="false" strike="noStrike" u="none" sz="2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cubegen</a:t>
                      </a:r>
                      <a:r>
                        <a:rPr lang="en-US" b="false" i="false" strike="noStrike" u="none" sz="27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 导出 </a:t>
                      </a:r>
                      <a:r>
                        <a:rPr lang="en-US" b="false" i="false" strike="noStrike" u="none" sz="2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CUBE</a:t>
                      </a:r>
                      <a:r>
                        <a:rPr lang="en-US" b="false" i="false" strike="noStrike" u="none" sz="27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 文件</a:t>
                      </a:r>
                      <a:endParaRPr lang="en-US" sz="1100"/>
                    </a:p>
                  </a:txBody>
                  <a:tcPr anchor="t" marL="137160" marR="137160" marT="15875" marB="15875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>
                        <a:alpha val="100000"/>
                      </a:srgbClr>
                    </a:solidFill>
                  </a:tcPr>
                </a:tc>
              </a:tr>
              <a:tr h="782320"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2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ORCA</a:t>
                      </a:r>
                      <a:endParaRPr lang="en-US" sz="1100"/>
                    </a:p>
                  </a:txBody>
                  <a:tcPr anchor="t" marL="137160" marR="137160" marT="68580" marB="6858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2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DFT</a:t>
                      </a:r>
                      <a:r>
                        <a:rPr lang="en-US" b="false" i="false" strike="noStrike" u="none" sz="28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、</a:t>
                      </a:r>
                      <a:r>
                        <a:rPr lang="en-US" b="false" i="false" strike="noStrike" u="none" sz="2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Hartree–Fock</a:t>
                      </a:r>
                      <a:r>
                        <a:rPr lang="en-US" b="false" i="false" strike="noStrike" u="none" sz="27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 等</a:t>
                      </a:r>
                      <a:endParaRPr lang="en-US" sz="1100"/>
                    </a:p>
                  </a:txBody>
                  <a:tcPr anchor="t" marL="137160" marR="137160" marT="68580" marB="6858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27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分子、配合物等</a:t>
                      </a:r>
                      <a:endParaRPr lang="en-US" sz="1100"/>
                    </a:p>
                  </a:txBody>
                  <a:tcPr anchor="t" marL="137160" marR="137160" marT="68580" marB="6858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27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电子结构计算结果；通过 </a:t>
                      </a:r>
                      <a:r>
                        <a:rPr lang="en-US" b="false" i="false" strike="noStrike" u="none" sz="2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orca_plot</a:t>
                      </a:r>
                      <a:r>
                        <a:rPr lang="en-US" b="false" i="false" strike="noStrike" u="none" sz="27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 导出电子密度 </a:t>
                      </a:r>
                      <a:r>
                        <a:rPr lang="en-US" b="false" i="false" strike="noStrike" u="none" sz="2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CUBE</a:t>
                      </a:r>
                      <a:r>
                        <a:rPr lang="en-US" b="false" i="false" strike="noStrike" u="none" sz="27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 文件</a:t>
                      </a:r>
                      <a:endParaRPr lang="en-US" sz="1100"/>
                    </a:p>
                  </a:txBody>
                  <a:tcPr anchor="t" marL="137160" marR="137160" marT="0" marB="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>
                        <a:alpha val="100000"/>
                      </a:srgbClr>
                    </a:solidFill>
                  </a:tcPr>
                </a:tc>
              </a:tr>
              <a:tr h="715645"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2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/>
                      </a:r>
                      <a:endParaRPr lang="en-US" sz="2800"/>
                    </a:p>
                    <a:p>
                      <a:pPr algn="ctr" marL="0" indent="0" defTabSz="914400">
                        <a:lnSpc>
                          <a:spcPct val="100000"/>
                        </a:lnSpc>
                      </a:pPr>
                      <a:r>
                        <a:rPr lang="en-US" b="false" i="false" strike="noStrike" u="none" sz="2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VASP</a:t>
                      </a:r>
                    </a:p>
                  </a:txBody>
                  <a:tcPr anchor="t" marL="137160" marR="137160" marT="0" marB="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27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平面波 </a:t>
                      </a:r>
                      <a:r>
                        <a:rPr lang="en-US" b="false" i="false" strike="noStrike" u="none" sz="2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DFT </a:t>
                      </a:r>
                      <a:r>
                        <a:rPr lang="en-US" b="false" i="false" strike="noStrike" u="none" sz="27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等，通常结合 </a:t>
                      </a:r>
                      <a:r>
                        <a:rPr lang="en-US" b="false" i="false" strike="noStrike" u="none" sz="2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PAW</a:t>
                      </a:r>
                      <a:endParaRPr lang="en-US" sz="1100"/>
                    </a:p>
                  </a:txBody>
                  <a:tcPr anchor="t" marL="137160" marR="137160" marT="0" marB="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27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晶体、表面，也可在计算盒子中计算分子</a:t>
                      </a:r>
                      <a:endParaRPr lang="en-US" sz="1100"/>
                    </a:p>
                  </a:txBody>
                  <a:tcPr anchor="t" marL="137160" marR="137160" marT="0" marB="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2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CHGCAR</a:t>
                      </a:r>
                      <a:r>
                        <a:rPr lang="en-US" b="false" i="false" strike="noStrike" u="none" sz="27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：包含结构、密度网格及 </a:t>
                      </a:r>
                      <a:r>
                        <a:rPr lang="en-US" b="false" i="false" strike="noStrike" u="none" sz="2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PAW</a:t>
                      </a:r>
                      <a:r>
                        <a:rPr lang="en-US" b="false" i="false" strike="noStrike" u="none" sz="27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 相关信息</a:t>
                      </a:r>
                      <a:endParaRPr lang="en-US" sz="1100"/>
                    </a:p>
                  </a:txBody>
                  <a:tcPr anchor="t" marL="137160" marR="137160" marT="0" marB="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>
                        <a:alpha val="100000"/>
                      </a:srgbClr>
                    </a:solidFill>
                  </a:tcPr>
                </a:tc>
              </a:tr>
              <a:tr h="791210"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2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Quantum ESPRESSO</a:t>
                      </a:r>
                      <a:endParaRPr lang="en-US" sz="1100"/>
                    </a:p>
                  </a:txBody>
                  <a:tcPr anchor="t" marL="137160" marR="137160" marT="0" marB="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27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平面波 </a:t>
                      </a:r>
                      <a:r>
                        <a:rPr lang="en-US" b="false" i="false" strike="noStrike" u="none" sz="2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DFT</a:t>
                      </a:r>
                      <a:r>
                        <a:rPr lang="en-US" b="false" i="false" strike="noStrike" u="none" sz="27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 等，使用赝势</a:t>
                      </a:r>
                      <a:endParaRPr lang="en-US" sz="1100"/>
                    </a:p>
                  </a:txBody>
                  <a:tcPr anchor="t" marL="137160" marR="137160" marT="68580" marB="6858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27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晶体、表面、周期性体系</a:t>
                      </a:r>
                      <a:endParaRPr lang="en-US" sz="1100"/>
                    </a:p>
                  </a:txBody>
                  <a:tcPr anchor="t" marL="137160" marR="137160" marT="0" marB="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27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通过</a:t>
                      </a:r>
                      <a:r>
                        <a:rPr lang="en-US" b="false" i="false" strike="noStrike" u="none" sz="2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pp.x </a:t>
                      </a:r>
                      <a:r>
                        <a:rPr lang="en-US" b="false" i="false" strike="noStrike" u="none" sz="27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提取密度，可导出 </a:t>
                      </a:r>
                      <a:r>
                        <a:rPr lang="en-US" b="false" i="false" strike="noStrike" u="none" sz="2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CUBE </a:t>
                      </a:r>
                      <a:r>
                        <a:rPr lang="en-US" b="false" i="false" strike="noStrike" u="none" sz="27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文件</a:t>
                      </a:r>
                      <a:endParaRPr lang="en-US" sz="1100"/>
                    </a:p>
                  </a:txBody>
                  <a:tcPr anchor="t" marL="137160" marR="137160" marT="0" marB="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>
                        <a:alpha val="100000"/>
                      </a:srgbClr>
                    </a:solidFill>
                  </a:tcPr>
                </a:tc>
              </a:tr>
              <a:tr h="918210"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2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xtb</a:t>
                      </a:r>
                      <a:endParaRPr lang="en-US" sz="1100"/>
                    </a:p>
                  </a:txBody>
                  <a:tcPr anchor="t" marL="137160" marR="137160" marT="68580" marB="6858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2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GFN1-xTB</a:t>
                      </a:r>
                      <a:r>
                        <a:rPr lang="en-US" b="false" i="false" strike="noStrike" u="none" sz="28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、</a:t>
                      </a:r>
                      <a:r>
                        <a:rPr lang="en-US" b="false" i="false" strike="noStrike" u="none" sz="2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GFN2-xTB </a:t>
                      </a:r>
                      <a:r>
                        <a:rPr lang="en-US" b="false" i="false" strike="noStrike" u="none" sz="27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等半经验紧束缚方法</a:t>
                      </a:r>
                      <a:endParaRPr lang="en-US" sz="1100"/>
                    </a:p>
                  </a:txBody>
                  <a:tcPr anchor="t" marL="137160" marR="137160" marT="19685" marB="19685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27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分子的快速计算与初步筛选</a:t>
                      </a:r>
                      <a:endParaRPr lang="en-US" sz="1100"/>
                    </a:p>
                  </a:txBody>
                  <a:tcPr anchor="t" marL="137160" marR="137160" marT="34925" marB="34925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27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可按设置输出电子密度</a:t>
                      </a:r>
                      <a:r>
                        <a:rPr lang="en-US" b="false" i="false" strike="noStrike" u="none" sz="2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CUBE</a:t>
                      </a:r>
                      <a:r>
                        <a:rPr lang="en-US" b="false" i="false" strike="noStrike" u="none" sz="27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 文件</a:t>
                      </a:r>
                      <a:endParaRPr lang="en-US" sz="1100"/>
                    </a:p>
                  </a:txBody>
                  <a:tcPr anchor="t" marL="137160" marR="137160" marT="68580" marB="6858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cxnSp>
        <p:nvCxnSpPr>
          <p:cNvPr name="Connector 4" id="4"/>
          <p:cNvCxnSpPr/>
          <p:nvPr/>
        </p:nvCxnSpPr>
        <p:spPr>
          <a:xfrm rot="0" flipH="false" flipV="true">
            <a:off x="3110230" y="1009650"/>
            <a:ext cx="14720570" cy="19050"/>
          </a:xfrm>
          <a:prstGeom prst="line">
            <a:avLst/>
          </a:prstGeom>
          <a:noFill/>
          <a:ln w="38100" cap="rnd">
            <a:solidFill>
              <a:srgbClr val="013E80">
                <a:alpha val="100000"/>
              </a:srgbClr>
            </a:solidFill>
            <a:prstDash val="solid"/>
            <a:headEnd type="none" w="sm" len="sm"/>
            <a:tailEnd type="none" w="sm" len="sm"/>
          </a:ln>
        </p:spPr>
      </p:cxn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2182495" y="190500"/>
            <a:ext cx="978535" cy="978535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6" id="6"/>
          <p:cNvSpPr txBox="true"/>
          <p:nvPr/>
        </p:nvSpPr>
        <p:spPr>
          <a:xfrm rot="0" flipH="false" flipV="false">
            <a:off x="3213735" y="266700"/>
            <a:ext cx="12207875" cy="73850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914400">
              <a:lnSpc>
                <a:spcPts val="5760"/>
              </a:lnSpc>
              <a:defRPr/>
            </a:pPr>
            <a:r>
              <a:rPr lang="en-US" b="true" i="false" strike="noStrike" u="none" sz="4800">
                <a:solidFill>
                  <a:srgbClr val="2F5597"/>
                </a:solidFill>
                <a:latin typeface="微软雅黑"/>
                <a:ea typeface="微软雅黑"/>
                <a:cs typeface="微软雅黑"/>
                <a:sym typeface="微软雅黑"/>
              </a:rPr>
              <a:t>计算电子密度的软件</a:t>
            </a:r>
            <a:endParaRPr lang="en-US" sz="1100"/>
          </a:p>
        </p:txBody>
      </p:sp>
      <p:sp>
        <p:nvSpPr>
          <p:cNvPr name="Freeform 7" id="7"/>
          <p:cNvSpPr/>
          <p:nvPr/>
        </p:nvSpPr>
        <p:spPr>
          <a:xfrm rot="0" flipH="false" flipV="false">
            <a:off x="-1235075" y="-19050"/>
            <a:ext cx="3366134" cy="10407650"/>
          </a:xfrm>
          <a:custGeom>
            <a:avLst/>
            <a:gdLst/>
            <a:ahLst/>
            <a:cxnLst/>
            <a:rect r="r" b="b" t="t" l="l"/>
            <a:pathLst>
              <a:path h="10407650" w="3366134">
                <a:moveTo>
                  <a:pt x="0" y="0"/>
                </a:moveTo>
                <a:lnTo>
                  <a:pt x="3366134" y="0"/>
                </a:lnTo>
                <a:lnTo>
                  <a:pt x="3366134" y="10407650"/>
                </a:lnTo>
                <a:lnTo>
                  <a:pt x="0" y="10407650"/>
                </a:lnTo>
                <a:close/>
              </a:path>
            </a:pathLst>
          </a:custGeom>
          <a:solidFill>
            <a:srgbClr val="6083BA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-1235075" y="-201997"/>
            <a:ext cx="3366134" cy="10590597"/>
          </a:xfrm>
          <a:prstGeom prst="rect">
            <a:avLst/>
          </a:prstGeom>
          <a:noFill/>
          <a:ln w="19050" cmpd="sng" cap="flat">
            <a:noFill/>
            <a:prstDash val="solid"/>
            <a:round/>
          </a:ln>
        </p:spPr>
        <p:txBody>
          <a:bodyPr anchor="ctr" rtlCol="false" anchorCtr="false" vert="horz" wrap="square" lIns="51395" rIns="51395" tIns="51395" bIns="51395"/>
          <a:lstStyle/>
          <a:p>
            <a:pPr algn="ctr">
              <a:defRPr/>
            </a:pPr>
            <a:endParaRPr/>
          </a:p>
        </p:txBody>
      </p:sp>
      <p:cxnSp>
        <p:nvCxnSpPr>
          <p:cNvPr name="Connector 9" id="9"/>
          <p:cNvCxnSpPr/>
          <p:nvPr/>
        </p:nvCxnSpPr>
        <p:spPr>
          <a:xfrm rot="0" flipH="false" flipV="true">
            <a:off x="-423546" y="4145838"/>
            <a:ext cx="2826385" cy="7620"/>
          </a:xfrm>
          <a:prstGeom prst="line">
            <a:avLst/>
          </a:prstGeom>
          <a:noFill/>
          <a:ln w="25400" cap="flat">
            <a:solidFill>
              <a:srgbClr val="FFFFFF">
                <a:alpha val="100000"/>
              </a:srgbClr>
            </a:solidFill>
            <a:prstDash val="solid"/>
            <a:headEnd type="none" w="sm" len="sm"/>
            <a:tailEnd type="none" w="sm" len="sm"/>
          </a:ln>
        </p:spPr>
      </p:cxnSp>
      <p:cxnSp>
        <p:nvCxnSpPr>
          <p:cNvPr name="Connector 10" id="10"/>
          <p:cNvCxnSpPr/>
          <p:nvPr/>
        </p:nvCxnSpPr>
        <p:spPr>
          <a:xfrm rot="0" flipH="false" flipV="false">
            <a:off x="-795647" y="6096892"/>
            <a:ext cx="3375630" cy="0"/>
          </a:xfrm>
          <a:prstGeom prst="line">
            <a:avLst/>
          </a:prstGeom>
          <a:noFill/>
          <a:ln w="25400" cap="flat">
            <a:solidFill>
              <a:srgbClr val="FFFFFF">
                <a:alpha val="100000"/>
              </a:srgbClr>
            </a:solidFill>
            <a:prstDash val="solid"/>
            <a:headEnd type="none" w="sm" len="sm"/>
            <a:tailEnd type="none" w="sm" len="sm"/>
          </a:ln>
        </p:spPr>
      </p:cxnSp>
      <p:cxnSp>
        <p:nvCxnSpPr>
          <p:cNvPr name="Connector 11" id="11"/>
          <p:cNvCxnSpPr/>
          <p:nvPr/>
        </p:nvCxnSpPr>
        <p:spPr>
          <a:xfrm rot="0" flipH="false" flipV="false">
            <a:off x="-385445" y="8166100"/>
            <a:ext cx="2993390" cy="635"/>
          </a:xfrm>
          <a:prstGeom prst="line">
            <a:avLst/>
          </a:prstGeom>
          <a:noFill/>
          <a:ln w="25400" cap="flat">
            <a:solidFill>
              <a:srgbClr val="FFFFFF">
                <a:alpha val="100000"/>
              </a:srgbClr>
            </a:solidFill>
            <a:prstDash val="solid"/>
            <a:headEnd type="none" w="sm" len="sm"/>
            <a:tailEnd type="none" w="sm" len="sm"/>
          </a:ln>
        </p:spPr>
      </p:cxnSp>
      <p:sp>
        <p:nvSpPr>
          <p:cNvPr name="Freeform 12" id="12"/>
          <p:cNvSpPr/>
          <p:nvPr/>
        </p:nvSpPr>
        <p:spPr>
          <a:xfrm rot="-5400000" flipH="false" flipV="false">
            <a:off x="409903" y="7519364"/>
            <a:ext cx="1124563" cy="3535677"/>
          </a:xfrm>
          <a:custGeom>
            <a:avLst/>
            <a:gdLst/>
            <a:ahLst/>
            <a:cxnLst/>
            <a:rect r="r" b="b" t="t" l="l"/>
            <a:pathLst>
              <a:path h="3535677" w="1124563">
                <a:moveTo>
                  <a:pt x="1124563" y="0"/>
                </a:moveTo>
                <a:lnTo>
                  <a:pt x="1124563" y="3131754"/>
                </a:lnTo>
                <a:lnTo>
                  <a:pt x="562282" y="3535677"/>
                </a:lnTo>
                <a:lnTo>
                  <a:pt x="0" y="3131754"/>
                </a:lnTo>
                <a:lnTo>
                  <a:pt x="0" y="0"/>
                </a:lnTo>
                <a:lnTo>
                  <a:pt x="1124563" y="0"/>
                </a:lnTo>
                <a:close/>
              </a:path>
            </a:pathLst>
          </a:custGeom>
          <a:solidFill>
            <a:srgbClr val="6083BA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 txBox="true"/>
          <p:nvPr/>
        </p:nvSpPr>
        <p:spPr>
          <a:xfrm rot="-5400000" flipH="false" flipV="false">
            <a:off x="77886" y="1450105"/>
            <a:ext cx="1124529" cy="3237371"/>
          </a:xfrm>
          <a:prstGeom prst="rect">
            <a:avLst/>
          </a:prstGeom>
          <a:noFill/>
          <a:ln w="19050" cmpd="sng" cap="flat">
            <a:noFill/>
            <a:prstDash val="solid"/>
            <a:round/>
          </a:ln>
        </p:spPr>
        <p:txBody>
          <a:bodyPr anchor="ctr" rtlCol="false" anchorCtr="false" vert="horz" wrap="square" lIns="51395" rIns="51395" tIns="51395" bIns="51395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-171401" y="2800857"/>
            <a:ext cx="2302612" cy="6013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914400">
              <a:lnSpc>
                <a:spcPts val="4690"/>
              </a:lnSpc>
              <a:defRPr/>
            </a:pPr>
            <a:r>
              <a:rPr lang="en-US" b="true" i="false" strike="noStrike" u="none" sz="2400" spc="732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基础概念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-304799" y="4955447"/>
            <a:ext cx="2633981" cy="393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914400">
              <a:lnSpc>
                <a:spcPts val="3070"/>
              </a:lnSpc>
              <a:defRPr/>
            </a:pPr>
            <a:r>
              <a:rPr lang="en-US" b="true" i="false" strike="noStrike" u="none" sz="2400" spc="48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数据样例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-381000" y="6972167"/>
            <a:ext cx="2761614" cy="393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914400">
              <a:lnSpc>
                <a:spcPts val="3070"/>
              </a:lnSpc>
              <a:defRPr/>
            </a:pPr>
            <a:r>
              <a:rPr lang="en-US" b="true" i="false" strike="noStrike" u="none" sz="2400" spc="48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分子表示</a:t>
            </a:r>
            <a:endParaRPr lang="en-US" sz="1100"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0" y="9105726"/>
            <a:ext cx="2683510" cy="393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914400">
              <a:lnSpc>
                <a:spcPts val="3070"/>
              </a:lnSpc>
              <a:defRPr/>
            </a:pPr>
            <a:r>
              <a:rPr lang="en-US" b="true" i="false" strike="noStrike" u="none" sz="3600" spc="48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计算方法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2971800" y="8796020"/>
            <a:ext cx="14889480" cy="924560"/>
          </a:xfrm>
          <a:prstGeom prst="roundRect">
            <a:avLst>
              <a:gd name="adj" fmla="val 16667"/>
            </a:avLst>
          </a:prstGeom>
          <a:solidFill>
            <a:srgbClr val="F2F2F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 txBox="true"/>
          <p:nvPr/>
        </p:nvSpPr>
        <p:spPr>
          <a:xfrm rot="0" flipH="false" flipV="false">
            <a:off x="3048000" y="8992870"/>
            <a:ext cx="15021560" cy="50673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false" i="false" strike="noStrike" u="none" sz="27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输入分子结构及计算参数</a:t>
            </a:r>
            <a:r>
              <a:rPr lang="en-US" b="false" i="false" strike="noStrike" u="none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</a:t>
            </a:r>
            <a:r>
              <a:rPr lang="en-US" b="false" i="false" strike="noStrike" u="none" sz="27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电子结构软件进行计算</a:t>
            </a:r>
            <a:r>
              <a:rPr lang="en-US" b="false" i="false" strike="noStrike" u="none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</a:t>
            </a:r>
            <a:r>
              <a:rPr lang="en-US" b="false" i="false" strike="noStrike" u="none" sz="27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输出电子密度</a:t>
            </a:r>
            <a:r>
              <a:rPr lang="en-US" b="false" i="false" strike="noStrike" u="none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</a:t>
            </a:r>
            <a:r>
              <a:rPr lang="en-US" b="false" i="false" strike="noStrike" u="none" sz="27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使用</a:t>
            </a:r>
            <a:r>
              <a:rPr lang="en-US" b="false" i="false" strike="noStrike" u="none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VMD </a:t>
            </a:r>
            <a:r>
              <a:rPr lang="en-US" b="false" i="false" strike="noStrike" u="none" sz="27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等软件可视化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2607945" y="998855"/>
            <a:ext cx="15013305" cy="750697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3657600" y="8572500"/>
            <a:ext cx="12733655" cy="1003300"/>
          </a:xfrm>
          <a:prstGeom prst="roundRect">
            <a:avLst>
              <a:gd name="adj" fmla="val 16667"/>
            </a:avLst>
          </a:prstGeom>
          <a:solidFill>
            <a:srgbClr val="F2F2F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451485" y="243840"/>
            <a:ext cx="10311765" cy="8413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102870" rIns="102870" tIns="51435" bIns="51435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48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实验设置与训练结果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0" flipH="false" flipV="true">
            <a:off x="3110230" y="1009650"/>
            <a:ext cx="14720570" cy="19050"/>
          </a:xfrm>
          <a:prstGeom prst="line">
            <a:avLst/>
          </a:prstGeom>
          <a:noFill/>
          <a:ln w="38100" cap="rnd">
            <a:solidFill>
              <a:srgbClr val="013E80">
                <a:alpha val="100000"/>
              </a:srgbClr>
            </a:solidFill>
            <a:prstDash val="solid"/>
            <a:headEnd type="none" w="sm" len="sm"/>
            <a:tailEnd type="none" w="sm" len="sm"/>
          </a:ln>
        </p:spPr>
      </p:cxn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2182495" y="190500"/>
            <a:ext cx="978535" cy="978535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7" id="7"/>
          <p:cNvSpPr txBox="true"/>
          <p:nvPr/>
        </p:nvSpPr>
        <p:spPr>
          <a:xfrm rot="0" flipH="false" flipV="false">
            <a:off x="3213735" y="266700"/>
            <a:ext cx="12207875" cy="73850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914400">
              <a:lnSpc>
                <a:spcPts val="5760"/>
              </a:lnSpc>
              <a:defRPr/>
            </a:pPr>
            <a:r>
              <a:rPr lang="en-US" b="true" i="false" strike="noStrike" u="none" sz="4800">
                <a:solidFill>
                  <a:srgbClr val="2F5597"/>
                </a:solidFill>
                <a:latin typeface="微软雅黑"/>
                <a:ea typeface="微软雅黑"/>
                <a:cs typeface="微软雅黑"/>
                <a:sym typeface="微软雅黑"/>
              </a:rPr>
              <a:t>阿司匹林电子密度计算总流程</a:t>
            </a:r>
            <a:endParaRPr lang="en-US" sz="1100"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-1235075" y="-19050"/>
            <a:ext cx="3366134" cy="10407650"/>
          </a:xfrm>
          <a:custGeom>
            <a:avLst/>
            <a:gdLst/>
            <a:ahLst/>
            <a:cxnLst/>
            <a:rect r="r" b="b" t="t" l="l"/>
            <a:pathLst>
              <a:path h="10407650" w="3366134">
                <a:moveTo>
                  <a:pt x="0" y="0"/>
                </a:moveTo>
                <a:lnTo>
                  <a:pt x="3366134" y="0"/>
                </a:lnTo>
                <a:lnTo>
                  <a:pt x="3366134" y="10407650"/>
                </a:lnTo>
                <a:lnTo>
                  <a:pt x="0" y="10407650"/>
                </a:lnTo>
                <a:close/>
              </a:path>
            </a:pathLst>
          </a:custGeom>
          <a:solidFill>
            <a:srgbClr val="6083BA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-1235075" y="-201997"/>
            <a:ext cx="3366134" cy="10590597"/>
          </a:xfrm>
          <a:prstGeom prst="rect">
            <a:avLst/>
          </a:prstGeom>
          <a:noFill/>
          <a:ln w="19050" cmpd="sng" cap="flat">
            <a:noFill/>
            <a:prstDash val="solid"/>
            <a:round/>
          </a:ln>
        </p:spPr>
        <p:txBody>
          <a:bodyPr anchor="ctr" rtlCol="false" anchorCtr="false" vert="horz" wrap="square" lIns="51395" rIns="51395" tIns="51395" bIns="51395"/>
          <a:lstStyle/>
          <a:p>
            <a:pPr algn="ctr">
              <a:defRPr/>
            </a:pPr>
            <a:endParaRPr/>
          </a:p>
        </p:txBody>
      </p:sp>
      <p:cxnSp>
        <p:nvCxnSpPr>
          <p:cNvPr name="Connector 10" id="10"/>
          <p:cNvCxnSpPr/>
          <p:nvPr/>
        </p:nvCxnSpPr>
        <p:spPr>
          <a:xfrm rot="0" flipH="false" flipV="true">
            <a:off x="-423546" y="4145838"/>
            <a:ext cx="2826385" cy="7620"/>
          </a:xfrm>
          <a:prstGeom prst="line">
            <a:avLst/>
          </a:prstGeom>
          <a:noFill/>
          <a:ln w="25400" cap="flat">
            <a:solidFill>
              <a:srgbClr val="FFFFFF">
                <a:alpha val="100000"/>
              </a:srgbClr>
            </a:solidFill>
            <a:prstDash val="solid"/>
            <a:headEnd type="none" w="sm" len="sm"/>
            <a:tailEnd type="none" w="sm" len="sm"/>
          </a:ln>
        </p:spPr>
      </p:cxnSp>
      <p:cxnSp>
        <p:nvCxnSpPr>
          <p:cNvPr name="Connector 11" id="11"/>
          <p:cNvCxnSpPr/>
          <p:nvPr/>
        </p:nvCxnSpPr>
        <p:spPr>
          <a:xfrm rot="0" flipH="false" flipV="false">
            <a:off x="-795647" y="6096892"/>
            <a:ext cx="3375630" cy="0"/>
          </a:xfrm>
          <a:prstGeom prst="line">
            <a:avLst/>
          </a:prstGeom>
          <a:noFill/>
          <a:ln w="25400" cap="flat">
            <a:solidFill>
              <a:srgbClr val="FFFFFF">
                <a:alpha val="100000"/>
              </a:srgbClr>
            </a:solidFill>
            <a:prstDash val="solid"/>
            <a:headEnd type="none" w="sm" len="sm"/>
            <a:tailEnd type="none" w="sm" len="sm"/>
          </a:ln>
        </p:spPr>
      </p:cxnSp>
      <p:cxnSp>
        <p:nvCxnSpPr>
          <p:cNvPr name="Connector 12" id="12"/>
          <p:cNvCxnSpPr/>
          <p:nvPr/>
        </p:nvCxnSpPr>
        <p:spPr>
          <a:xfrm rot="0" flipH="false" flipV="false">
            <a:off x="-385445" y="8166100"/>
            <a:ext cx="2993390" cy="635"/>
          </a:xfrm>
          <a:prstGeom prst="line">
            <a:avLst/>
          </a:prstGeom>
          <a:noFill/>
          <a:ln w="25400" cap="flat">
            <a:solidFill>
              <a:srgbClr val="FFFFFF">
                <a:alpha val="100000"/>
              </a:srgbClr>
            </a:solidFill>
            <a:prstDash val="solid"/>
            <a:headEnd type="none" w="sm" len="sm"/>
            <a:tailEnd type="none" w="sm" len="sm"/>
          </a:ln>
        </p:spPr>
      </p:cxnSp>
      <p:sp>
        <p:nvSpPr>
          <p:cNvPr name="Freeform 13" id="13"/>
          <p:cNvSpPr/>
          <p:nvPr/>
        </p:nvSpPr>
        <p:spPr>
          <a:xfrm rot="-5400000" flipH="false" flipV="false">
            <a:off x="409903" y="7519364"/>
            <a:ext cx="1124563" cy="3535677"/>
          </a:xfrm>
          <a:custGeom>
            <a:avLst/>
            <a:gdLst/>
            <a:ahLst/>
            <a:cxnLst/>
            <a:rect r="r" b="b" t="t" l="l"/>
            <a:pathLst>
              <a:path h="3535677" w="1124563">
                <a:moveTo>
                  <a:pt x="1124563" y="0"/>
                </a:moveTo>
                <a:lnTo>
                  <a:pt x="1124563" y="3131754"/>
                </a:lnTo>
                <a:lnTo>
                  <a:pt x="562282" y="3535677"/>
                </a:lnTo>
                <a:lnTo>
                  <a:pt x="0" y="3131754"/>
                </a:lnTo>
                <a:lnTo>
                  <a:pt x="0" y="0"/>
                </a:lnTo>
                <a:lnTo>
                  <a:pt x="1124563" y="0"/>
                </a:lnTo>
                <a:close/>
              </a:path>
            </a:pathLst>
          </a:custGeom>
          <a:solidFill>
            <a:srgbClr val="6083BA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 txBox="true"/>
          <p:nvPr/>
        </p:nvSpPr>
        <p:spPr>
          <a:xfrm rot="-5400000" flipH="false" flipV="false">
            <a:off x="77886" y="1450105"/>
            <a:ext cx="1124529" cy="3237371"/>
          </a:xfrm>
          <a:prstGeom prst="rect">
            <a:avLst/>
          </a:prstGeom>
          <a:noFill/>
          <a:ln w="19050" cmpd="sng" cap="flat">
            <a:noFill/>
            <a:prstDash val="solid"/>
            <a:round/>
          </a:ln>
        </p:spPr>
        <p:txBody>
          <a:bodyPr anchor="ctr" rtlCol="false" anchorCtr="false" vert="horz" wrap="square" lIns="51395" rIns="51395" tIns="51395" bIns="51395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-171401" y="2800857"/>
            <a:ext cx="2302612" cy="6013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914400">
              <a:lnSpc>
                <a:spcPts val="4690"/>
              </a:lnSpc>
              <a:defRPr/>
            </a:pPr>
            <a:r>
              <a:rPr lang="en-US" b="true" i="false" strike="noStrike" u="none" sz="2400" spc="732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基础概念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-304799" y="4955447"/>
            <a:ext cx="2633981" cy="393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914400">
              <a:lnSpc>
                <a:spcPts val="3070"/>
              </a:lnSpc>
              <a:defRPr/>
            </a:pPr>
            <a:r>
              <a:rPr lang="en-US" b="true" i="false" strike="noStrike" u="none" sz="2400" spc="48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数据样例</a:t>
            </a:r>
            <a:endParaRPr lang="en-US" sz="1100"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-381000" y="6972167"/>
            <a:ext cx="2761614" cy="393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914400">
              <a:lnSpc>
                <a:spcPts val="3070"/>
              </a:lnSpc>
              <a:defRPr/>
            </a:pPr>
            <a:r>
              <a:rPr lang="en-US" b="true" i="false" strike="noStrike" u="none" sz="2400" spc="48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分子表示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0" y="9105726"/>
            <a:ext cx="2683510" cy="393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914400">
              <a:lnSpc>
                <a:spcPts val="3070"/>
              </a:lnSpc>
              <a:defRPr/>
            </a:pPr>
            <a:r>
              <a:rPr lang="en-US" b="true" i="false" strike="noStrike" u="none" sz="3600" spc="48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计算方法</a:t>
            </a:r>
            <a:endParaRPr lang="en-US" sz="1100"/>
          </a:p>
        </p:txBody>
      </p:sp>
      <p:sp>
        <p:nvSpPr>
          <p:cNvPr name="AutoShape 19" id="19"/>
          <p:cNvSpPr txBox="true"/>
          <p:nvPr/>
        </p:nvSpPr>
        <p:spPr>
          <a:xfrm rot="0" flipH="false" flipV="false">
            <a:off x="5181600" y="8801100"/>
            <a:ext cx="14250670" cy="5530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30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固定原子核位置，通过自洽迭代求解电子密度与总能量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993900" y="1005205"/>
            <a:ext cx="16791940" cy="8843645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451485" y="243840"/>
            <a:ext cx="10311765" cy="8413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102870" rIns="102870" tIns="51435" bIns="51435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48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实验设置与训练结果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0" flipH="false" flipV="true">
            <a:off x="3110230" y="1009650"/>
            <a:ext cx="14720570" cy="19050"/>
          </a:xfrm>
          <a:prstGeom prst="line">
            <a:avLst/>
          </a:prstGeom>
          <a:noFill/>
          <a:ln w="38100" cap="rnd">
            <a:solidFill>
              <a:srgbClr val="013E80">
                <a:alpha val="100000"/>
              </a:srgbClr>
            </a:solidFill>
            <a:prstDash val="solid"/>
            <a:headEnd type="none" w="sm" len="sm"/>
            <a:tailEnd type="none" w="sm" len="sm"/>
          </a:ln>
        </p:spPr>
      </p:cxn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2182495" y="190500"/>
            <a:ext cx="978535" cy="978535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6" id="6"/>
          <p:cNvSpPr txBox="true"/>
          <p:nvPr/>
        </p:nvSpPr>
        <p:spPr>
          <a:xfrm rot="0" flipH="false" flipV="false">
            <a:off x="3213735" y="266700"/>
            <a:ext cx="12207875" cy="73850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914400">
              <a:lnSpc>
                <a:spcPts val="5760"/>
              </a:lnSpc>
              <a:defRPr/>
            </a:pPr>
            <a:r>
              <a:rPr lang="en-US" b="true" i="false" strike="noStrike" u="none" sz="4800">
                <a:solidFill>
                  <a:srgbClr val="2F5597"/>
                </a:solidFill>
                <a:latin typeface="微软雅黑"/>
                <a:ea typeface="微软雅黑"/>
                <a:cs typeface="微软雅黑"/>
                <a:sym typeface="微软雅黑"/>
              </a:rPr>
              <a:t>根据电子密度构建有效势</a:t>
            </a:r>
            <a:endParaRPr lang="en-US" sz="1100"/>
          </a:p>
        </p:txBody>
      </p:sp>
      <p:sp>
        <p:nvSpPr>
          <p:cNvPr name="Freeform 7" id="7"/>
          <p:cNvSpPr/>
          <p:nvPr/>
        </p:nvSpPr>
        <p:spPr>
          <a:xfrm rot="0" flipH="false" flipV="false">
            <a:off x="-1235075" y="-19050"/>
            <a:ext cx="3366134" cy="10407650"/>
          </a:xfrm>
          <a:custGeom>
            <a:avLst/>
            <a:gdLst/>
            <a:ahLst/>
            <a:cxnLst/>
            <a:rect r="r" b="b" t="t" l="l"/>
            <a:pathLst>
              <a:path h="10407650" w="3366134">
                <a:moveTo>
                  <a:pt x="0" y="0"/>
                </a:moveTo>
                <a:lnTo>
                  <a:pt x="3366134" y="0"/>
                </a:lnTo>
                <a:lnTo>
                  <a:pt x="3366134" y="10407650"/>
                </a:lnTo>
                <a:lnTo>
                  <a:pt x="0" y="10407650"/>
                </a:lnTo>
                <a:close/>
              </a:path>
            </a:pathLst>
          </a:custGeom>
          <a:solidFill>
            <a:srgbClr val="6083BA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-1235075" y="-201997"/>
            <a:ext cx="3366134" cy="10590597"/>
          </a:xfrm>
          <a:prstGeom prst="rect">
            <a:avLst/>
          </a:prstGeom>
          <a:noFill/>
          <a:ln w="19050" cmpd="sng" cap="flat">
            <a:noFill/>
            <a:prstDash val="solid"/>
            <a:round/>
          </a:ln>
        </p:spPr>
        <p:txBody>
          <a:bodyPr anchor="ctr" rtlCol="false" anchorCtr="false" vert="horz" wrap="square" lIns="51395" rIns="51395" tIns="51395" bIns="51395"/>
          <a:lstStyle/>
          <a:p>
            <a:pPr algn="ctr">
              <a:defRPr/>
            </a:pPr>
            <a:endParaRPr/>
          </a:p>
        </p:txBody>
      </p:sp>
      <p:cxnSp>
        <p:nvCxnSpPr>
          <p:cNvPr name="Connector 9" id="9"/>
          <p:cNvCxnSpPr/>
          <p:nvPr/>
        </p:nvCxnSpPr>
        <p:spPr>
          <a:xfrm rot="0" flipH="false" flipV="true">
            <a:off x="-423546" y="4145838"/>
            <a:ext cx="2826385" cy="7620"/>
          </a:xfrm>
          <a:prstGeom prst="line">
            <a:avLst/>
          </a:prstGeom>
          <a:noFill/>
          <a:ln w="25400" cap="flat">
            <a:solidFill>
              <a:srgbClr val="FFFFFF">
                <a:alpha val="100000"/>
              </a:srgbClr>
            </a:solidFill>
            <a:prstDash val="solid"/>
            <a:headEnd type="none" w="sm" len="sm"/>
            <a:tailEnd type="none" w="sm" len="sm"/>
          </a:ln>
        </p:spPr>
      </p:cxnSp>
      <p:cxnSp>
        <p:nvCxnSpPr>
          <p:cNvPr name="Connector 10" id="10"/>
          <p:cNvCxnSpPr/>
          <p:nvPr/>
        </p:nvCxnSpPr>
        <p:spPr>
          <a:xfrm rot="0" flipH="false" flipV="false">
            <a:off x="-795647" y="6096892"/>
            <a:ext cx="3375630" cy="0"/>
          </a:xfrm>
          <a:prstGeom prst="line">
            <a:avLst/>
          </a:prstGeom>
          <a:noFill/>
          <a:ln w="25400" cap="flat">
            <a:solidFill>
              <a:srgbClr val="FFFFFF">
                <a:alpha val="100000"/>
              </a:srgbClr>
            </a:solidFill>
            <a:prstDash val="solid"/>
            <a:headEnd type="none" w="sm" len="sm"/>
            <a:tailEnd type="none" w="sm" len="sm"/>
          </a:ln>
        </p:spPr>
      </p:cxnSp>
      <p:cxnSp>
        <p:nvCxnSpPr>
          <p:cNvPr name="Connector 11" id="11"/>
          <p:cNvCxnSpPr/>
          <p:nvPr/>
        </p:nvCxnSpPr>
        <p:spPr>
          <a:xfrm rot="0" flipH="false" flipV="false">
            <a:off x="-385445" y="8166100"/>
            <a:ext cx="2993390" cy="635"/>
          </a:xfrm>
          <a:prstGeom prst="line">
            <a:avLst/>
          </a:prstGeom>
          <a:noFill/>
          <a:ln w="25400" cap="flat">
            <a:solidFill>
              <a:srgbClr val="FFFFFF">
                <a:alpha val="100000"/>
              </a:srgbClr>
            </a:solidFill>
            <a:prstDash val="solid"/>
            <a:headEnd type="none" w="sm" len="sm"/>
            <a:tailEnd type="none" w="sm" len="sm"/>
          </a:ln>
        </p:spPr>
      </p:cxnSp>
      <p:sp>
        <p:nvSpPr>
          <p:cNvPr name="Freeform 12" id="12"/>
          <p:cNvSpPr/>
          <p:nvPr/>
        </p:nvSpPr>
        <p:spPr>
          <a:xfrm rot="-5400000" flipH="false" flipV="false">
            <a:off x="409903" y="7519364"/>
            <a:ext cx="1124563" cy="3535677"/>
          </a:xfrm>
          <a:custGeom>
            <a:avLst/>
            <a:gdLst/>
            <a:ahLst/>
            <a:cxnLst/>
            <a:rect r="r" b="b" t="t" l="l"/>
            <a:pathLst>
              <a:path h="3535677" w="1124563">
                <a:moveTo>
                  <a:pt x="1124563" y="0"/>
                </a:moveTo>
                <a:lnTo>
                  <a:pt x="1124563" y="3131754"/>
                </a:lnTo>
                <a:lnTo>
                  <a:pt x="562282" y="3535677"/>
                </a:lnTo>
                <a:lnTo>
                  <a:pt x="0" y="3131754"/>
                </a:lnTo>
                <a:lnTo>
                  <a:pt x="0" y="0"/>
                </a:lnTo>
                <a:lnTo>
                  <a:pt x="1124563" y="0"/>
                </a:lnTo>
                <a:close/>
              </a:path>
            </a:pathLst>
          </a:custGeom>
          <a:solidFill>
            <a:srgbClr val="6083BA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 txBox="true"/>
          <p:nvPr/>
        </p:nvSpPr>
        <p:spPr>
          <a:xfrm rot="-5400000" flipH="false" flipV="false">
            <a:off x="77886" y="1450105"/>
            <a:ext cx="1124529" cy="3237371"/>
          </a:xfrm>
          <a:prstGeom prst="rect">
            <a:avLst/>
          </a:prstGeom>
          <a:noFill/>
          <a:ln w="19050" cmpd="sng" cap="flat">
            <a:noFill/>
            <a:prstDash val="solid"/>
            <a:round/>
          </a:ln>
        </p:spPr>
        <p:txBody>
          <a:bodyPr anchor="ctr" rtlCol="false" anchorCtr="false" vert="horz" wrap="square" lIns="51395" rIns="51395" tIns="51395" bIns="51395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-171401" y="2800857"/>
            <a:ext cx="2302612" cy="6013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914400">
              <a:lnSpc>
                <a:spcPts val="4690"/>
              </a:lnSpc>
              <a:defRPr/>
            </a:pPr>
            <a:r>
              <a:rPr lang="en-US" b="true" i="false" strike="noStrike" u="none" sz="2400" spc="732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基础概念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-304799" y="4955447"/>
            <a:ext cx="2633981" cy="393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914400">
              <a:lnSpc>
                <a:spcPts val="3070"/>
              </a:lnSpc>
              <a:defRPr/>
            </a:pPr>
            <a:r>
              <a:rPr lang="en-US" b="true" i="false" strike="noStrike" u="none" sz="2400" spc="48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数据样例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-381000" y="6972167"/>
            <a:ext cx="2761614" cy="393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914400">
              <a:lnSpc>
                <a:spcPts val="3070"/>
              </a:lnSpc>
              <a:defRPr/>
            </a:pPr>
            <a:r>
              <a:rPr lang="en-US" b="true" i="false" strike="noStrike" u="none" sz="2400" spc="48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分子表示</a:t>
            </a:r>
            <a:endParaRPr lang="en-US" sz="1100"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0" y="9105726"/>
            <a:ext cx="2683510" cy="393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914400">
              <a:lnSpc>
                <a:spcPts val="3070"/>
              </a:lnSpc>
              <a:defRPr/>
            </a:pPr>
            <a:r>
              <a:rPr lang="en-US" b="true" i="false" strike="noStrike" u="none" sz="3600" spc="48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计算方法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3352800" y="4610100"/>
            <a:ext cx="13618845" cy="504444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451485" y="243840"/>
            <a:ext cx="10311765" cy="8413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102870" rIns="102870" tIns="51435" bIns="51435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48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实验设置与训练结果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0" flipH="false" flipV="true">
            <a:off x="3110230" y="1009650"/>
            <a:ext cx="14720570" cy="19050"/>
          </a:xfrm>
          <a:prstGeom prst="line">
            <a:avLst/>
          </a:prstGeom>
          <a:noFill/>
          <a:ln w="38100" cap="rnd">
            <a:solidFill>
              <a:srgbClr val="013E80">
                <a:alpha val="100000"/>
              </a:srgbClr>
            </a:solidFill>
            <a:prstDash val="solid"/>
            <a:headEnd type="none" w="sm" len="sm"/>
            <a:tailEnd type="none" w="sm" len="sm"/>
          </a:ln>
        </p:spPr>
      </p:cxn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2182495" y="190500"/>
            <a:ext cx="978535" cy="978535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6" id="6"/>
          <p:cNvSpPr txBox="true"/>
          <p:nvPr/>
        </p:nvSpPr>
        <p:spPr>
          <a:xfrm rot="0" flipH="false" flipV="false">
            <a:off x="3213735" y="266700"/>
            <a:ext cx="12207875" cy="73850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914400">
              <a:lnSpc>
                <a:spcPts val="5760"/>
              </a:lnSpc>
              <a:defRPr/>
            </a:pPr>
            <a:r>
              <a:rPr lang="en-US" b="true" i="false" strike="noStrike" u="none" sz="4800">
                <a:solidFill>
                  <a:srgbClr val="2F5597"/>
                </a:solidFill>
                <a:latin typeface="微软雅黑"/>
                <a:ea typeface="微软雅黑"/>
                <a:cs typeface="微软雅黑"/>
                <a:sym typeface="微软雅黑"/>
              </a:rPr>
              <a:t>计算输入与电子数约束</a:t>
            </a:r>
            <a:endParaRPr lang="en-US" sz="1100"/>
          </a:p>
        </p:txBody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2819400" y="1354455"/>
          <a:ext cx="14866620" cy="2841625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328545"/>
                <a:gridCol w="3205480"/>
                <a:gridCol w="9332595"/>
              </a:tblGrid>
              <a:tr h="520065"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270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输入</a:t>
                      </a:r>
                      <a:endParaRPr lang="en-US" sz="1100"/>
                    </a:p>
                  </a:txBody>
                  <a:tcPr anchor="ctr" marL="0" marR="0" marT="0" marB="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270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符号</a:t>
                      </a:r>
                      <a:endParaRPr lang="en-US" sz="1100"/>
                    </a:p>
                  </a:txBody>
                  <a:tcPr anchor="t" marL="137160" marR="137160" marT="41593" marB="41593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270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含义</a:t>
                      </a:r>
                      <a:endParaRPr lang="en-US" sz="1100"/>
                    </a:p>
                  </a:txBody>
                  <a:tcPr anchor="t" marL="137160" marR="137160" marT="41593" marB="41593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>
                        <a:alpha val="100000"/>
                      </a:srgbClr>
                    </a:solidFill>
                  </a:tcPr>
                </a:tc>
              </a:tr>
              <a:tr h="579755"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28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原子种类</a:t>
                      </a:r>
                      <a:endParaRPr lang="en-US" sz="1100"/>
                    </a:p>
                  </a:txBody>
                  <a:tcPr anchor="t" marL="137160" marR="137160" marT="63817" marB="63817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2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Z</a:t>
                      </a:r>
                      <a:r>
                        <a:rPr lang="en-US" b="false" i="false" strike="noStrike" u="none" sz="2800" baseline="-25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lang="en-US" sz="1100"/>
                    </a:p>
                  </a:txBody>
                  <a:tcPr anchor="t" marL="137160" marR="137160" marT="63817" marB="63817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28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第 A个原子的核电荷数，例如氧为 </a:t>
                      </a:r>
                      <a:r>
                        <a:rPr lang="en-US" b="false" i="false" strike="noStrike" u="none" sz="2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lang="en-US" sz="1100"/>
                    </a:p>
                  </a:txBody>
                  <a:tcPr anchor="t" marL="137160" marR="137160" marT="63817" marB="63817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>
                        <a:alpha val="100000"/>
                      </a:srgbClr>
                    </a:solidFill>
                  </a:tcPr>
                </a:tc>
              </a:tr>
              <a:tr h="304800"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28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原子坐标</a:t>
                      </a:r>
                      <a:endParaRPr lang="en-US" sz="1100"/>
                    </a:p>
                  </a:txBody>
                  <a:tcPr anchor="t" marL="137160" marR="137160" marT="0" marB="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2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r>
                        <a:rPr lang="en-US" b="false" i="false" strike="noStrike" u="none" sz="2800" baseline="-25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lang="en-US" sz="1100"/>
                    </a:p>
                  </a:txBody>
                  <a:tcPr anchor="t" marL="137160" marR="137160" marT="0" marB="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28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第 </a:t>
                      </a:r>
                      <a:r>
                        <a:rPr lang="en-US" b="false" i="false" strike="noStrike" u="none" sz="2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lang="en-US" b="false" i="false" strike="noStrike" u="none" sz="28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个原子核的三维位置</a:t>
                      </a:r>
                      <a:endParaRPr lang="en-US" sz="1100"/>
                    </a:p>
                  </a:txBody>
                  <a:tcPr anchor="t" marL="137160" marR="137160" marT="0" marB="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>
                        <a:alpha val="100000"/>
                      </a:srgbClr>
                    </a:solidFill>
                  </a:tcPr>
                </a:tc>
              </a:tr>
              <a:tr h="454660"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28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总电荷</a:t>
                      </a:r>
                      <a:endParaRPr lang="en-US" sz="1100"/>
                    </a:p>
                  </a:txBody>
                  <a:tcPr anchor="t" marL="137160" marR="137160" marT="1270" marB="127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2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endParaRPr lang="en-US" sz="1100"/>
                    </a:p>
                  </a:txBody>
                  <a:tcPr anchor="t" marL="137160" marR="137160" marT="1270" marB="127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28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中性分子为 </a:t>
                      </a:r>
                      <a:r>
                        <a:rPr lang="en-US" b="false" i="false" strike="noStrike" u="none" sz="2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r>
                        <a:rPr lang="en-US" b="false" i="false" strike="noStrike" u="none" sz="28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，阳离子为正，阴离子为负</a:t>
                      </a:r>
                      <a:endParaRPr lang="en-US" sz="1100"/>
                    </a:p>
                  </a:txBody>
                  <a:tcPr anchor="t" marL="137160" marR="137160" marT="1270" marB="127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>
                        <a:alpha val="100000"/>
                      </a:srgbClr>
                    </a:solidFill>
                  </a:tcPr>
                </a:tc>
              </a:tr>
              <a:tr h="418465"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28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自旋多重度</a:t>
                      </a:r>
                      <a:endParaRPr lang="en-US" sz="1100"/>
                    </a:p>
                  </a:txBody>
                  <a:tcPr anchor="t" marL="137160" marR="137160" marT="0" marB="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2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M=2S+1</a:t>
                      </a:r>
                      <a:endParaRPr lang="en-US" sz="1100"/>
                    </a:p>
                  </a:txBody>
                  <a:tcPr anchor="t" marL="137160" marR="137160" marT="0" marB="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28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指定自旋状态</a:t>
                      </a:r>
                      <a:endParaRPr lang="en-US" sz="1100"/>
                    </a:p>
                  </a:txBody>
                  <a:tcPr anchor="t" marL="137160" marR="137160" marT="0" marB="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>
                        <a:alpha val="100000"/>
                      </a:srgbClr>
                    </a:solidFill>
                  </a:tcPr>
                </a:tc>
              </a:tr>
              <a:tr h="563880"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28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计算方案</a:t>
                      </a:r>
                      <a:endParaRPr lang="en-US" sz="1100"/>
                    </a:p>
                  </a:txBody>
                  <a:tcPr anchor="t" marL="137160" marR="137160" marT="55880" marB="5588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28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泛函、基组等</a:t>
                      </a:r>
                      <a:endParaRPr lang="en-US" sz="1100"/>
                    </a:p>
                  </a:txBody>
                  <a:tcPr anchor="t" marL="137160" marR="137160" marT="55880" marB="5588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defTabSz="9144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28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指定所用近似及数值表示</a:t>
                      </a:r>
                      <a:endParaRPr lang="en-US" sz="1100"/>
                    </a:p>
                  </a:txBody>
                  <a:tcPr anchor="t" marL="137160" marR="137160" marT="55880" marB="5588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name="Freeform 8" id="8"/>
          <p:cNvSpPr/>
          <p:nvPr/>
        </p:nvSpPr>
        <p:spPr>
          <a:xfrm rot="0" flipH="false" flipV="false">
            <a:off x="-1235075" y="-19050"/>
            <a:ext cx="3366134" cy="10407650"/>
          </a:xfrm>
          <a:custGeom>
            <a:avLst/>
            <a:gdLst/>
            <a:ahLst/>
            <a:cxnLst/>
            <a:rect r="r" b="b" t="t" l="l"/>
            <a:pathLst>
              <a:path h="10407650" w="3366134">
                <a:moveTo>
                  <a:pt x="0" y="0"/>
                </a:moveTo>
                <a:lnTo>
                  <a:pt x="3366134" y="0"/>
                </a:lnTo>
                <a:lnTo>
                  <a:pt x="3366134" y="10407650"/>
                </a:lnTo>
                <a:lnTo>
                  <a:pt x="0" y="10407650"/>
                </a:lnTo>
                <a:close/>
              </a:path>
            </a:pathLst>
          </a:custGeom>
          <a:solidFill>
            <a:srgbClr val="6083BA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-1235075" y="-201997"/>
            <a:ext cx="3366134" cy="10590597"/>
          </a:xfrm>
          <a:prstGeom prst="rect">
            <a:avLst/>
          </a:prstGeom>
          <a:noFill/>
          <a:ln w="19050" cmpd="sng" cap="flat">
            <a:noFill/>
            <a:prstDash val="solid"/>
            <a:round/>
          </a:ln>
        </p:spPr>
        <p:txBody>
          <a:bodyPr anchor="ctr" rtlCol="false" anchorCtr="false" vert="horz" wrap="square" lIns="51395" rIns="51395" tIns="51395" bIns="51395"/>
          <a:lstStyle/>
          <a:p>
            <a:pPr algn="ctr">
              <a:defRPr/>
            </a:pPr>
            <a:endParaRPr/>
          </a:p>
        </p:txBody>
      </p:sp>
      <p:cxnSp>
        <p:nvCxnSpPr>
          <p:cNvPr name="Connector 10" id="10"/>
          <p:cNvCxnSpPr/>
          <p:nvPr/>
        </p:nvCxnSpPr>
        <p:spPr>
          <a:xfrm rot="0" flipH="false" flipV="true">
            <a:off x="-423546" y="4145838"/>
            <a:ext cx="2826385" cy="7620"/>
          </a:xfrm>
          <a:prstGeom prst="line">
            <a:avLst/>
          </a:prstGeom>
          <a:noFill/>
          <a:ln w="25400" cap="flat">
            <a:solidFill>
              <a:srgbClr val="FFFFFF">
                <a:alpha val="100000"/>
              </a:srgbClr>
            </a:solidFill>
            <a:prstDash val="solid"/>
            <a:headEnd type="none" w="sm" len="sm"/>
            <a:tailEnd type="none" w="sm" len="sm"/>
          </a:ln>
        </p:spPr>
      </p:cxnSp>
      <p:cxnSp>
        <p:nvCxnSpPr>
          <p:cNvPr name="Connector 11" id="11"/>
          <p:cNvCxnSpPr/>
          <p:nvPr/>
        </p:nvCxnSpPr>
        <p:spPr>
          <a:xfrm rot="0" flipH="false" flipV="false">
            <a:off x="-795647" y="6096892"/>
            <a:ext cx="3375630" cy="0"/>
          </a:xfrm>
          <a:prstGeom prst="line">
            <a:avLst/>
          </a:prstGeom>
          <a:noFill/>
          <a:ln w="25400" cap="flat">
            <a:solidFill>
              <a:srgbClr val="FFFFFF">
                <a:alpha val="100000"/>
              </a:srgbClr>
            </a:solidFill>
            <a:prstDash val="solid"/>
            <a:headEnd type="none" w="sm" len="sm"/>
            <a:tailEnd type="none" w="sm" len="sm"/>
          </a:ln>
        </p:spPr>
      </p:cxnSp>
      <p:cxnSp>
        <p:nvCxnSpPr>
          <p:cNvPr name="Connector 12" id="12"/>
          <p:cNvCxnSpPr/>
          <p:nvPr/>
        </p:nvCxnSpPr>
        <p:spPr>
          <a:xfrm rot="0" flipH="false" flipV="false">
            <a:off x="-385445" y="8166100"/>
            <a:ext cx="2993390" cy="635"/>
          </a:xfrm>
          <a:prstGeom prst="line">
            <a:avLst/>
          </a:prstGeom>
          <a:noFill/>
          <a:ln w="25400" cap="flat">
            <a:solidFill>
              <a:srgbClr val="FFFFFF">
                <a:alpha val="100000"/>
              </a:srgbClr>
            </a:solidFill>
            <a:prstDash val="solid"/>
            <a:headEnd type="none" w="sm" len="sm"/>
            <a:tailEnd type="none" w="sm" len="sm"/>
          </a:ln>
        </p:spPr>
      </p:cxnSp>
      <p:sp>
        <p:nvSpPr>
          <p:cNvPr name="Freeform 13" id="13"/>
          <p:cNvSpPr/>
          <p:nvPr/>
        </p:nvSpPr>
        <p:spPr>
          <a:xfrm rot="-5400000" flipH="false" flipV="false">
            <a:off x="409903" y="7519364"/>
            <a:ext cx="1124563" cy="3535677"/>
          </a:xfrm>
          <a:custGeom>
            <a:avLst/>
            <a:gdLst/>
            <a:ahLst/>
            <a:cxnLst/>
            <a:rect r="r" b="b" t="t" l="l"/>
            <a:pathLst>
              <a:path h="3535677" w="1124563">
                <a:moveTo>
                  <a:pt x="1124563" y="0"/>
                </a:moveTo>
                <a:lnTo>
                  <a:pt x="1124563" y="3131754"/>
                </a:lnTo>
                <a:lnTo>
                  <a:pt x="562282" y="3535677"/>
                </a:lnTo>
                <a:lnTo>
                  <a:pt x="0" y="3131754"/>
                </a:lnTo>
                <a:lnTo>
                  <a:pt x="0" y="0"/>
                </a:lnTo>
                <a:lnTo>
                  <a:pt x="1124563" y="0"/>
                </a:lnTo>
                <a:close/>
              </a:path>
            </a:pathLst>
          </a:custGeom>
          <a:solidFill>
            <a:srgbClr val="6083BA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 txBox="true"/>
          <p:nvPr/>
        </p:nvSpPr>
        <p:spPr>
          <a:xfrm rot="-5400000" flipH="false" flipV="false">
            <a:off x="77886" y="1450105"/>
            <a:ext cx="1124529" cy="3237371"/>
          </a:xfrm>
          <a:prstGeom prst="rect">
            <a:avLst/>
          </a:prstGeom>
          <a:noFill/>
          <a:ln w="19050" cmpd="sng" cap="flat">
            <a:noFill/>
            <a:prstDash val="solid"/>
            <a:round/>
          </a:ln>
        </p:spPr>
        <p:txBody>
          <a:bodyPr anchor="ctr" rtlCol="false" anchorCtr="false" vert="horz" wrap="square" lIns="51395" rIns="51395" tIns="51395" bIns="51395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-171401" y="2800857"/>
            <a:ext cx="2302612" cy="6013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914400">
              <a:lnSpc>
                <a:spcPts val="4690"/>
              </a:lnSpc>
              <a:defRPr/>
            </a:pPr>
            <a:r>
              <a:rPr lang="en-US" b="true" i="false" strike="noStrike" u="none" sz="2400" spc="732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基础概念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-304799" y="4955447"/>
            <a:ext cx="2633981" cy="393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914400">
              <a:lnSpc>
                <a:spcPts val="3070"/>
              </a:lnSpc>
              <a:defRPr/>
            </a:pPr>
            <a:r>
              <a:rPr lang="en-US" b="true" i="false" strike="noStrike" u="none" sz="2400" spc="48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数据样例</a:t>
            </a:r>
            <a:endParaRPr lang="en-US" sz="1100"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-381000" y="6972167"/>
            <a:ext cx="2761614" cy="393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914400">
              <a:lnSpc>
                <a:spcPts val="3070"/>
              </a:lnSpc>
              <a:defRPr/>
            </a:pPr>
            <a:r>
              <a:rPr lang="en-US" b="true" i="false" strike="noStrike" u="none" sz="2400" spc="48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分子表示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0" y="9105726"/>
            <a:ext cx="2683510" cy="393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914400">
              <a:lnSpc>
                <a:spcPts val="3070"/>
              </a:lnSpc>
              <a:defRPr/>
            </a:pPr>
            <a:r>
              <a:rPr lang="en-US" b="true" i="false" strike="noStrike" u="none" sz="3600" spc="48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计算方法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295400" y="1183005"/>
            <a:ext cx="16484600" cy="8681085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451485" y="243840"/>
            <a:ext cx="10311765" cy="8413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102870" rIns="102870" tIns="51435" bIns="51435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48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实验设置与训练结果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0" flipH="false" flipV="true">
            <a:off x="3110230" y="1009650"/>
            <a:ext cx="14720570" cy="19050"/>
          </a:xfrm>
          <a:prstGeom prst="line">
            <a:avLst/>
          </a:prstGeom>
          <a:noFill/>
          <a:ln w="38100" cap="rnd">
            <a:solidFill>
              <a:srgbClr val="013E80">
                <a:alpha val="100000"/>
              </a:srgbClr>
            </a:solidFill>
            <a:prstDash val="solid"/>
            <a:headEnd type="none" w="sm" len="sm"/>
            <a:tailEnd type="none" w="sm" len="sm"/>
          </a:ln>
        </p:spPr>
      </p:cxn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2182495" y="190500"/>
            <a:ext cx="978535" cy="978535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6" id="6"/>
          <p:cNvSpPr txBox="true"/>
          <p:nvPr/>
        </p:nvSpPr>
        <p:spPr>
          <a:xfrm rot="0" flipH="false" flipV="false">
            <a:off x="3213735" y="266700"/>
            <a:ext cx="12207875" cy="73850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914400">
              <a:lnSpc>
                <a:spcPts val="5760"/>
              </a:lnSpc>
              <a:defRPr/>
            </a:pPr>
            <a:r>
              <a:rPr lang="en-US" b="true" i="false" strike="noStrike" u="none" sz="4800">
                <a:solidFill>
                  <a:srgbClr val="2F5597"/>
                </a:solidFill>
                <a:latin typeface="微软雅黑"/>
                <a:ea typeface="微软雅黑"/>
                <a:cs typeface="微软雅黑"/>
                <a:sym typeface="微软雅黑"/>
              </a:rPr>
              <a:t>求解轨道并更新电子密度</a:t>
            </a:r>
            <a:endParaRPr lang="en-US" sz="1100"/>
          </a:p>
        </p:txBody>
      </p:sp>
      <p:sp>
        <p:nvSpPr>
          <p:cNvPr name="Freeform 7" id="7"/>
          <p:cNvSpPr/>
          <p:nvPr/>
        </p:nvSpPr>
        <p:spPr>
          <a:xfrm rot="0" flipH="false" flipV="false">
            <a:off x="-1235075" y="-19050"/>
            <a:ext cx="3366134" cy="10407650"/>
          </a:xfrm>
          <a:custGeom>
            <a:avLst/>
            <a:gdLst/>
            <a:ahLst/>
            <a:cxnLst/>
            <a:rect r="r" b="b" t="t" l="l"/>
            <a:pathLst>
              <a:path h="10407650" w="3366134">
                <a:moveTo>
                  <a:pt x="0" y="0"/>
                </a:moveTo>
                <a:lnTo>
                  <a:pt x="3366134" y="0"/>
                </a:lnTo>
                <a:lnTo>
                  <a:pt x="3366134" y="10407650"/>
                </a:lnTo>
                <a:lnTo>
                  <a:pt x="0" y="10407650"/>
                </a:lnTo>
                <a:close/>
              </a:path>
            </a:pathLst>
          </a:custGeom>
          <a:solidFill>
            <a:srgbClr val="6083BA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-1235075" y="-201997"/>
            <a:ext cx="3366134" cy="10590597"/>
          </a:xfrm>
          <a:prstGeom prst="rect">
            <a:avLst/>
          </a:prstGeom>
          <a:noFill/>
          <a:ln w="19050" cmpd="sng" cap="flat">
            <a:noFill/>
            <a:prstDash val="solid"/>
            <a:round/>
          </a:ln>
        </p:spPr>
        <p:txBody>
          <a:bodyPr anchor="ctr" rtlCol="false" anchorCtr="false" vert="horz" wrap="square" lIns="51395" rIns="51395" tIns="51395" bIns="51395"/>
          <a:lstStyle/>
          <a:p>
            <a:pPr algn="ctr">
              <a:defRPr/>
            </a:pPr>
            <a:endParaRPr/>
          </a:p>
        </p:txBody>
      </p:sp>
      <p:cxnSp>
        <p:nvCxnSpPr>
          <p:cNvPr name="Connector 9" id="9"/>
          <p:cNvCxnSpPr/>
          <p:nvPr/>
        </p:nvCxnSpPr>
        <p:spPr>
          <a:xfrm rot="0" flipH="false" flipV="true">
            <a:off x="-423546" y="4145838"/>
            <a:ext cx="2826385" cy="7620"/>
          </a:xfrm>
          <a:prstGeom prst="line">
            <a:avLst/>
          </a:prstGeom>
          <a:noFill/>
          <a:ln w="25400" cap="flat">
            <a:solidFill>
              <a:srgbClr val="FFFFFF">
                <a:alpha val="100000"/>
              </a:srgbClr>
            </a:solidFill>
            <a:prstDash val="solid"/>
            <a:headEnd type="none" w="sm" len="sm"/>
            <a:tailEnd type="none" w="sm" len="sm"/>
          </a:ln>
        </p:spPr>
      </p:cxnSp>
      <p:cxnSp>
        <p:nvCxnSpPr>
          <p:cNvPr name="Connector 10" id="10"/>
          <p:cNvCxnSpPr/>
          <p:nvPr/>
        </p:nvCxnSpPr>
        <p:spPr>
          <a:xfrm rot="0" flipH="false" flipV="false">
            <a:off x="-795647" y="6096892"/>
            <a:ext cx="3375630" cy="0"/>
          </a:xfrm>
          <a:prstGeom prst="line">
            <a:avLst/>
          </a:prstGeom>
          <a:noFill/>
          <a:ln w="25400" cap="flat">
            <a:solidFill>
              <a:srgbClr val="FFFFFF">
                <a:alpha val="100000"/>
              </a:srgbClr>
            </a:solidFill>
            <a:prstDash val="solid"/>
            <a:headEnd type="none" w="sm" len="sm"/>
            <a:tailEnd type="none" w="sm" len="sm"/>
          </a:ln>
        </p:spPr>
      </p:cxnSp>
      <p:cxnSp>
        <p:nvCxnSpPr>
          <p:cNvPr name="Connector 11" id="11"/>
          <p:cNvCxnSpPr/>
          <p:nvPr/>
        </p:nvCxnSpPr>
        <p:spPr>
          <a:xfrm rot="0" flipH="false" flipV="false">
            <a:off x="-385445" y="8166100"/>
            <a:ext cx="2993390" cy="635"/>
          </a:xfrm>
          <a:prstGeom prst="line">
            <a:avLst/>
          </a:prstGeom>
          <a:noFill/>
          <a:ln w="25400" cap="flat">
            <a:solidFill>
              <a:srgbClr val="FFFFFF">
                <a:alpha val="100000"/>
              </a:srgbClr>
            </a:solidFill>
            <a:prstDash val="solid"/>
            <a:headEnd type="none" w="sm" len="sm"/>
            <a:tailEnd type="none" w="sm" len="sm"/>
          </a:ln>
        </p:spPr>
      </p:cxnSp>
      <p:sp>
        <p:nvSpPr>
          <p:cNvPr name="Freeform 12" id="12"/>
          <p:cNvSpPr/>
          <p:nvPr/>
        </p:nvSpPr>
        <p:spPr>
          <a:xfrm rot="-5400000" flipH="false" flipV="false">
            <a:off x="409903" y="7519364"/>
            <a:ext cx="1124563" cy="3535677"/>
          </a:xfrm>
          <a:custGeom>
            <a:avLst/>
            <a:gdLst/>
            <a:ahLst/>
            <a:cxnLst/>
            <a:rect r="r" b="b" t="t" l="l"/>
            <a:pathLst>
              <a:path h="3535677" w="1124563">
                <a:moveTo>
                  <a:pt x="1124563" y="0"/>
                </a:moveTo>
                <a:lnTo>
                  <a:pt x="1124563" y="3131754"/>
                </a:lnTo>
                <a:lnTo>
                  <a:pt x="562282" y="3535677"/>
                </a:lnTo>
                <a:lnTo>
                  <a:pt x="0" y="3131754"/>
                </a:lnTo>
                <a:lnTo>
                  <a:pt x="0" y="0"/>
                </a:lnTo>
                <a:lnTo>
                  <a:pt x="1124563" y="0"/>
                </a:lnTo>
                <a:close/>
              </a:path>
            </a:pathLst>
          </a:custGeom>
          <a:solidFill>
            <a:srgbClr val="6083BA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 txBox="true"/>
          <p:nvPr/>
        </p:nvSpPr>
        <p:spPr>
          <a:xfrm rot="-5400000" flipH="false" flipV="false">
            <a:off x="77886" y="1450105"/>
            <a:ext cx="1124529" cy="3237371"/>
          </a:xfrm>
          <a:prstGeom prst="rect">
            <a:avLst/>
          </a:prstGeom>
          <a:noFill/>
          <a:ln w="19050" cmpd="sng" cap="flat">
            <a:noFill/>
            <a:prstDash val="solid"/>
            <a:round/>
          </a:ln>
        </p:spPr>
        <p:txBody>
          <a:bodyPr anchor="ctr" rtlCol="false" anchorCtr="false" vert="horz" wrap="square" lIns="51395" rIns="51395" tIns="51395" bIns="51395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-171401" y="2800857"/>
            <a:ext cx="2302612" cy="6013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914400">
              <a:lnSpc>
                <a:spcPts val="4690"/>
              </a:lnSpc>
              <a:defRPr/>
            </a:pPr>
            <a:r>
              <a:rPr lang="en-US" b="true" i="false" strike="noStrike" u="none" sz="2400" spc="732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基础概念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-304799" y="4955447"/>
            <a:ext cx="2633981" cy="393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914400">
              <a:lnSpc>
                <a:spcPts val="3070"/>
              </a:lnSpc>
              <a:defRPr/>
            </a:pPr>
            <a:r>
              <a:rPr lang="en-US" b="true" i="false" strike="noStrike" u="none" sz="2400" spc="48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数据样例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-381000" y="6972167"/>
            <a:ext cx="2761614" cy="393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914400">
              <a:lnSpc>
                <a:spcPts val="3070"/>
              </a:lnSpc>
              <a:defRPr/>
            </a:pPr>
            <a:r>
              <a:rPr lang="en-US" b="true" i="false" strike="noStrike" u="none" sz="2400" spc="48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分子表示</a:t>
            </a:r>
            <a:endParaRPr lang="en-US" sz="1100"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0" y="9105726"/>
            <a:ext cx="2683510" cy="393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914400">
              <a:lnSpc>
                <a:spcPts val="3070"/>
              </a:lnSpc>
              <a:defRPr/>
            </a:pPr>
            <a:r>
              <a:rPr lang="en-US" b="true" i="false" strike="noStrike" u="none" sz="3600" spc="48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计算方法</a:t>
            </a:r>
            <a:endParaRPr lang="en-US" sz="1100"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2"/>
          <a:srcRect l="463" r="93055" t="91319" b="0"/>
          <a:stretch>
            <a:fillRect/>
          </a:stretch>
        </p:blipFill>
        <p:spPr>
          <a:xfrm rot="0" flipH="false" flipV="false">
            <a:off x="5105400" y="8872855"/>
            <a:ext cx="1177925" cy="106172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2057400" y="1333500"/>
            <a:ext cx="15669895" cy="825246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451485" y="243840"/>
            <a:ext cx="10311765" cy="8413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102870" rIns="102870" tIns="51435" bIns="51435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48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实验设置与训练结果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0" flipH="false" flipV="true">
            <a:off x="3110230" y="1009650"/>
            <a:ext cx="14720570" cy="19050"/>
          </a:xfrm>
          <a:prstGeom prst="line">
            <a:avLst/>
          </a:prstGeom>
          <a:noFill/>
          <a:ln w="38100" cap="rnd">
            <a:solidFill>
              <a:srgbClr val="013E80">
                <a:alpha val="100000"/>
              </a:srgbClr>
            </a:solidFill>
            <a:prstDash val="solid"/>
            <a:headEnd type="none" w="sm" len="sm"/>
            <a:tailEnd type="none" w="sm" len="sm"/>
          </a:ln>
        </p:spPr>
      </p:cxn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2182495" y="190500"/>
            <a:ext cx="978535" cy="978535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6" id="6"/>
          <p:cNvSpPr txBox="true"/>
          <p:nvPr/>
        </p:nvSpPr>
        <p:spPr>
          <a:xfrm rot="0" flipH="false" flipV="false">
            <a:off x="3213735" y="266700"/>
            <a:ext cx="12207875" cy="73850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914400">
              <a:lnSpc>
                <a:spcPts val="5760"/>
              </a:lnSpc>
              <a:defRPr/>
            </a:pPr>
            <a:r>
              <a:rPr lang="en-US" b="true" i="false" strike="noStrike" u="none" sz="4800">
                <a:solidFill>
                  <a:srgbClr val="2F5597"/>
                </a:solidFill>
                <a:latin typeface="微软雅黑"/>
                <a:ea typeface="微软雅黑"/>
                <a:cs typeface="微软雅黑"/>
                <a:sym typeface="微软雅黑"/>
              </a:rPr>
              <a:t>自洽迭代与收敛判断</a:t>
            </a:r>
            <a:endParaRPr lang="en-US" sz="1100"/>
          </a:p>
        </p:txBody>
      </p:sp>
      <p:sp>
        <p:nvSpPr>
          <p:cNvPr name="Freeform 7" id="7"/>
          <p:cNvSpPr/>
          <p:nvPr/>
        </p:nvSpPr>
        <p:spPr>
          <a:xfrm rot="0" flipH="false" flipV="false">
            <a:off x="-1235075" y="-19050"/>
            <a:ext cx="3366134" cy="10407650"/>
          </a:xfrm>
          <a:custGeom>
            <a:avLst/>
            <a:gdLst/>
            <a:ahLst/>
            <a:cxnLst/>
            <a:rect r="r" b="b" t="t" l="l"/>
            <a:pathLst>
              <a:path h="10407650" w="3366134">
                <a:moveTo>
                  <a:pt x="0" y="0"/>
                </a:moveTo>
                <a:lnTo>
                  <a:pt x="3366134" y="0"/>
                </a:lnTo>
                <a:lnTo>
                  <a:pt x="3366134" y="10407650"/>
                </a:lnTo>
                <a:lnTo>
                  <a:pt x="0" y="10407650"/>
                </a:lnTo>
                <a:close/>
              </a:path>
            </a:pathLst>
          </a:custGeom>
          <a:solidFill>
            <a:srgbClr val="6083BA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-1235075" y="-201997"/>
            <a:ext cx="3366134" cy="10590597"/>
          </a:xfrm>
          <a:prstGeom prst="rect">
            <a:avLst/>
          </a:prstGeom>
          <a:noFill/>
          <a:ln w="19050" cmpd="sng" cap="flat">
            <a:noFill/>
            <a:prstDash val="solid"/>
            <a:round/>
          </a:ln>
        </p:spPr>
        <p:txBody>
          <a:bodyPr anchor="ctr" rtlCol="false" anchorCtr="false" vert="horz" wrap="square" lIns="51395" rIns="51395" tIns="51395" bIns="51395"/>
          <a:lstStyle/>
          <a:p>
            <a:pPr algn="ctr">
              <a:defRPr/>
            </a:pPr>
            <a:endParaRPr/>
          </a:p>
        </p:txBody>
      </p:sp>
      <p:cxnSp>
        <p:nvCxnSpPr>
          <p:cNvPr name="Connector 9" id="9"/>
          <p:cNvCxnSpPr/>
          <p:nvPr/>
        </p:nvCxnSpPr>
        <p:spPr>
          <a:xfrm rot="0" flipH="false" flipV="true">
            <a:off x="-423546" y="4145838"/>
            <a:ext cx="2826385" cy="7620"/>
          </a:xfrm>
          <a:prstGeom prst="line">
            <a:avLst/>
          </a:prstGeom>
          <a:noFill/>
          <a:ln w="25400" cap="flat">
            <a:solidFill>
              <a:srgbClr val="FFFFFF">
                <a:alpha val="100000"/>
              </a:srgbClr>
            </a:solidFill>
            <a:prstDash val="solid"/>
            <a:headEnd type="none" w="sm" len="sm"/>
            <a:tailEnd type="none" w="sm" len="sm"/>
          </a:ln>
        </p:spPr>
      </p:cxnSp>
      <p:cxnSp>
        <p:nvCxnSpPr>
          <p:cNvPr name="Connector 10" id="10"/>
          <p:cNvCxnSpPr/>
          <p:nvPr/>
        </p:nvCxnSpPr>
        <p:spPr>
          <a:xfrm rot="0" flipH="false" flipV="false">
            <a:off x="-795647" y="6096892"/>
            <a:ext cx="3375630" cy="0"/>
          </a:xfrm>
          <a:prstGeom prst="line">
            <a:avLst/>
          </a:prstGeom>
          <a:noFill/>
          <a:ln w="25400" cap="flat">
            <a:solidFill>
              <a:srgbClr val="FFFFFF">
                <a:alpha val="100000"/>
              </a:srgbClr>
            </a:solidFill>
            <a:prstDash val="solid"/>
            <a:headEnd type="none" w="sm" len="sm"/>
            <a:tailEnd type="none" w="sm" len="sm"/>
          </a:ln>
        </p:spPr>
      </p:cxnSp>
      <p:cxnSp>
        <p:nvCxnSpPr>
          <p:cNvPr name="Connector 11" id="11"/>
          <p:cNvCxnSpPr/>
          <p:nvPr/>
        </p:nvCxnSpPr>
        <p:spPr>
          <a:xfrm rot="0" flipH="false" flipV="false">
            <a:off x="-385445" y="8166100"/>
            <a:ext cx="2993390" cy="635"/>
          </a:xfrm>
          <a:prstGeom prst="line">
            <a:avLst/>
          </a:prstGeom>
          <a:noFill/>
          <a:ln w="25400" cap="flat">
            <a:solidFill>
              <a:srgbClr val="FFFFFF">
                <a:alpha val="100000"/>
              </a:srgbClr>
            </a:solidFill>
            <a:prstDash val="solid"/>
            <a:headEnd type="none" w="sm" len="sm"/>
            <a:tailEnd type="none" w="sm" len="sm"/>
          </a:ln>
        </p:spPr>
      </p:cxnSp>
      <p:sp>
        <p:nvSpPr>
          <p:cNvPr name="Freeform 12" id="12"/>
          <p:cNvSpPr/>
          <p:nvPr/>
        </p:nvSpPr>
        <p:spPr>
          <a:xfrm rot="-5400000" flipH="false" flipV="false">
            <a:off x="409903" y="7519364"/>
            <a:ext cx="1124563" cy="3535677"/>
          </a:xfrm>
          <a:custGeom>
            <a:avLst/>
            <a:gdLst/>
            <a:ahLst/>
            <a:cxnLst/>
            <a:rect r="r" b="b" t="t" l="l"/>
            <a:pathLst>
              <a:path h="3535677" w="1124563">
                <a:moveTo>
                  <a:pt x="1124563" y="0"/>
                </a:moveTo>
                <a:lnTo>
                  <a:pt x="1124563" y="3131754"/>
                </a:lnTo>
                <a:lnTo>
                  <a:pt x="562282" y="3535677"/>
                </a:lnTo>
                <a:lnTo>
                  <a:pt x="0" y="3131754"/>
                </a:lnTo>
                <a:lnTo>
                  <a:pt x="0" y="0"/>
                </a:lnTo>
                <a:lnTo>
                  <a:pt x="1124563" y="0"/>
                </a:lnTo>
                <a:close/>
              </a:path>
            </a:pathLst>
          </a:custGeom>
          <a:solidFill>
            <a:srgbClr val="6083BA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 txBox="true"/>
          <p:nvPr/>
        </p:nvSpPr>
        <p:spPr>
          <a:xfrm rot="-5400000" flipH="false" flipV="false">
            <a:off x="77886" y="1450105"/>
            <a:ext cx="1124529" cy="3237371"/>
          </a:xfrm>
          <a:prstGeom prst="rect">
            <a:avLst/>
          </a:prstGeom>
          <a:noFill/>
          <a:ln w="19050" cmpd="sng" cap="flat">
            <a:noFill/>
            <a:prstDash val="solid"/>
            <a:round/>
          </a:ln>
        </p:spPr>
        <p:txBody>
          <a:bodyPr anchor="ctr" rtlCol="false" anchorCtr="false" vert="horz" wrap="square" lIns="51395" rIns="51395" tIns="51395" bIns="51395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-171401" y="2800857"/>
            <a:ext cx="2302612" cy="6013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914400">
              <a:lnSpc>
                <a:spcPts val="4690"/>
              </a:lnSpc>
              <a:defRPr/>
            </a:pPr>
            <a:r>
              <a:rPr lang="en-US" b="true" i="false" strike="noStrike" u="none" sz="2400" spc="732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基础概念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-304799" y="4955447"/>
            <a:ext cx="2633981" cy="393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914400">
              <a:lnSpc>
                <a:spcPts val="3070"/>
              </a:lnSpc>
              <a:defRPr/>
            </a:pPr>
            <a:r>
              <a:rPr lang="en-US" b="true" i="false" strike="noStrike" u="none" sz="2400" spc="48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数据样例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-381000" y="6972167"/>
            <a:ext cx="2761614" cy="393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914400">
              <a:lnSpc>
                <a:spcPts val="3070"/>
              </a:lnSpc>
              <a:defRPr/>
            </a:pPr>
            <a:r>
              <a:rPr lang="en-US" b="true" i="false" strike="noStrike" u="none" sz="2400" spc="48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分子表示</a:t>
            </a:r>
            <a:endParaRPr lang="en-US" sz="1100"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0" y="9105726"/>
            <a:ext cx="2683510" cy="393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914400">
              <a:lnSpc>
                <a:spcPts val="3070"/>
              </a:lnSpc>
              <a:defRPr/>
            </a:pPr>
            <a:r>
              <a:rPr lang="en-US" b="true" i="false" strike="noStrike" u="none" sz="3600" spc="48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计算方法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2258695" y="1028700"/>
            <a:ext cx="15873095" cy="8354695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451485" y="243840"/>
            <a:ext cx="10311765" cy="8413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102870" rIns="102870" tIns="51435" bIns="51435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48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实验设置与训练结果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0" flipH="false" flipV="true">
            <a:off x="3110230" y="1009650"/>
            <a:ext cx="14720570" cy="19050"/>
          </a:xfrm>
          <a:prstGeom prst="line">
            <a:avLst/>
          </a:prstGeom>
          <a:noFill/>
          <a:ln w="38100" cap="rnd">
            <a:solidFill>
              <a:srgbClr val="013E80">
                <a:alpha val="100000"/>
              </a:srgbClr>
            </a:solidFill>
            <a:prstDash val="solid"/>
            <a:headEnd type="none" w="sm" len="sm"/>
            <a:tailEnd type="none" w="sm" len="sm"/>
          </a:ln>
        </p:spPr>
      </p:cxn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2182495" y="190500"/>
            <a:ext cx="978535" cy="978535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6" id="6"/>
          <p:cNvSpPr txBox="true"/>
          <p:nvPr/>
        </p:nvSpPr>
        <p:spPr>
          <a:xfrm rot="0" flipH="false" flipV="false">
            <a:off x="3213735" y="266700"/>
            <a:ext cx="12207875" cy="73850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914400">
              <a:lnSpc>
                <a:spcPts val="5760"/>
              </a:lnSpc>
              <a:defRPr/>
            </a:pPr>
            <a:r>
              <a:rPr lang="en-US" b="true" i="false" strike="noStrike" u="none" sz="4800">
                <a:solidFill>
                  <a:srgbClr val="2F5597"/>
                </a:solidFill>
                <a:latin typeface="微软雅黑"/>
                <a:ea typeface="微软雅黑"/>
                <a:cs typeface="微软雅黑"/>
                <a:sym typeface="微软雅黑"/>
              </a:rPr>
              <a:t>计算结果与电子密度文件</a:t>
            </a:r>
            <a:endParaRPr lang="en-US" sz="1100"/>
          </a:p>
        </p:txBody>
      </p:sp>
      <p:sp>
        <p:nvSpPr>
          <p:cNvPr name="Freeform 7" id="7"/>
          <p:cNvSpPr/>
          <p:nvPr/>
        </p:nvSpPr>
        <p:spPr>
          <a:xfrm rot="0" flipH="false" flipV="false">
            <a:off x="-1235075" y="-19050"/>
            <a:ext cx="3366134" cy="10407650"/>
          </a:xfrm>
          <a:custGeom>
            <a:avLst/>
            <a:gdLst/>
            <a:ahLst/>
            <a:cxnLst/>
            <a:rect r="r" b="b" t="t" l="l"/>
            <a:pathLst>
              <a:path h="10407650" w="3366134">
                <a:moveTo>
                  <a:pt x="0" y="0"/>
                </a:moveTo>
                <a:lnTo>
                  <a:pt x="3366134" y="0"/>
                </a:lnTo>
                <a:lnTo>
                  <a:pt x="3366134" y="10407650"/>
                </a:lnTo>
                <a:lnTo>
                  <a:pt x="0" y="10407650"/>
                </a:lnTo>
                <a:close/>
              </a:path>
            </a:pathLst>
          </a:custGeom>
          <a:solidFill>
            <a:srgbClr val="6083BA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-1235075" y="-201997"/>
            <a:ext cx="3366134" cy="10590597"/>
          </a:xfrm>
          <a:prstGeom prst="rect">
            <a:avLst/>
          </a:prstGeom>
          <a:noFill/>
          <a:ln w="19050" cmpd="sng" cap="flat">
            <a:noFill/>
            <a:prstDash val="solid"/>
            <a:round/>
          </a:ln>
        </p:spPr>
        <p:txBody>
          <a:bodyPr anchor="ctr" rtlCol="false" anchorCtr="false" vert="horz" wrap="square" lIns="51395" rIns="51395" tIns="51395" bIns="51395"/>
          <a:lstStyle/>
          <a:p>
            <a:pPr algn="ctr">
              <a:defRPr/>
            </a:pPr>
            <a:endParaRPr/>
          </a:p>
        </p:txBody>
      </p:sp>
      <p:cxnSp>
        <p:nvCxnSpPr>
          <p:cNvPr name="Connector 9" id="9"/>
          <p:cNvCxnSpPr/>
          <p:nvPr/>
        </p:nvCxnSpPr>
        <p:spPr>
          <a:xfrm rot="0" flipH="false" flipV="true">
            <a:off x="-423546" y="4145838"/>
            <a:ext cx="2826385" cy="7620"/>
          </a:xfrm>
          <a:prstGeom prst="line">
            <a:avLst/>
          </a:prstGeom>
          <a:noFill/>
          <a:ln w="25400" cap="flat">
            <a:solidFill>
              <a:srgbClr val="FFFFFF">
                <a:alpha val="100000"/>
              </a:srgbClr>
            </a:solidFill>
            <a:prstDash val="solid"/>
            <a:headEnd type="none" w="sm" len="sm"/>
            <a:tailEnd type="none" w="sm" len="sm"/>
          </a:ln>
        </p:spPr>
      </p:cxnSp>
      <p:cxnSp>
        <p:nvCxnSpPr>
          <p:cNvPr name="Connector 10" id="10"/>
          <p:cNvCxnSpPr/>
          <p:nvPr/>
        </p:nvCxnSpPr>
        <p:spPr>
          <a:xfrm rot="0" flipH="false" flipV="false">
            <a:off x="-795647" y="6096892"/>
            <a:ext cx="3375630" cy="0"/>
          </a:xfrm>
          <a:prstGeom prst="line">
            <a:avLst/>
          </a:prstGeom>
          <a:noFill/>
          <a:ln w="25400" cap="flat">
            <a:solidFill>
              <a:srgbClr val="FFFFFF">
                <a:alpha val="100000"/>
              </a:srgbClr>
            </a:solidFill>
            <a:prstDash val="solid"/>
            <a:headEnd type="none" w="sm" len="sm"/>
            <a:tailEnd type="none" w="sm" len="sm"/>
          </a:ln>
        </p:spPr>
      </p:cxnSp>
      <p:cxnSp>
        <p:nvCxnSpPr>
          <p:cNvPr name="Connector 11" id="11"/>
          <p:cNvCxnSpPr/>
          <p:nvPr/>
        </p:nvCxnSpPr>
        <p:spPr>
          <a:xfrm rot="0" flipH="false" flipV="false">
            <a:off x="-385445" y="8166100"/>
            <a:ext cx="2993390" cy="635"/>
          </a:xfrm>
          <a:prstGeom prst="line">
            <a:avLst/>
          </a:prstGeom>
          <a:noFill/>
          <a:ln w="25400" cap="flat">
            <a:solidFill>
              <a:srgbClr val="FFFFFF">
                <a:alpha val="100000"/>
              </a:srgbClr>
            </a:solidFill>
            <a:prstDash val="solid"/>
            <a:headEnd type="none" w="sm" len="sm"/>
            <a:tailEnd type="none" w="sm" len="sm"/>
          </a:ln>
        </p:spPr>
      </p:cxnSp>
      <p:sp>
        <p:nvSpPr>
          <p:cNvPr name="Freeform 12" id="12"/>
          <p:cNvSpPr/>
          <p:nvPr/>
        </p:nvSpPr>
        <p:spPr>
          <a:xfrm rot="-5400000" flipH="false" flipV="false">
            <a:off x="409903" y="7519364"/>
            <a:ext cx="1124563" cy="3535677"/>
          </a:xfrm>
          <a:custGeom>
            <a:avLst/>
            <a:gdLst/>
            <a:ahLst/>
            <a:cxnLst/>
            <a:rect r="r" b="b" t="t" l="l"/>
            <a:pathLst>
              <a:path h="3535677" w="1124563">
                <a:moveTo>
                  <a:pt x="1124563" y="0"/>
                </a:moveTo>
                <a:lnTo>
                  <a:pt x="1124563" y="3131754"/>
                </a:lnTo>
                <a:lnTo>
                  <a:pt x="562282" y="3535677"/>
                </a:lnTo>
                <a:lnTo>
                  <a:pt x="0" y="3131754"/>
                </a:lnTo>
                <a:lnTo>
                  <a:pt x="0" y="0"/>
                </a:lnTo>
                <a:lnTo>
                  <a:pt x="1124563" y="0"/>
                </a:lnTo>
                <a:close/>
              </a:path>
            </a:pathLst>
          </a:custGeom>
          <a:solidFill>
            <a:srgbClr val="6083BA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 txBox="true"/>
          <p:nvPr/>
        </p:nvSpPr>
        <p:spPr>
          <a:xfrm rot="-5400000" flipH="false" flipV="false">
            <a:off x="77886" y="1450105"/>
            <a:ext cx="1124529" cy="3237371"/>
          </a:xfrm>
          <a:prstGeom prst="rect">
            <a:avLst/>
          </a:prstGeom>
          <a:noFill/>
          <a:ln w="19050" cmpd="sng" cap="flat">
            <a:noFill/>
            <a:prstDash val="solid"/>
            <a:round/>
          </a:ln>
        </p:spPr>
        <p:txBody>
          <a:bodyPr anchor="ctr" rtlCol="false" anchorCtr="false" vert="horz" wrap="square" lIns="51395" rIns="51395" tIns="51395" bIns="51395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-171401" y="2800857"/>
            <a:ext cx="2302612" cy="6013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914400">
              <a:lnSpc>
                <a:spcPts val="4690"/>
              </a:lnSpc>
              <a:defRPr/>
            </a:pPr>
            <a:r>
              <a:rPr lang="en-US" b="true" i="false" strike="noStrike" u="none" sz="2400" spc="732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基础概念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-304799" y="4955447"/>
            <a:ext cx="2633981" cy="393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914400">
              <a:lnSpc>
                <a:spcPts val="3070"/>
              </a:lnSpc>
              <a:defRPr/>
            </a:pPr>
            <a:r>
              <a:rPr lang="en-US" b="true" i="false" strike="noStrike" u="none" sz="2400" spc="48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数据样例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-381000" y="6972167"/>
            <a:ext cx="2761614" cy="393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914400">
              <a:lnSpc>
                <a:spcPts val="3070"/>
              </a:lnSpc>
              <a:defRPr/>
            </a:pPr>
            <a:r>
              <a:rPr lang="en-US" b="true" i="false" strike="noStrike" u="none" sz="2400" spc="48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分子表示</a:t>
            </a:r>
            <a:endParaRPr lang="en-US" sz="1100"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0" y="9105726"/>
            <a:ext cx="2683510" cy="393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914400">
              <a:lnSpc>
                <a:spcPts val="3070"/>
              </a:lnSpc>
              <a:defRPr/>
            </a:pPr>
            <a:r>
              <a:rPr lang="en-US" b="true" i="false" strike="noStrike" u="none" sz="3600" spc="48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计算方法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12096" b="2426"/>
          <a:stretch>
            <a:fillRect/>
          </a:stretch>
        </p:blipFill>
        <p:spPr>
          <a:xfrm rot="0" flipH="false" flipV="false">
            <a:off x="2580005" y="1033145"/>
            <a:ext cx="15829915" cy="846328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451485" y="243840"/>
            <a:ext cx="10311765" cy="8413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102870" rIns="102870" tIns="51435" bIns="51435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48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实验设置与训练结果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0" flipH="false" flipV="true">
            <a:off x="3110230" y="1009650"/>
            <a:ext cx="14720570" cy="19050"/>
          </a:xfrm>
          <a:prstGeom prst="line">
            <a:avLst/>
          </a:prstGeom>
          <a:noFill/>
          <a:ln w="38100" cap="rnd">
            <a:solidFill>
              <a:srgbClr val="013E80">
                <a:alpha val="100000"/>
              </a:srgbClr>
            </a:solidFill>
            <a:prstDash val="solid"/>
            <a:headEnd type="none" w="sm" len="sm"/>
            <a:tailEnd type="none" w="sm" len="sm"/>
          </a:ln>
        </p:spPr>
      </p:cxn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2182495" y="190500"/>
            <a:ext cx="978535" cy="978535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6" id="6"/>
          <p:cNvSpPr txBox="true"/>
          <p:nvPr/>
        </p:nvSpPr>
        <p:spPr>
          <a:xfrm rot="0" flipH="false" flipV="false">
            <a:off x="3213735" y="266700"/>
            <a:ext cx="12207875" cy="73850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914400">
              <a:lnSpc>
                <a:spcPts val="5760"/>
              </a:lnSpc>
              <a:defRPr/>
            </a:pPr>
            <a:r>
              <a:rPr lang="en-US" b="true" i="false" strike="noStrike" u="none" sz="4800">
                <a:solidFill>
                  <a:srgbClr val="2F5597"/>
                </a:solidFill>
                <a:latin typeface="微软雅黑"/>
                <a:ea typeface="微软雅黑"/>
                <a:cs typeface="微软雅黑"/>
                <a:sym typeface="微软雅黑"/>
              </a:rPr>
              <a:t>为什么引入 xTB？</a:t>
            </a:r>
            <a:endParaRPr lang="en-US" sz="1100"/>
          </a:p>
        </p:txBody>
      </p:sp>
      <p:sp>
        <p:nvSpPr>
          <p:cNvPr name="Freeform 7" id="7"/>
          <p:cNvSpPr/>
          <p:nvPr/>
        </p:nvSpPr>
        <p:spPr>
          <a:xfrm rot="0" flipH="false" flipV="false">
            <a:off x="-1235075" y="-19050"/>
            <a:ext cx="3366134" cy="10407650"/>
          </a:xfrm>
          <a:custGeom>
            <a:avLst/>
            <a:gdLst/>
            <a:ahLst/>
            <a:cxnLst/>
            <a:rect r="r" b="b" t="t" l="l"/>
            <a:pathLst>
              <a:path h="10407650" w="3366134">
                <a:moveTo>
                  <a:pt x="0" y="0"/>
                </a:moveTo>
                <a:lnTo>
                  <a:pt x="3366134" y="0"/>
                </a:lnTo>
                <a:lnTo>
                  <a:pt x="3366134" y="10407650"/>
                </a:lnTo>
                <a:lnTo>
                  <a:pt x="0" y="10407650"/>
                </a:lnTo>
                <a:close/>
              </a:path>
            </a:pathLst>
          </a:custGeom>
          <a:solidFill>
            <a:srgbClr val="6083BA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-1235075" y="-201997"/>
            <a:ext cx="3366134" cy="10590597"/>
          </a:xfrm>
          <a:prstGeom prst="rect">
            <a:avLst/>
          </a:prstGeom>
          <a:noFill/>
          <a:ln w="19050" cmpd="sng" cap="flat">
            <a:noFill/>
            <a:prstDash val="solid"/>
            <a:round/>
          </a:ln>
        </p:spPr>
        <p:txBody>
          <a:bodyPr anchor="ctr" rtlCol="false" anchorCtr="false" vert="horz" wrap="square" lIns="51395" rIns="51395" tIns="51395" bIns="51395"/>
          <a:lstStyle/>
          <a:p>
            <a:pPr algn="ctr">
              <a:defRPr/>
            </a:pPr>
            <a:endParaRPr/>
          </a:p>
        </p:txBody>
      </p:sp>
      <p:cxnSp>
        <p:nvCxnSpPr>
          <p:cNvPr name="Connector 9" id="9"/>
          <p:cNvCxnSpPr/>
          <p:nvPr/>
        </p:nvCxnSpPr>
        <p:spPr>
          <a:xfrm rot="0" flipH="false" flipV="true">
            <a:off x="-423546" y="4145838"/>
            <a:ext cx="2826385" cy="7620"/>
          </a:xfrm>
          <a:prstGeom prst="line">
            <a:avLst/>
          </a:prstGeom>
          <a:noFill/>
          <a:ln w="25400" cap="flat">
            <a:solidFill>
              <a:srgbClr val="FFFFFF">
                <a:alpha val="100000"/>
              </a:srgbClr>
            </a:solidFill>
            <a:prstDash val="solid"/>
            <a:headEnd type="none" w="sm" len="sm"/>
            <a:tailEnd type="none" w="sm" len="sm"/>
          </a:ln>
        </p:spPr>
      </p:cxnSp>
      <p:cxnSp>
        <p:nvCxnSpPr>
          <p:cNvPr name="Connector 10" id="10"/>
          <p:cNvCxnSpPr/>
          <p:nvPr/>
        </p:nvCxnSpPr>
        <p:spPr>
          <a:xfrm rot="0" flipH="false" flipV="false">
            <a:off x="-795647" y="6096892"/>
            <a:ext cx="3375630" cy="0"/>
          </a:xfrm>
          <a:prstGeom prst="line">
            <a:avLst/>
          </a:prstGeom>
          <a:noFill/>
          <a:ln w="25400" cap="flat">
            <a:solidFill>
              <a:srgbClr val="FFFFFF">
                <a:alpha val="100000"/>
              </a:srgbClr>
            </a:solidFill>
            <a:prstDash val="solid"/>
            <a:headEnd type="none" w="sm" len="sm"/>
            <a:tailEnd type="none" w="sm" len="sm"/>
          </a:ln>
        </p:spPr>
      </p:cxnSp>
      <p:cxnSp>
        <p:nvCxnSpPr>
          <p:cNvPr name="Connector 11" id="11"/>
          <p:cNvCxnSpPr/>
          <p:nvPr/>
        </p:nvCxnSpPr>
        <p:spPr>
          <a:xfrm rot="0" flipH="false" flipV="false">
            <a:off x="-385445" y="8166100"/>
            <a:ext cx="2993390" cy="635"/>
          </a:xfrm>
          <a:prstGeom prst="line">
            <a:avLst/>
          </a:prstGeom>
          <a:noFill/>
          <a:ln w="25400" cap="flat">
            <a:solidFill>
              <a:srgbClr val="FFFFFF">
                <a:alpha val="100000"/>
              </a:srgbClr>
            </a:solidFill>
            <a:prstDash val="solid"/>
            <a:headEnd type="none" w="sm" len="sm"/>
            <a:tailEnd type="none" w="sm" len="sm"/>
          </a:ln>
        </p:spPr>
      </p:cxnSp>
      <p:sp>
        <p:nvSpPr>
          <p:cNvPr name="Freeform 12" id="12"/>
          <p:cNvSpPr/>
          <p:nvPr/>
        </p:nvSpPr>
        <p:spPr>
          <a:xfrm rot="-5400000" flipH="false" flipV="false">
            <a:off x="409903" y="7519364"/>
            <a:ext cx="1124563" cy="3535677"/>
          </a:xfrm>
          <a:custGeom>
            <a:avLst/>
            <a:gdLst/>
            <a:ahLst/>
            <a:cxnLst/>
            <a:rect r="r" b="b" t="t" l="l"/>
            <a:pathLst>
              <a:path h="3535677" w="1124563">
                <a:moveTo>
                  <a:pt x="1124563" y="0"/>
                </a:moveTo>
                <a:lnTo>
                  <a:pt x="1124563" y="3131754"/>
                </a:lnTo>
                <a:lnTo>
                  <a:pt x="562282" y="3535677"/>
                </a:lnTo>
                <a:lnTo>
                  <a:pt x="0" y="3131754"/>
                </a:lnTo>
                <a:lnTo>
                  <a:pt x="0" y="0"/>
                </a:lnTo>
                <a:lnTo>
                  <a:pt x="1124563" y="0"/>
                </a:lnTo>
                <a:close/>
              </a:path>
            </a:pathLst>
          </a:custGeom>
          <a:solidFill>
            <a:srgbClr val="6083BA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 txBox="true"/>
          <p:nvPr/>
        </p:nvSpPr>
        <p:spPr>
          <a:xfrm rot="-5400000" flipH="false" flipV="false">
            <a:off x="77886" y="1450105"/>
            <a:ext cx="1124529" cy="3237371"/>
          </a:xfrm>
          <a:prstGeom prst="rect">
            <a:avLst/>
          </a:prstGeom>
          <a:noFill/>
          <a:ln w="19050" cmpd="sng" cap="flat">
            <a:noFill/>
            <a:prstDash val="solid"/>
            <a:round/>
          </a:ln>
        </p:spPr>
        <p:txBody>
          <a:bodyPr anchor="ctr" rtlCol="false" anchorCtr="false" vert="horz" wrap="square" lIns="51395" rIns="51395" tIns="51395" bIns="51395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-171401" y="2800857"/>
            <a:ext cx="2302612" cy="6013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914400">
              <a:lnSpc>
                <a:spcPts val="4690"/>
              </a:lnSpc>
              <a:defRPr/>
            </a:pPr>
            <a:r>
              <a:rPr lang="en-US" b="true" i="false" strike="noStrike" u="none" sz="2400" spc="732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基础概念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-304799" y="4955447"/>
            <a:ext cx="2633981" cy="393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914400">
              <a:lnSpc>
                <a:spcPts val="3070"/>
              </a:lnSpc>
              <a:defRPr/>
            </a:pPr>
            <a:r>
              <a:rPr lang="en-US" b="true" i="false" strike="noStrike" u="none" sz="2400" spc="48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数据样例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-381000" y="6972167"/>
            <a:ext cx="2761614" cy="393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914400">
              <a:lnSpc>
                <a:spcPts val="3070"/>
              </a:lnSpc>
              <a:defRPr/>
            </a:pPr>
            <a:r>
              <a:rPr lang="en-US" b="true" i="false" strike="noStrike" u="none" sz="2400" spc="48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分子表示</a:t>
            </a:r>
            <a:endParaRPr lang="en-US" sz="1100"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0" y="9105726"/>
            <a:ext cx="2683510" cy="393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914400">
              <a:lnSpc>
                <a:spcPts val="3070"/>
              </a:lnSpc>
              <a:defRPr/>
            </a:pPr>
            <a:r>
              <a:rPr lang="en-US" b="true" i="false" strike="noStrike" u="none" sz="3600" spc="48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计算方法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451485" y="243840"/>
            <a:ext cx="10311765" cy="8413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102870" rIns="102870" tIns="51435" bIns="51435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48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实验设置与训练结果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0" flipH="false" flipV="true">
            <a:off x="3110230" y="1009650"/>
            <a:ext cx="14720570" cy="19050"/>
          </a:xfrm>
          <a:prstGeom prst="line">
            <a:avLst/>
          </a:prstGeom>
          <a:noFill/>
          <a:ln w="38100" cap="rnd">
            <a:solidFill>
              <a:srgbClr val="013E80">
                <a:alpha val="100000"/>
              </a:srgbClr>
            </a:solidFill>
            <a:prstDash val="solid"/>
            <a:headEnd type="none" w="sm" len="sm"/>
            <a:tailEnd type="none" w="sm" len="sm"/>
          </a:ln>
        </p:spPr>
      </p:cxn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2182495" y="190500"/>
            <a:ext cx="978535" cy="978535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5" id="5"/>
          <p:cNvSpPr txBox="true"/>
          <p:nvPr/>
        </p:nvSpPr>
        <p:spPr>
          <a:xfrm rot="0" flipH="false" flipV="false">
            <a:off x="3213735" y="266700"/>
            <a:ext cx="12207875" cy="73850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914400">
              <a:lnSpc>
                <a:spcPts val="5760"/>
              </a:lnSpc>
              <a:defRPr/>
            </a:pPr>
            <a:r>
              <a:rPr lang="en-US" b="true" i="false" strike="noStrike" u="none" sz="4800">
                <a:solidFill>
                  <a:srgbClr val="2F5597"/>
                </a:solidFill>
                <a:latin typeface="微软雅黑"/>
                <a:ea typeface="微软雅黑"/>
                <a:cs typeface="微软雅黑"/>
                <a:sym typeface="微软雅黑"/>
              </a:rPr>
              <a:t>GFN2-xTB 单点电子结构计算流程</a:t>
            </a:r>
            <a:endParaRPr lang="en-US" sz="1100"/>
          </a:p>
        </p:txBody>
      </p:sp>
      <p:sp>
        <p:nvSpPr>
          <p:cNvPr name="Freeform 6" id="6"/>
          <p:cNvSpPr/>
          <p:nvPr/>
        </p:nvSpPr>
        <p:spPr>
          <a:xfrm rot="0" flipH="false" flipV="false">
            <a:off x="-1235075" y="-19050"/>
            <a:ext cx="3366134" cy="10407650"/>
          </a:xfrm>
          <a:custGeom>
            <a:avLst/>
            <a:gdLst/>
            <a:ahLst/>
            <a:cxnLst/>
            <a:rect r="r" b="b" t="t" l="l"/>
            <a:pathLst>
              <a:path h="10407650" w="3366134">
                <a:moveTo>
                  <a:pt x="0" y="0"/>
                </a:moveTo>
                <a:lnTo>
                  <a:pt x="3366134" y="0"/>
                </a:lnTo>
                <a:lnTo>
                  <a:pt x="3366134" y="10407650"/>
                </a:lnTo>
                <a:lnTo>
                  <a:pt x="0" y="10407650"/>
                </a:lnTo>
                <a:close/>
              </a:path>
            </a:pathLst>
          </a:custGeom>
          <a:solidFill>
            <a:srgbClr val="6083BA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-1235075" y="-201997"/>
            <a:ext cx="3366134" cy="10590597"/>
          </a:xfrm>
          <a:prstGeom prst="rect">
            <a:avLst/>
          </a:prstGeom>
          <a:noFill/>
          <a:ln w="19050" cmpd="sng" cap="flat">
            <a:noFill/>
            <a:prstDash val="solid"/>
            <a:round/>
          </a:ln>
        </p:spPr>
        <p:txBody>
          <a:bodyPr anchor="ctr" rtlCol="false" anchorCtr="false" vert="horz" wrap="square" lIns="51395" rIns="51395" tIns="51395" bIns="51395"/>
          <a:lstStyle/>
          <a:p>
            <a:pPr algn="ctr">
              <a:defRPr/>
            </a:pPr>
            <a:endParaRPr/>
          </a:p>
        </p:txBody>
      </p:sp>
      <p:cxnSp>
        <p:nvCxnSpPr>
          <p:cNvPr name="Connector 8" id="8"/>
          <p:cNvCxnSpPr/>
          <p:nvPr/>
        </p:nvCxnSpPr>
        <p:spPr>
          <a:xfrm rot="0" flipH="false" flipV="true">
            <a:off x="-423546" y="4145838"/>
            <a:ext cx="2826385" cy="7620"/>
          </a:xfrm>
          <a:prstGeom prst="line">
            <a:avLst/>
          </a:prstGeom>
          <a:noFill/>
          <a:ln w="25400" cap="flat">
            <a:solidFill>
              <a:srgbClr val="FFFFFF">
                <a:alpha val="100000"/>
              </a:srgbClr>
            </a:solidFill>
            <a:prstDash val="solid"/>
            <a:headEnd type="none" w="sm" len="sm"/>
            <a:tailEnd type="none" w="sm" len="sm"/>
          </a:ln>
        </p:spPr>
      </p:cxnSp>
      <p:cxnSp>
        <p:nvCxnSpPr>
          <p:cNvPr name="Connector 9" id="9"/>
          <p:cNvCxnSpPr/>
          <p:nvPr/>
        </p:nvCxnSpPr>
        <p:spPr>
          <a:xfrm rot="0" flipH="false" flipV="false">
            <a:off x="-795647" y="6096892"/>
            <a:ext cx="3375630" cy="0"/>
          </a:xfrm>
          <a:prstGeom prst="line">
            <a:avLst/>
          </a:prstGeom>
          <a:noFill/>
          <a:ln w="25400" cap="flat">
            <a:solidFill>
              <a:srgbClr val="FFFFFF">
                <a:alpha val="100000"/>
              </a:srgbClr>
            </a:solidFill>
            <a:prstDash val="solid"/>
            <a:headEnd type="none" w="sm" len="sm"/>
            <a:tailEnd type="none" w="sm" len="sm"/>
          </a:ln>
        </p:spPr>
      </p:cxnSp>
      <p:cxnSp>
        <p:nvCxnSpPr>
          <p:cNvPr name="Connector 10" id="10"/>
          <p:cNvCxnSpPr/>
          <p:nvPr/>
        </p:nvCxnSpPr>
        <p:spPr>
          <a:xfrm rot="0" flipH="false" flipV="false">
            <a:off x="-385445" y="8166100"/>
            <a:ext cx="2993390" cy="635"/>
          </a:xfrm>
          <a:prstGeom prst="line">
            <a:avLst/>
          </a:prstGeom>
          <a:noFill/>
          <a:ln w="25400" cap="flat">
            <a:solidFill>
              <a:srgbClr val="FFFFFF">
                <a:alpha val="100000"/>
              </a:srgbClr>
            </a:solidFill>
            <a:prstDash val="solid"/>
            <a:headEnd type="none" w="sm" len="sm"/>
            <a:tailEnd type="none" w="sm" len="sm"/>
          </a:ln>
        </p:spPr>
      </p:cxnSp>
      <p:sp>
        <p:nvSpPr>
          <p:cNvPr name="Freeform 11" id="11"/>
          <p:cNvSpPr/>
          <p:nvPr/>
        </p:nvSpPr>
        <p:spPr>
          <a:xfrm rot="-5400000" flipH="false" flipV="false">
            <a:off x="409903" y="7519364"/>
            <a:ext cx="1124563" cy="3535677"/>
          </a:xfrm>
          <a:custGeom>
            <a:avLst/>
            <a:gdLst/>
            <a:ahLst/>
            <a:cxnLst/>
            <a:rect r="r" b="b" t="t" l="l"/>
            <a:pathLst>
              <a:path h="3535677" w="1124563">
                <a:moveTo>
                  <a:pt x="1124563" y="0"/>
                </a:moveTo>
                <a:lnTo>
                  <a:pt x="1124563" y="3131754"/>
                </a:lnTo>
                <a:lnTo>
                  <a:pt x="562282" y="3535677"/>
                </a:lnTo>
                <a:lnTo>
                  <a:pt x="0" y="3131754"/>
                </a:lnTo>
                <a:lnTo>
                  <a:pt x="0" y="0"/>
                </a:lnTo>
                <a:lnTo>
                  <a:pt x="1124563" y="0"/>
                </a:lnTo>
                <a:close/>
              </a:path>
            </a:pathLst>
          </a:custGeom>
          <a:solidFill>
            <a:srgbClr val="6083BA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 txBox="true"/>
          <p:nvPr/>
        </p:nvSpPr>
        <p:spPr>
          <a:xfrm rot="-5400000" flipH="false" flipV="false">
            <a:off x="77886" y="1450105"/>
            <a:ext cx="1124529" cy="3237371"/>
          </a:xfrm>
          <a:prstGeom prst="rect">
            <a:avLst/>
          </a:prstGeom>
          <a:noFill/>
          <a:ln w="19050" cmpd="sng" cap="flat">
            <a:noFill/>
            <a:prstDash val="solid"/>
            <a:round/>
          </a:ln>
        </p:spPr>
        <p:txBody>
          <a:bodyPr anchor="ctr" rtlCol="false" anchorCtr="false" vert="horz" wrap="square" lIns="51395" rIns="51395" tIns="51395" bIns="51395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-171401" y="2800857"/>
            <a:ext cx="2302612" cy="6013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914400">
              <a:lnSpc>
                <a:spcPts val="4690"/>
              </a:lnSpc>
              <a:defRPr/>
            </a:pPr>
            <a:r>
              <a:rPr lang="en-US" b="true" i="false" strike="noStrike" u="none" sz="2400" spc="732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基础概念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-304799" y="4955447"/>
            <a:ext cx="2633981" cy="393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914400">
              <a:lnSpc>
                <a:spcPts val="3070"/>
              </a:lnSpc>
              <a:defRPr/>
            </a:pPr>
            <a:r>
              <a:rPr lang="en-US" b="true" i="false" strike="noStrike" u="none" sz="2400" spc="48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数据样例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-381000" y="6972167"/>
            <a:ext cx="2761614" cy="393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914400">
              <a:lnSpc>
                <a:spcPts val="3070"/>
              </a:lnSpc>
              <a:defRPr/>
            </a:pPr>
            <a:r>
              <a:rPr lang="en-US" b="true" i="false" strike="noStrike" u="none" sz="2400" spc="48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分子表示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0" y="9105726"/>
            <a:ext cx="2683510" cy="393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914400">
              <a:lnSpc>
                <a:spcPts val="3070"/>
              </a:lnSpc>
              <a:defRPr/>
            </a:pPr>
            <a:r>
              <a:rPr lang="en-US" b="true" i="false" strike="noStrike" u="none" sz="3600" spc="48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计算方法</a:t>
            </a:r>
            <a:endParaRPr lang="en-US" sz="1100"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3"/>
          <a:srcRect l="0" r="0" t="0" b="3737"/>
          <a:stretch>
            <a:fillRect/>
          </a:stretch>
        </p:blipFill>
        <p:spPr>
          <a:xfrm rot="0" flipH="false" flipV="false">
            <a:off x="3124200" y="1085215"/>
            <a:ext cx="14276070" cy="8595995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9052" b="0"/>
          <a:stretch>
            <a:fillRect/>
          </a:stretch>
        </p:blipFill>
        <p:spPr>
          <a:xfrm rot="0" flipH="false" flipV="false">
            <a:off x="2597150" y="1320800"/>
            <a:ext cx="15513050" cy="7940675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451485" y="243840"/>
            <a:ext cx="10311765" cy="8413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102870" rIns="102870" tIns="51435" bIns="51435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48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实验设置与训练结果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0" flipH="false" flipV="true">
            <a:off x="3110230" y="1009650"/>
            <a:ext cx="14720570" cy="19050"/>
          </a:xfrm>
          <a:prstGeom prst="line">
            <a:avLst/>
          </a:prstGeom>
          <a:noFill/>
          <a:ln w="38100" cap="rnd">
            <a:solidFill>
              <a:srgbClr val="013E80">
                <a:alpha val="100000"/>
              </a:srgbClr>
            </a:solidFill>
            <a:prstDash val="solid"/>
            <a:headEnd type="none" w="sm" len="sm"/>
            <a:tailEnd type="none" w="sm" len="sm"/>
          </a:ln>
        </p:spPr>
      </p:cxn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2182495" y="190500"/>
            <a:ext cx="978535" cy="978535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6" id="6"/>
          <p:cNvSpPr txBox="true"/>
          <p:nvPr/>
        </p:nvSpPr>
        <p:spPr>
          <a:xfrm rot="0" flipH="false" flipV="false">
            <a:off x="3213735" y="266700"/>
            <a:ext cx="12207875" cy="73850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914400">
              <a:lnSpc>
                <a:spcPts val="5760"/>
              </a:lnSpc>
              <a:defRPr/>
            </a:pPr>
            <a:r>
              <a:rPr lang="en-US" b="true" i="false" strike="noStrike" u="none" sz="4800">
                <a:solidFill>
                  <a:srgbClr val="2F5597"/>
                </a:solidFill>
                <a:latin typeface="微软雅黑"/>
                <a:ea typeface="微软雅黑"/>
                <a:cs typeface="微软雅黑"/>
                <a:sym typeface="微软雅黑"/>
              </a:rPr>
              <a:t>利用GFN2-xTB优化结构，再进行DFT计算</a:t>
            </a:r>
            <a:endParaRPr lang="en-US" sz="1100"/>
          </a:p>
        </p:txBody>
      </p:sp>
      <p:sp>
        <p:nvSpPr>
          <p:cNvPr name="Freeform 7" id="7"/>
          <p:cNvSpPr/>
          <p:nvPr/>
        </p:nvSpPr>
        <p:spPr>
          <a:xfrm rot="0" flipH="false" flipV="false">
            <a:off x="-1235075" y="-19050"/>
            <a:ext cx="3366134" cy="10407650"/>
          </a:xfrm>
          <a:custGeom>
            <a:avLst/>
            <a:gdLst/>
            <a:ahLst/>
            <a:cxnLst/>
            <a:rect r="r" b="b" t="t" l="l"/>
            <a:pathLst>
              <a:path h="10407650" w="3366134">
                <a:moveTo>
                  <a:pt x="0" y="0"/>
                </a:moveTo>
                <a:lnTo>
                  <a:pt x="3366134" y="0"/>
                </a:lnTo>
                <a:lnTo>
                  <a:pt x="3366134" y="10407650"/>
                </a:lnTo>
                <a:lnTo>
                  <a:pt x="0" y="10407650"/>
                </a:lnTo>
                <a:close/>
              </a:path>
            </a:pathLst>
          </a:custGeom>
          <a:solidFill>
            <a:srgbClr val="6083BA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-1235075" y="-201997"/>
            <a:ext cx="3366134" cy="10590597"/>
          </a:xfrm>
          <a:prstGeom prst="rect">
            <a:avLst/>
          </a:prstGeom>
          <a:noFill/>
          <a:ln w="19050" cmpd="sng" cap="flat">
            <a:noFill/>
            <a:prstDash val="solid"/>
            <a:round/>
          </a:ln>
        </p:spPr>
        <p:txBody>
          <a:bodyPr anchor="ctr" rtlCol="false" anchorCtr="false" vert="horz" wrap="square" lIns="51395" rIns="51395" tIns="51395" bIns="51395"/>
          <a:lstStyle/>
          <a:p>
            <a:pPr algn="ctr">
              <a:defRPr/>
            </a:pPr>
            <a:endParaRPr/>
          </a:p>
        </p:txBody>
      </p:sp>
      <p:cxnSp>
        <p:nvCxnSpPr>
          <p:cNvPr name="Connector 9" id="9"/>
          <p:cNvCxnSpPr/>
          <p:nvPr/>
        </p:nvCxnSpPr>
        <p:spPr>
          <a:xfrm rot="0" flipH="false" flipV="true">
            <a:off x="-423546" y="4145838"/>
            <a:ext cx="2826385" cy="7620"/>
          </a:xfrm>
          <a:prstGeom prst="line">
            <a:avLst/>
          </a:prstGeom>
          <a:noFill/>
          <a:ln w="25400" cap="flat">
            <a:solidFill>
              <a:srgbClr val="FFFFFF">
                <a:alpha val="100000"/>
              </a:srgbClr>
            </a:solidFill>
            <a:prstDash val="solid"/>
            <a:headEnd type="none" w="sm" len="sm"/>
            <a:tailEnd type="none" w="sm" len="sm"/>
          </a:ln>
        </p:spPr>
      </p:cxnSp>
      <p:cxnSp>
        <p:nvCxnSpPr>
          <p:cNvPr name="Connector 10" id="10"/>
          <p:cNvCxnSpPr/>
          <p:nvPr/>
        </p:nvCxnSpPr>
        <p:spPr>
          <a:xfrm rot="0" flipH="false" flipV="false">
            <a:off x="-795647" y="6096892"/>
            <a:ext cx="3375630" cy="0"/>
          </a:xfrm>
          <a:prstGeom prst="line">
            <a:avLst/>
          </a:prstGeom>
          <a:noFill/>
          <a:ln w="25400" cap="flat">
            <a:solidFill>
              <a:srgbClr val="FFFFFF">
                <a:alpha val="100000"/>
              </a:srgbClr>
            </a:solidFill>
            <a:prstDash val="solid"/>
            <a:headEnd type="none" w="sm" len="sm"/>
            <a:tailEnd type="none" w="sm" len="sm"/>
          </a:ln>
        </p:spPr>
      </p:cxnSp>
      <p:cxnSp>
        <p:nvCxnSpPr>
          <p:cNvPr name="Connector 11" id="11"/>
          <p:cNvCxnSpPr/>
          <p:nvPr/>
        </p:nvCxnSpPr>
        <p:spPr>
          <a:xfrm rot="0" flipH="false" flipV="false">
            <a:off x="-385445" y="8166100"/>
            <a:ext cx="2993390" cy="635"/>
          </a:xfrm>
          <a:prstGeom prst="line">
            <a:avLst/>
          </a:prstGeom>
          <a:noFill/>
          <a:ln w="25400" cap="flat">
            <a:solidFill>
              <a:srgbClr val="FFFFFF">
                <a:alpha val="100000"/>
              </a:srgbClr>
            </a:solidFill>
            <a:prstDash val="solid"/>
            <a:headEnd type="none" w="sm" len="sm"/>
            <a:tailEnd type="none" w="sm" len="sm"/>
          </a:ln>
        </p:spPr>
      </p:cxnSp>
      <p:sp>
        <p:nvSpPr>
          <p:cNvPr name="Freeform 12" id="12"/>
          <p:cNvSpPr/>
          <p:nvPr/>
        </p:nvSpPr>
        <p:spPr>
          <a:xfrm rot="-5400000" flipH="false" flipV="false">
            <a:off x="409903" y="7519364"/>
            <a:ext cx="1124563" cy="3535677"/>
          </a:xfrm>
          <a:custGeom>
            <a:avLst/>
            <a:gdLst/>
            <a:ahLst/>
            <a:cxnLst/>
            <a:rect r="r" b="b" t="t" l="l"/>
            <a:pathLst>
              <a:path h="3535677" w="1124563">
                <a:moveTo>
                  <a:pt x="1124563" y="0"/>
                </a:moveTo>
                <a:lnTo>
                  <a:pt x="1124563" y="3131754"/>
                </a:lnTo>
                <a:lnTo>
                  <a:pt x="562282" y="3535677"/>
                </a:lnTo>
                <a:lnTo>
                  <a:pt x="0" y="3131754"/>
                </a:lnTo>
                <a:lnTo>
                  <a:pt x="0" y="0"/>
                </a:lnTo>
                <a:lnTo>
                  <a:pt x="1124563" y="0"/>
                </a:lnTo>
                <a:close/>
              </a:path>
            </a:pathLst>
          </a:custGeom>
          <a:solidFill>
            <a:srgbClr val="6083BA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 txBox="true"/>
          <p:nvPr/>
        </p:nvSpPr>
        <p:spPr>
          <a:xfrm rot="-5400000" flipH="false" flipV="false">
            <a:off x="77886" y="1450105"/>
            <a:ext cx="1124529" cy="3237371"/>
          </a:xfrm>
          <a:prstGeom prst="rect">
            <a:avLst/>
          </a:prstGeom>
          <a:noFill/>
          <a:ln w="19050" cmpd="sng" cap="flat">
            <a:noFill/>
            <a:prstDash val="solid"/>
            <a:round/>
          </a:ln>
        </p:spPr>
        <p:txBody>
          <a:bodyPr anchor="ctr" rtlCol="false" anchorCtr="false" vert="horz" wrap="square" lIns="51395" rIns="51395" tIns="51395" bIns="51395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-171401" y="2800857"/>
            <a:ext cx="2302612" cy="6013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914400">
              <a:lnSpc>
                <a:spcPts val="4690"/>
              </a:lnSpc>
              <a:defRPr/>
            </a:pPr>
            <a:r>
              <a:rPr lang="en-US" b="true" i="false" strike="noStrike" u="none" sz="2400" spc="732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基础概念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-304799" y="4955447"/>
            <a:ext cx="2633981" cy="393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914400">
              <a:lnSpc>
                <a:spcPts val="3070"/>
              </a:lnSpc>
              <a:defRPr/>
            </a:pPr>
            <a:r>
              <a:rPr lang="en-US" b="true" i="false" strike="noStrike" u="none" sz="2400" spc="48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数据样例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-381000" y="6972167"/>
            <a:ext cx="2761614" cy="393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914400">
              <a:lnSpc>
                <a:spcPts val="3070"/>
              </a:lnSpc>
              <a:defRPr/>
            </a:pPr>
            <a:r>
              <a:rPr lang="en-US" b="true" i="false" strike="noStrike" u="none" sz="2400" spc="48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分子表示</a:t>
            </a:r>
            <a:endParaRPr lang="en-US" sz="1100"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0" y="9105726"/>
            <a:ext cx="2683510" cy="393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914400">
              <a:lnSpc>
                <a:spcPts val="3070"/>
              </a:lnSpc>
              <a:defRPr/>
            </a:pPr>
            <a:r>
              <a:rPr lang="en-US" b="true" i="false" strike="noStrike" u="none" sz="3600" spc="48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计算方法</a:t>
            </a:r>
            <a:endParaRPr lang="en-US" sz="1100"/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5720"/>
          <a:stretch>
            <a:fillRect/>
          </a:stretch>
        </p:blipFill>
        <p:spPr>
          <a:xfrm rot="0" flipH="false" flipV="false">
            <a:off x="2971800" y="1005205"/>
            <a:ext cx="14756765" cy="870204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451485" y="243840"/>
            <a:ext cx="10311765" cy="8413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102870" rIns="102870" tIns="51435" bIns="51435">
            <a:spAutoFit/>
          </a:bodyPr>
          <a:lstStyle/>
          <a:p>
            <a:pPr algn="l" marL="0" indent="0" defTabSz="914400">
              <a:lnSpc>
                <a:spcPct val="100000"/>
              </a:lnSpc>
              <a:defRPr/>
            </a:pPr>
            <a:r>
              <a:rPr lang="en-US" b="true" i="false" strike="noStrike" u="none" sz="48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实验设置与训练结果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0" flipH="false" flipV="true">
            <a:off x="3110230" y="1009650"/>
            <a:ext cx="14720570" cy="19050"/>
          </a:xfrm>
          <a:prstGeom prst="line">
            <a:avLst/>
          </a:prstGeom>
          <a:noFill/>
          <a:ln w="38100" cap="rnd">
            <a:solidFill>
              <a:srgbClr val="013E80">
                <a:alpha val="100000"/>
              </a:srgbClr>
            </a:solidFill>
            <a:prstDash val="solid"/>
            <a:headEnd type="none" w="sm" len="sm"/>
            <a:tailEnd type="none" w="sm" len="sm"/>
          </a:ln>
        </p:spPr>
      </p:cxn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2182495" y="190500"/>
            <a:ext cx="978535" cy="978535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6" id="6"/>
          <p:cNvSpPr txBox="true"/>
          <p:nvPr/>
        </p:nvSpPr>
        <p:spPr>
          <a:xfrm rot="0" flipH="false" flipV="false">
            <a:off x="3213735" y="266700"/>
            <a:ext cx="12207875" cy="73850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marL="0" indent="0" defTabSz="914400">
              <a:lnSpc>
                <a:spcPts val="5760"/>
              </a:lnSpc>
              <a:defRPr/>
            </a:pPr>
            <a:r>
              <a:rPr lang="en-US" b="true" i="false" strike="noStrike" u="none" sz="4800">
                <a:solidFill>
                  <a:srgbClr val="2F5597"/>
                </a:solidFill>
                <a:latin typeface="微软雅黑"/>
                <a:ea typeface="微软雅黑"/>
                <a:cs typeface="微软雅黑"/>
                <a:sym typeface="微软雅黑"/>
              </a:rPr>
              <a:t>DFT 与 GFN2-xTB 的比较</a:t>
            </a:r>
            <a:endParaRPr lang="en-US" sz="1100"/>
          </a:p>
        </p:txBody>
      </p:sp>
      <p:sp>
        <p:nvSpPr>
          <p:cNvPr name="Freeform 7" id="7"/>
          <p:cNvSpPr/>
          <p:nvPr/>
        </p:nvSpPr>
        <p:spPr>
          <a:xfrm rot="0" flipH="false" flipV="false">
            <a:off x="-1235075" y="-19050"/>
            <a:ext cx="3366134" cy="10407650"/>
          </a:xfrm>
          <a:custGeom>
            <a:avLst/>
            <a:gdLst/>
            <a:ahLst/>
            <a:cxnLst/>
            <a:rect r="r" b="b" t="t" l="l"/>
            <a:pathLst>
              <a:path h="10407650" w="3366134">
                <a:moveTo>
                  <a:pt x="0" y="0"/>
                </a:moveTo>
                <a:lnTo>
                  <a:pt x="3366134" y="0"/>
                </a:lnTo>
                <a:lnTo>
                  <a:pt x="3366134" y="10407650"/>
                </a:lnTo>
                <a:lnTo>
                  <a:pt x="0" y="10407650"/>
                </a:lnTo>
                <a:close/>
              </a:path>
            </a:pathLst>
          </a:custGeom>
          <a:solidFill>
            <a:srgbClr val="6083BA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-1235075" y="-201997"/>
            <a:ext cx="3366134" cy="10590597"/>
          </a:xfrm>
          <a:prstGeom prst="rect">
            <a:avLst/>
          </a:prstGeom>
          <a:noFill/>
          <a:ln w="19050" cmpd="sng" cap="flat">
            <a:noFill/>
            <a:prstDash val="solid"/>
            <a:round/>
          </a:ln>
        </p:spPr>
        <p:txBody>
          <a:bodyPr anchor="ctr" rtlCol="false" anchorCtr="false" vert="horz" wrap="square" lIns="51395" rIns="51395" tIns="51395" bIns="51395"/>
          <a:lstStyle/>
          <a:p>
            <a:pPr algn="ctr">
              <a:defRPr/>
            </a:pPr>
            <a:endParaRPr/>
          </a:p>
        </p:txBody>
      </p:sp>
      <p:cxnSp>
        <p:nvCxnSpPr>
          <p:cNvPr name="Connector 9" id="9"/>
          <p:cNvCxnSpPr/>
          <p:nvPr/>
        </p:nvCxnSpPr>
        <p:spPr>
          <a:xfrm rot="0" flipH="false" flipV="true">
            <a:off x="-423546" y="4145838"/>
            <a:ext cx="2826385" cy="7620"/>
          </a:xfrm>
          <a:prstGeom prst="line">
            <a:avLst/>
          </a:prstGeom>
          <a:noFill/>
          <a:ln w="25400" cap="flat">
            <a:solidFill>
              <a:srgbClr val="FFFFFF">
                <a:alpha val="100000"/>
              </a:srgbClr>
            </a:solidFill>
            <a:prstDash val="solid"/>
            <a:headEnd type="none" w="sm" len="sm"/>
            <a:tailEnd type="none" w="sm" len="sm"/>
          </a:ln>
        </p:spPr>
      </p:cxnSp>
      <p:cxnSp>
        <p:nvCxnSpPr>
          <p:cNvPr name="Connector 10" id="10"/>
          <p:cNvCxnSpPr/>
          <p:nvPr/>
        </p:nvCxnSpPr>
        <p:spPr>
          <a:xfrm rot="0" flipH="false" flipV="false">
            <a:off x="-795647" y="6096892"/>
            <a:ext cx="3375630" cy="0"/>
          </a:xfrm>
          <a:prstGeom prst="line">
            <a:avLst/>
          </a:prstGeom>
          <a:noFill/>
          <a:ln w="25400" cap="flat">
            <a:solidFill>
              <a:srgbClr val="FFFFFF">
                <a:alpha val="100000"/>
              </a:srgbClr>
            </a:solidFill>
            <a:prstDash val="solid"/>
            <a:headEnd type="none" w="sm" len="sm"/>
            <a:tailEnd type="none" w="sm" len="sm"/>
          </a:ln>
        </p:spPr>
      </p:cxnSp>
      <p:cxnSp>
        <p:nvCxnSpPr>
          <p:cNvPr name="Connector 11" id="11"/>
          <p:cNvCxnSpPr/>
          <p:nvPr/>
        </p:nvCxnSpPr>
        <p:spPr>
          <a:xfrm rot="0" flipH="false" flipV="false">
            <a:off x="-385445" y="8166100"/>
            <a:ext cx="2993390" cy="635"/>
          </a:xfrm>
          <a:prstGeom prst="line">
            <a:avLst/>
          </a:prstGeom>
          <a:noFill/>
          <a:ln w="25400" cap="flat">
            <a:solidFill>
              <a:srgbClr val="FFFFFF">
                <a:alpha val="100000"/>
              </a:srgbClr>
            </a:solidFill>
            <a:prstDash val="solid"/>
            <a:headEnd type="none" w="sm" len="sm"/>
            <a:tailEnd type="none" w="sm" len="sm"/>
          </a:ln>
        </p:spPr>
      </p:cxnSp>
      <p:sp>
        <p:nvSpPr>
          <p:cNvPr name="Freeform 12" id="12"/>
          <p:cNvSpPr/>
          <p:nvPr/>
        </p:nvSpPr>
        <p:spPr>
          <a:xfrm rot="-5400000" flipH="false" flipV="false">
            <a:off x="409903" y="7519364"/>
            <a:ext cx="1124563" cy="3535677"/>
          </a:xfrm>
          <a:custGeom>
            <a:avLst/>
            <a:gdLst/>
            <a:ahLst/>
            <a:cxnLst/>
            <a:rect r="r" b="b" t="t" l="l"/>
            <a:pathLst>
              <a:path h="3535677" w="1124563">
                <a:moveTo>
                  <a:pt x="1124563" y="0"/>
                </a:moveTo>
                <a:lnTo>
                  <a:pt x="1124563" y="3131754"/>
                </a:lnTo>
                <a:lnTo>
                  <a:pt x="562282" y="3535677"/>
                </a:lnTo>
                <a:lnTo>
                  <a:pt x="0" y="3131754"/>
                </a:lnTo>
                <a:lnTo>
                  <a:pt x="0" y="0"/>
                </a:lnTo>
                <a:lnTo>
                  <a:pt x="1124563" y="0"/>
                </a:lnTo>
                <a:close/>
              </a:path>
            </a:pathLst>
          </a:custGeom>
          <a:solidFill>
            <a:srgbClr val="6083BA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 txBox="true"/>
          <p:nvPr/>
        </p:nvSpPr>
        <p:spPr>
          <a:xfrm rot="-5400000" flipH="false" flipV="false">
            <a:off x="77886" y="1450105"/>
            <a:ext cx="1124529" cy="3237371"/>
          </a:xfrm>
          <a:prstGeom prst="rect">
            <a:avLst/>
          </a:prstGeom>
          <a:noFill/>
          <a:ln w="19050" cmpd="sng" cap="flat">
            <a:noFill/>
            <a:prstDash val="solid"/>
            <a:round/>
          </a:ln>
        </p:spPr>
        <p:txBody>
          <a:bodyPr anchor="ctr" rtlCol="false" anchorCtr="false" vert="horz" wrap="square" lIns="51395" rIns="51395" tIns="51395" bIns="51395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-171401" y="2800857"/>
            <a:ext cx="2302612" cy="6013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914400">
              <a:lnSpc>
                <a:spcPts val="4690"/>
              </a:lnSpc>
              <a:defRPr/>
            </a:pPr>
            <a:r>
              <a:rPr lang="en-US" b="true" i="false" strike="noStrike" u="none" sz="2400" spc="732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基础概念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-304799" y="4955447"/>
            <a:ext cx="2633981" cy="393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914400">
              <a:lnSpc>
                <a:spcPts val="3070"/>
              </a:lnSpc>
              <a:defRPr/>
            </a:pPr>
            <a:r>
              <a:rPr lang="en-US" b="true" i="false" strike="noStrike" u="none" sz="2400" spc="48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数据样例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-381000" y="6972167"/>
            <a:ext cx="2761614" cy="393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914400">
              <a:lnSpc>
                <a:spcPts val="3070"/>
              </a:lnSpc>
              <a:defRPr/>
            </a:pPr>
            <a:r>
              <a:rPr lang="en-US" b="true" i="false" strike="noStrike" u="none" sz="2400" spc="48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分子表示</a:t>
            </a:r>
            <a:endParaRPr lang="en-US" sz="1100"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0" y="9105726"/>
            <a:ext cx="2683510" cy="393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marL="0" indent="0" defTabSz="914400">
              <a:lnSpc>
                <a:spcPts val="3070"/>
              </a:lnSpc>
              <a:defRPr/>
            </a:pPr>
            <a:r>
              <a:rPr lang="en-US" b="true" i="false" strike="noStrike" u="none" sz="3600" spc="48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计算方法</a:t>
            </a:r>
            <a:endParaRPr lang="en-US" sz="1100"/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bg>
      <p:bgPr>
        <a:solidFill>
          <a:srgbClr val="00206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-2781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close/>
              </a:path>
            </a:pathLst>
          </a:custGeom>
          <a:solidFill>
            <a:srgbClr val="00206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0" y="3467100"/>
            <a:ext cx="17530445" cy="3385185"/>
          </a:xfrm>
          <a:prstGeom prst="rect">
            <a:avLst/>
          </a:prstGeom>
          <a:noFill/>
          <a:ln w="1905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>
            <a:lvl2pPr marL="493395" indent="0"/>
            <a:lvl3pPr marL="950595" indent="0"/>
            <a:lvl4pPr marL="1407795" indent="0"/>
            <a:lvl5pPr marL="1864995" indent="0"/>
            <a:lvl6pPr marL="2322195" indent="0"/>
            <a:lvl7pPr marL="2779395" indent="0"/>
            <a:lvl8pPr marL="3236595" indent="0"/>
            <a:lvl9pPr marL="3693795" indent="0"/>
          </a:lstStyle>
          <a:p>
            <a:pPr algn="ctr" lvl="1" marL="493395" indent="0" defTabSz="914400">
              <a:lnSpc>
                <a:spcPct val="108333"/>
              </a:lnSpc>
              <a:defRPr/>
            </a:pPr>
            <a:r>
              <a:rPr lang="en-US" b="true" i="false" strike="noStrike" u="none" sz="10000" spc="3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汇报完毕</a:t>
            </a:r>
            <a:r>
              <a:rPr lang="en-US" b="true" i="false" strike="noStrike" u="none" sz="10000" spc="3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/>
            </a:r>
            <a:endParaRPr lang="en-US" sz="1100"/>
          </a:p>
          <a:p>
            <a:pPr algn="ctr" lvl="1" marL="493395" indent="0" defTabSz="914400">
              <a:lnSpc>
                <a:spcPct val="108333"/>
              </a:lnSpc>
            </a:pPr>
            <a:r>
              <a:rPr lang="en-US" b="true" i="false" strike="noStrike" u="none" sz="10000" spc="3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请老师批评指正！</a:t>
            </a:r>
          </a:p>
        </p:txBody>
      </p:sp>
      <p:cxnSp>
        <p:nvCxnSpPr>
          <p:cNvPr name="Connector 4" id="4"/>
          <p:cNvCxnSpPr/>
          <p:nvPr/>
        </p:nvCxnSpPr>
        <p:spPr>
          <a:xfrm rot="23339" flipH="false" flipV="false">
            <a:off x="5715051" y="7298655"/>
            <a:ext cx="6307703" cy="0"/>
          </a:xfrm>
          <a:prstGeom prst="line">
            <a:avLst/>
          </a:prstGeom>
          <a:noFill/>
          <a:ln w="12700" cap="rnd">
            <a:solidFill>
              <a:srgbClr val="FFFFFF">
                <a:alpha val="100000"/>
              </a:srgbClr>
            </a:solidFill>
            <a:prstDash val="solid"/>
            <a:headEnd type="none" w="sm" len="sm"/>
            <a:tailEnd type="none" w="sm" len="sm"/>
          </a:ln>
        </p:spPr>
      </p:cxn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0" y="9477375"/>
            <a:ext cx="2286000" cy="809625"/>
          </a:xfrm>
          <a:prstGeom prst="rect">
            <a:avLst/>
          </a:prstGeom>
        </p:spPr>
      </p:pic>
    </p:spTree>
  </p:cSld>
  <p:clrMapOvr>
    <a:masterClrMapping/>
  </p:clrMapOvr>
  <p:transition main:dur="500">
    <p:fade thruBlk="false"/>
  </p:transition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自定义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